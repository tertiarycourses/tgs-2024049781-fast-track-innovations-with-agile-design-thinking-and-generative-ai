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646920" y="603504"/>
            <a:ext cx="1874519"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694944"/>
            <a:ext cx="1874519" cy="420624"/>
          </a:xfrm>
          <a:prstGeom prst="rect">
            <a:avLst/>
          </a:prstGeom>
          <a:noFill/>
        </p:spPr>
        <p:txBody>
          <a:bodyPr wrap="square" anchor="t">
            <a:spAutoFit/>
          </a:bodyPr>
          <a:lstStyle/>
          <a:p>
            <a:pPr algn="ctr">
              <a:spcAft>
                <a:spcPts val="400"/>
              </a:spcAft>
            </a:pPr>
            <a:r>
              <a:rPr sz="1300" b="1">
                <a:solidFill>
                  <a:srgbClr val="FFFFFF"/>
                </a:solidFill>
                <a:latin typeface="Arial"/>
              </a:rPr>
              <a:t>AGILE DESIGN</a:t>
            </a:r>
          </a:p>
        </p:txBody>
      </p:sp>
      <p:sp>
        <p:nvSpPr>
          <p:cNvPr id="8" name="TextBox 7"/>
          <p:cNvSpPr txBox="1"/>
          <p:nvPr/>
        </p:nvSpPr>
        <p:spPr>
          <a:xfrm>
            <a:off x="9646920" y="1078992"/>
            <a:ext cx="1874519" cy="402336"/>
          </a:xfrm>
          <a:prstGeom prst="rect">
            <a:avLst/>
          </a:prstGeom>
          <a:noFill/>
        </p:spPr>
        <p:txBody>
          <a:bodyPr wrap="square" anchor="t">
            <a:spAutoFit/>
          </a:bodyPr>
          <a:lstStyle/>
          <a:p>
            <a:pPr algn="ctr">
              <a:spcAft>
                <a:spcPts val="400"/>
              </a:spcAft>
            </a:pPr>
            <a:r>
              <a:rPr sz="950" b="1">
                <a:solidFill>
                  <a:srgbClr val="FFFFFF"/>
                </a:solidFill>
                <a:latin typeface="Arial"/>
              </a:rPr>
              <a:t>THINKING + GENAI</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Fast-Track Innovations with Agile Design Thinking and Generative AI (GenAI)</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TGS-2024049781</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v4.0  ·  17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Design thinking, agile innovation, generative AI and applied data science.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innovation, design thinking, agile practice and generative AI.</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organisation and role.</a:t>
            </a:r>
          </a:p>
          <a:p>
            <a:pPr>
              <a:spcAft>
                <a:spcPts val="1000"/>
              </a:spcAft>
            </a:pPr>
            <a:r>
              <a:rPr sz="2000" b="0">
                <a:solidFill>
                  <a:srgbClr val="161B26"/>
                </a:solidFill>
                <a:latin typeface="Arial"/>
              </a:rPr>
              <a:t>•  A product, service or process you are responsible for improving.</a:t>
            </a:r>
          </a:p>
          <a:p>
            <a:pPr>
              <a:spcAft>
                <a:spcPts val="1000"/>
              </a:spcAft>
            </a:pPr>
            <a:r>
              <a:rPr sz="2000" b="0">
                <a:solidFill>
                  <a:srgbClr val="161B26"/>
                </a:solidFill>
                <a:latin typeface="Arial"/>
              </a:rPr>
              <a:t>•  Your experience with design thinking, agile or generative AI tools (if any).</a:t>
            </a:r>
          </a:p>
          <a:p>
            <a:pPr>
              <a:spcAft>
                <a:spcPts val="1000"/>
              </a:spcAft>
            </a:pPr>
            <a:r>
              <a:rPr sz="2000" b="0">
                <a:solidFill>
                  <a:srgbClr val="161B26"/>
                </a:solidFill>
                <a:latin typeface="Arial"/>
              </a:rPr>
              <a:t>•  One innovation that is currently stuck — we will come back to it on Day 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Go to the LMS portal</a:t>
            </a:r>
          </a:p>
          <a:p>
            <a:pPr algn="l">
              <a:spcAft>
                <a:spcPts val="300"/>
              </a:spcAft>
            </a:pPr>
            <a:r>
              <a:rPr sz="1200" b="0">
                <a:solidFill>
                  <a:srgbClr val="5B6372"/>
                </a:solidFill>
                <a:latin typeface="Arial"/>
              </a:rPr>
              <a:t>Open https://lms-tms.tertiaryinfotech.com in your browser.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Log in</a:t>
            </a:r>
          </a:p>
          <a:p>
            <a:pPr algn="l">
              <a:spcAft>
                <a:spcPts val="300"/>
              </a:spcAft>
            </a:pPr>
            <a:r>
              <a:rPr sz="1200" b="0">
                <a:solidFill>
                  <a:srgbClr val="5B6372"/>
                </a:solidFill>
                <a:latin typeface="Arial"/>
              </a:rPr>
              <a:t>Sign in with the account e-mail you used to register for this course.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Open this course</a:t>
            </a:r>
          </a:p>
          <a:p>
            <a:pPr algn="l">
              <a:spcAft>
                <a:spcPts val="300"/>
              </a:spcAft>
            </a:pPr>
            <a:r>
              <a:rPr sz="1200" b="0">
                <a:solidFill>
                  <a:srgbClr val="5B6372"/>
                </a:solidFill>
                <a:latin typeface="Arial"/>
              </a:rPr>
              <a:t>Select 'Fast-Track Innovations with Agile Design Thinking and Generative AI (GenAI)'.</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Download</a:t>
            </a:r>
          </a:p>
          <a:p>
            <a:pPr algn="l">
              <a:spcAft>
                <a:spcPts val="300"/>
              </a:spcAft>
            </a:pPr>
            <a:r>
              <a:rPr sz="1200" b="0">
                <a:solidFill>
                  <a:srgbClr val="5B6372"/>
                </a:solidFill>
                <a:latin typeface="Arial"/>
              </a:rPr>
              <a:t>Download the Trainer Slides, Learner Guide and Lesson Plan (PDF).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Get the activity briefs</a:t>
            </a:r>
          </a:p>
          <a:p>
            <a:pPr algn="l">
              <a:spcAft>
                <a:spcPts val="300"/>
              </a:spcAft>
            </a:pPr>
            <a:r>
              <a:rPr sz="1200" b="0">
                <a:solidFill>
                  <a:srgbClr val="5B6372"/>
                </a:solidFill>
                <a:latin typeface="Arial"/>
              </a:rPr>
              <a:t>Download the activity PDFs — each carries the case, questions and debrief.</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 Keep them open</a:t>
            </a:r>
          </a:p>
          <a:p>
            <a:pPr algn="l">
              <a:spcAft>
                <a:spcPts val="300"/>
              </a:spcAft>
            </a:pPr>
            <a:r>
              <a:rPr sz="1200" b="0">
                <a:solidFill>
                  <a:srgbClr val="5B6372"/>
                </a:solidFill>
                <a:latin typeface="Arial"/>
              </a:rPr>
              <a:t>You may use these materials during the open-book 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SKILLS FRAMEWORK  ·  TSC</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TSC Title</a:t>
            </a:r>
          </a:p>
          <a:p>
            <a:pPr algn="l">
              <a:spcAft>
                <a:spcPts val="300"/>
              </a:spcAft>
            </a:pPr>
            <a:r>
              <a:rPr sz="1150" b="0">
                <a:solidFill>
                  <a:srgbClr val="5B6372"/>
                </a:solidFill>
                <a:latin typeface="Arial"/>
              </a:rPr>
              <a:t>Design Thinking Practice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TSC Code</a:t>
            </a:r>
          </a:p>
          <a:p>
            <a:pPr algn="l">
              <a:spcAft>
                <a:spcPts val="300"/>
              </a:spcAft>
            </a:pPr>
            <a:r>
              <a:rPr sz="1150" b="0">
                <a:solidFill>
                  <a:srgbClr val="5B6372"/>
                </a:solidFill>
                <a:latin typeface="Arial"/>
              </a:rPr>
              <a:t>ICT-ACE-5014-1.1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A1 / A2</a:t>
            </a:r>
          </a:p>
          <a:p>
            <a:pPr algn="l">
              <a:spcAft>
                <a:spcPts val="300"/>
              </a:spcAft>
            </a:pPr>
            <a:r>
              <a:rPr sz="1150" b="0">
                <a:solidFill>
                  <a:srgbClr val="5B6372"/>
                </a:solidFill>
                <a:latin typeface="Arial"/>
              </a:rPr>
              <a:t>Integrate design thinking into processes; develop strategies to proliferate it across the organisation.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A3 / A5</a:t>
            </a:r>
          </a:p>
          <a:p>
            <a:pPr algn="l">
              <a:spcAft>
                <a:spcPts val="300"/>
              </a:spcAft>
            </a:pPr>
            <a:r>
              <a:rPr sz="1150" b="0">
                <a:solidFill>
                  <a:srgbClr val="5B6372"/>
                </a:solidFill>
                <a:latin typeface="Arial"/>
              </a:rPr>
              <a:t>Synthesise information from stakeholders; engage them to uncover motivations and behaviours.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A4 / A6</a:t>
            </a:r>
          </a:p>
          <a:p>
            <a:pPr algn="l">
              <a:spcAft>
                <a:spcPts val="300"/>
              </a:spcAft>
            </a:pPr>
            <a:r>
              <a:rPr sz="1150" b="0">
                <a:solidFill>
                  <a:srgbClr val="5B6372"/>
                </a:solidFill>
                <a:latin typeface="Arial"/>
              </a:rPr>
              <a:t>Drive new strategies for products and services; cultivate design thinking to foster innovation.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A7 · K1–K5</a:t>
            </a:r>
          </a:p>
          <a:p>
            <a:pPr algn="l">
              <a:spcAft>
                <a:spcPts val="300"/>
              </a:spcAft>
            </a:pPr>
            <a:r>
              <a:rPr sz="1150" b="0">
                <a:solidFill>
                  <a:srgbClr val="5B6372"/>
                </a:solidFill>
                <a:latin typeface="Arial"/>
              </a:rPr>
              <a:t>Lead design thinking projects; trends, innovation management, growth drivers, resources, PM tools.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 AM – 6:30 PM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8 Training Hours per 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Day 1 AM — Foundations</a:t>
            </a:r>
          </a:p>
          <a:p>
            <a:pPr algn="l">
              <a:spcAft>
                <a:spcPts val="300"/>
              </a:spcAft>
            </a:pPr>
            <a:r>
              <a:rPr sz="1200" b="0">
                <a:solidFill>
                  <a:srgbClr val="5B6372"/>
                </a:solidFill>
                <a:latin typeface="Arial"/>
              </a:rPr>
              <a:t>Digital attendance · introductions · learning outcomes · Topic 1: Foundations of Design Thinking, Agile and GenAI · Activity 1.</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Day 1 PM — Problem Framing and Ideation</a:t>
            </a:r>
          </a:p>
          <a:p>
            <a:pPr algn="l">
              <a:spcAft>
                <a:spcPts val="300"/>
              </a:spcAft>
            </a:pPr>
            <a:r>
              <a:rPr sz="1200" b="0">
                <a:solidFill>
                  <a:srgbClr val="5B6372"/>
                </a:solidFill>
                <a:latin typeface="Arial"/>
              </a:rPr>
              <a:t>Digital attendance · Activities 2 and 3 · Topic 2: framing, empathy maps, HMW and ideation · Activities 4 and 5.</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Day 2 AM — Agile Delivery</a:t>
            </a:r>
          </a:p>
          <a:p>
            <a:pPr algn="l">
              <a:spcAft>
                <a:spcPts val="300"/>
              </a:spcAft>
            </a:pPr>
            <a:r>
              <a:rPr sz="1200" b="0">
                <a:solidFill>
                  <a:srgbClr val="5B6372"/>
                </a:solidFill>
                <a:latin typeface="Arial"/>
              </a:rPr>
              <a:t>Digital attendance · Activity 6 · Topic 3: Scrum, dual-track agile and the decomposition ladder · Activity 7.</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Day 2 PM — Scaling and Assessment</a:t>
            </a:r>
          </a:p>
          <a:p>
            <a:pPr algn="l">
              <a:spcAft>
                <a:spcPts val="300"/>
              </a:spcAft>
            </a:pPr>
            <a:r>
              <a:rPr sz="1200" b="0">
                <a:solidFill>
                  <a:srgbClr val="5B6372"/>
                </a:solidFill>
                <a:latin typeface="Arial"/>
              </a:rPr>
              <a:t>Digital attendance · Activities 8 and 9 · Topic 4: scaling, systems thinking and metrics · Activities 10–12 · revision, TRAQOM and the assessment session.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LO1 · Integrate DT + Agile + GenAI</a:t>
            </a:r>
          </a:p>
          <a:p>
            <a:pPr algn="l">
              <a:spcAft>
                <a:spcPts val="300"/>
              </a:spcAft>
            </a:pPr>
            <a:r>
              <a:rPr sz="1200" b="0">
                <a:solidFill>
                  <a:srgbClr val="5B6372"/>
                </a:solidFill>
                <a:latin typeface="Arial"/>
              </a:rPr>
              <a:t>Integrate design thinking methodologies and agile principles to drive organisational innovation using generative AI.</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LO2 · Synthesise stakeholder inputs</a:t>
            </a:r>
          </a:p>
          <a:p>
            <a:pPr algn="l">
              <a:spcAft>
                <a:spcPts val="300"/>
              </a:spcAft>
            </a:pPr>
            <a:r>
              <a:rPr sz="1200" b="0">
                <a:solidFill>
                  <a:srgbClr val="5B6372"/>
                </a:solidFill>
                <a:latin typeface="Arial"/>
              </a:rPr>
              <a:t>Synthesise stakeholder inputs to uncover end-user needs for successful innovation.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LO3 · Lead design thinking projects</a:t>
            </a:r>
          </a:p>
          <a:p>
            <a:pPr algn="l">
              <a:spcAft>
                <a:spcPts val="300"/>
              </a:spcAft>
            </a:pPr>
            <a:r>
              <a:rPr sz="1200" b="0">
                <a:solidFill>
                  <a:srgbClr val="5B6372"/>
                </a:solidFill>
                <a:latin typeface="Arial"/>
              </a:rPr>
              <a:t>Lead design thinking projects using project management tools and techniques to enhance organisational performance.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LO4 · Develop agile DT strategies</a:t>
            </a:r>
          </a:p>
          <a:p>
            <a:pPr algn="l">
              <a:spcAft>
                <a:spcPts val="300"/>
              </a:spcAft>
            </a:pPr>
            <a:r>
              <a:rPr sz="1200" b="0">
                <a:solidFill>
                  <a:srgbClr val="5B6372"/>
                </a:solidFill>
                <a:latin typeface="Arial"/>
              </a:rPr>
              <a:t>Develop strategies for agile design thinking to enhance product and service innovation.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TOPICS  ·  12 CASE-STUDY ACTIVITIES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Topic 1 — Foundations of Design Thinking, Agile and Generative AI</a:t>
            </a:r>
          </a:p>
          <a:p>
            <a:pPr algn="l">
              <a:spcAft>
                <a:spcPts val="300"/>
              </a:spcAft>
            </a:pPr>
            <a:r>
              <a:rPr sz="1200" b="0">
                <a:solidFill>
                  <a:srgbClr val="5B6372"/>
                </a:solidFill>
                <a:latin typeface="Arial"/>
              </a:rPr>
              <a:t>Mindsets and methodologies · product development through DT and Agile · how GenAI enhances both · latest trends.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Topic 2 — Problem Framing and Ideation</a:t>
            </a:r>
          </a:p>
          <a:p>
            <a:pPr algn="l">
              <a:spcAft>
                <a:spcPts val="300"/>
              </a:spcAft>
            </a:pPr>
            <a:r>
              <a:rPr sz="1200" b="0">
                <a:solidFill>
                  <a:srgbClr val="5B6372"/>
                </a:solidFill>
                <a:latin typeface="Arial"/>
              </a:rPr>
              <a:t>Defining the problem · persona mapping and empathy with GenAI · ideation techniques · AI-driven prototyping.</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Topic 3 — Agile Development and AI for Rapid Solution Delivery</a:t>
            </a:r>
          </a:p>
          <a:p>
            <a:pPr algn="l">
              <a:spcAft>
                <a:spcPts val="300"/>
              </a:spcAft>
            </a:pPr>
            <a:r>
              <a:rPr sz="1200" b="0">
                <a:solidFill>
                  <a:srgbClr val="5B6372"/>
                </a:solidFill>
                <a:latin typeface="Arial"/>
              </a:rPr>
              <a:t>Agile frameworks · converting ideas into features, stories and tasks with GenAI · faster sprints · scaling across teams.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Topic 4 — Scaling and Sustaining Innovations</a:t>
            </a:r>
          </a:p>
          <a:p>
            <a:pPr algn="l">
              <a:spcAft>
                <a:spcPts val="300"/>
              </a:spcAft>
            </a:pPr>
            <a:r>
              <a:rPr sz="1200" b="0">
                <a:solidFill>
                  <a:srgbClr val="5B6372"/>
                </a:solidFill>
                <a:latin typeface="Arial"/>
              </a:rPr>
              <a:t>Scaling DT and AI across the organisation · stakeholder buy-in · resource management with AI · metrics and KPIs.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ED-TOOL 1 · USED IN ACTIVITIES 4, 5, 6, 9,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Your Collaboration Tool — Design Thinking Studio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309360" cy="397763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6309360"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29384"/>
            <a:ext cx="155448" cy="155448"/>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97864" y="1929384"/>
            <a:ext cx="155448" cy="155448"/>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35608" y="1929384"/>
            <a:ext cx="155448" cy="155448"/>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0" y="1883664"/>
            <a:ext cx="5120640" cy="2743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56816" y="1901952"/>
            <a:ext cx="4937760" cy="237744"/>
          </a:xfrm>
          <a:prstGeom prst="rect">
            <a:avLst/>
          </a:prstGeom>
          <a:noFill/>
        </p:spPr>
        <p:txBody>
          <a:bodyPr wrap="square" anchor="t">
            <a:spAutoFit/>
          </a:bodyPr>
          <a:lstStyle/>
          <a:p>
            <a:pPr algn="l">
              <a:spcAft>
                <a:spcPts val="400"/>
              </a:spcAft>
            </a:pPr>
            <a:r>
              <a:rPr sz="1050" b="0">
                <a:solidFill>
                  <a:srgbClr val="5B6372"/>
                </a:solidFill>
                <a:latin typeface="Arial"/>
              </a:rPr>
              <a:t>https://alfredang.github.io/designthinking/</a:t>
            </a:r>
          </a:p>
        </p:txBody>
      </p:sp>
      <p:sp>
        <p:nvSpPr>
          <p:cNvPr id="14" name="TextBox 13"/>
          <p:cNvSpPr txBox="1"/>
          <p:nvPr/>
        </p:nvSpPr>
        <p:spPr>
          <a:xfrm>
            <a:off x="1051560" y="2514600"/>
            <a:ext cx="5760720" cy="457200"/>
          </a:xfrm>
          <a:prstGeom prst="rect">
            <a:avLst/>
          </a:prstGeom>
          <a:noFill/>
        </p:spPr>
        <p:txBody>
          <a:bodyPr wrap="square" anchor="t">
            <a:spAutoFit/>
          </a:bodyPr>
          <a:lstStyle/>
          <a:p>
            <a:pPr algn="l">
              <a:spcAft>
                <a:spcPts val="400"/>
              </a:spcAft>
            </a:pPr>
            <a:r>
              <a:rPr sz="2100" b="1">
                <a:solidFill>
                  <a:srgbClr val="10B981"/>
                </a:solidFill>
                <a:latin typeface="Arial"/>
              </a:rPr>
              <a:t>Design Thinking Studio</a:t>
            </a:r>
          </a:p>
        </p:txBody>
      </p:sp>
      <p:sp>
        <p:nvSpPr>
          <p:cNvPr id="15" name="TextBox 14"/>
          <p:cNvSpPr txBox="1"/>
          <p:nvPr/>
        </p:nvSpPr>
        <p:spPr>
          <a:xfrm>
            <a:off x="1051560" y="3017520"/>
            <a:ext cx="5779008" cy="2560320"/>
          </a:xfrm>
          <a:prstGeom prst="rect">
            <a:avLst/>
          </a:prstGeom>
          <a:noFill/>
        </p:spPr>
        <p:txBody>
          <a:bodyPr wrap="square" anchor="t">
            <a:spAutoFit/>
          </a:bodyPr>
          <a:lstStyle/>
          <a:p>
            <a:pPr algn="l">
              <a:spcAft>
                <a:spcPts val="400"/>
              </a:spcAft>
            </a:pPr>
            <a:r>
              <a:rPr sz="1200" b="0">
                <a:solidFill>
                  <a:srgbClr val="161B26"/>
                </a:solidFill>
                <a:latin typeface="Arial"/>
              </a:rPr>
              <a:t>A shared five-stage design thinking workspace. The whole class works in one live workspace, posting notes into the Empathize, Define, Ideate, Prototype and Test stages — including a four-quadrant Empathy Map, How Might We questions with voting, a brainstorming board with Crazy 8s, and a full prototype and test plan section.</a:t>
            </a:r>
          </a:p>
        </p:txBody>
      </p:sp>
      <p:sp>
        <p:nvSpPr>
          <p:cNvPr id="16" name="Rectangle 15"/>
          <p:cNvSpPr/>
          <p:nvPr/>
        </p:nvSpPr>
        <p:spPr>
          <a:xfrm>
            <a:off x="7452360" y="1783080"/>
            <a:ext cx="3977639"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52360" y="1783080"/>
            <a:ext cx="82296" cy="8846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671816" y="202425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71816" y="2024252"/>
            <a:ext cx="402336" cy="402336"/>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20" name="TextBox 19"/>
          <p:cNvSpPr txBox="1"/>
          <p:nvPr/>
        </p:nvSpPr>
        <p:spPr>
          <a:xfrm>
            <a:off x="8229600" y="1856232"/>
            <a:ext cx="2971799" cy="738377"/>
          </a:xfrm>
          <a:prstGeom prst="rect">
            <a:avLst/>
          </a:prstGeom>
          <a:noFill/>
        </p:spPr>
        <p:txBody>
          <a:bodyPr wrap="square" anchor="ctr">
            <a:spAutoFit/>
          </a:bodyPr>
          <a:lstStyle/>
          <a:p>
            <a:pPr algn="l">
              <a:spcAft>
                <a:spcPts val="400"/>
              </a:spcAft>
            </a:pPr>
            <a:r>
              <a:rPr sz="1150" b="0">
                <a:solidFill>
                  <a:srgbClr val="161B26"/>
                </a:solidFill>
                <a:latin typeface="Arial"/>
              </a:rPr>
              <a:t>The trainer clicks Create New Workspace and shares the code or QR.</a:t>
            </a:r>
          </a:p>
        </p:txBody>
      </p:sp>
      <p:sp>
        <p:nvSpPr>
          <p:cNvPr id="21" name="Rectangle 20"/>
          <p:cNvSpPr/>
          <p:nvPr/>
        </p:nvSpPr>
        <p:spPr>
          <a:xfrm>
            <a:off x="7452360" y="2814065"/>
            <a:ext cx="3977639"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52360" y="2814065"/>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671816" y="305523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71816" y="3055237"/>
            <a:ext cx="402336" cy="402336"/>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25" name="TextBox 24"/>
          <p:cNvSpPr txBox="1"/>
          <p:nvPr/>
        </p:nvSpPr>
        <p:spPr>
          <a:xfrm>
            <a:off x="8229600" y="2887217"/>
            <a:ext cx="2971799" cy="738377"/>
          </a:xfrm>
          <a:prstGeom prst="rect">
            <a:avLst/>
          </a:prstGeom>
          <a:noFill/>
        </p:spPr>
        <p:txBody>
          <a:bodyPr wrap="square" anchor="ctr">
            <a:spAutoFit/>
          </a:bodyPr>
          <a:lstStyle/>
          <a:p>
            <a:pPr algn="l">
              <a:spcAft>
                <a:spcPts val="400"/>
              </a:spcAft>
            </a:pPr>
            <a:r>
              <a:rPr sz="1150" b="0">
                <a:solidFill>
                  <a:srgbClr val="161B26"/>
                </a:solidFill>
                <a:latin typeface="Arial"/>
              </a:rPr>
              <a:t>Click Join Workspace, enter the code, then enter your display name.</a:t>
            </a:r>
          </a:p>
        </p:txBody>
      </p:sp>
      <p:sp>
        <p:nvSpPr>
          <p:cNvPr id="26" name="Rectangle 25"/>
          <p:cNvSpPr/>
          <p:nvPr/>
        </p:nvSpPr>
        <p:spPr>
          <a:xfrm>
            <a:off x="7452360" y="3845050"/>
            <a:ext cx="3977639"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52360" y="3845050"/>
            <a:ext cx="82296" cy="88468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71816" y="408622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71816" y="4086222"/>
            <a:ext cx="402336" cy="402336"/>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30" name="TextBox 29"/>
          <p:cNvSpPr txBox="1"/>
          <p:nvPr/>
        </p:nvSpPr>
        <p:spPr>
          <a:xfrm>
            <a:off x="8229600" y="3918202"/>
            <a:ext cx="2971799" cy="738377"/>
          </a:xfrm>
          <a:prstGeom prst="rect">
            <a:avLst/>
          </a:prstGeom>
          <a:noFill/>
        </p:spPr>
        <p:txBody>
          <a:bodyPr wrap="square" anchor="ctr">
            <a:spAutoFit/>
          </a:bodyPr>
          <a:lstStyle/>
          <a:p>
            <a:pPr algn="l">
              <a:spcAft>
                <a:spcPts val="400"/>
              </a:spcAft>
            </a:pPr>
            <a:r>
              <a:rPr sz="1150" b="0">
                <a:solidFill>
                  <a:srgbClr val="161B26"/>
                </a:solidFill>
                <a:latin typeface="Arial"/>
              </a:rPr>
              <a:t>Use the stage stepper to move through Empathize → Define → Ideate → Prototype → Test.</a:t>
            </a:r>
          </a:p>
        </p:txBody>
      </p:sp>
      <p:sp>
        <p:nvSpPr>
          <p:cNvPr id="31" name="Rectangle 30"/>
          <p:cNvSpPr/>
          <p:nvPr/>
        </p:nvSpPr>
        <p:spPr>
          <a:xfrm>
            <a:off x="7452360" y="4876035"/>
            <a:ext cx="3977639"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52360" y="4876035"/>
            <a:ext cx="82296" cy="88468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71816" y="511720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71816" y="5117207"/>
            <a:ext cx="402336" cy="402336"/>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5" name="TextBox 34"/>
          <p:cNvSpPr txBox="1"/>
          <p:nvPr/>
        </p:nvSpPr>
        <p:spPr>
          <a:xfrm>
            <a:off x="8229600" y="4949187"/>
            <a:ext cx="2971799" cy="738377"/>
          </a:xfrm>
          <a:prstGeom prst="rect">
            <a:avLst/>
          </a:prstGeom>
          <a:noFill/>
        </p:spPr>
        <p:txBody>
          <a:bodyPr wrap="square" anchor="ctr">
            <a:spAutoFit/>
          </a:bodyPr>
          <a:lstStyle/>
          <a:p>
            <a:pPr algn="l">
              <a:spcAft>
                <a:spcPts val="400"/>
              </a:spcAft>
            </a:pPr>
            <a:r>
              <a:rPr sz="1150" b="0">
                <a:solidFill>
                  <a:srgbClr val="161B26"/>
                </a:solidFill>
                <a:latin typeface="Arial"/>
              </a:rPr>
              <a:t>Click Add note in any section — give it a Title, Description and optional Category.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ED-TOOL 2 · USED IN ACTIVITIES 1, 2, 3, 7, 8, 10,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Your Classroom Board — Padlet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309360" cy="397763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6309360"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29384"/>
            <a:ext cx="155448" cy="155448"/>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97864" y="1929384"/>
            <a:ext cx="155448" cy="155448"/>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35608" y="1929384"/>
            <a:ext cx="155448" cy="155448"/>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0" y="1883664"/>
            <a:ext cx="5120640" cy="2743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56816" y="1901952"/>
            <a:ext cx="4937760" cy="237744"/>
          </a:xfrm>
          <a:prstGeom prst="rect">
            <a:avLst/>
          </a:prstGeom>
          <a:noFill/>
        </p:spPr>
        <p:txBody>
          <a:bodyPr wrap="square" anchor="t">
            <a:spAutoFit/>
          </a:bodyPr>
          <a:lstStyle/>
          <a:p>
            <a:pPr algn="l">
              <a:spcAft>
                <a:spcPts val="400"/>
              </a:spcAft>
            </a:pPr>
            <a:r>
              <a:rPr sz="1050" b="0">
                <a:solidFill>
                  <a:srgbClr val="5B6372"/>
                </a:solidFill>
                <a:latin typeface="Arial"/>
              </a:rPr>
              <a:t>https://alfredang.github.io/padlet/</a:t>
            </a:r>
          </a:p>
        </p:txBody>
      </p:sp>
      <p:sp>
        <p:nvSpPr>
          <p:cNvPr id="14" name="TextBox 13"/>
          <p:cNvSpPr txBox="1"/>
          <p:nvPr/>
        </p:nvSpPr>
        <p:spPr>
          <a:xfrm>
            <a:off x="1051560" y="2514600"/>
            <a:ext cx="5760720" cy="457200"/>
          </a:xfrm>
          <a:prstGeom prst="rect">
            <a:avLst/>
          </a:prstGeom>
          <a:noFill/>
        </p:spPr>
        <p:txBody>
          <a:bodyPr wrap="square" anchor="t">
            <a:spAutoFit/>
          </a:bodyPr>
          <a:lstStyle/>
          <a:p>
            <a:pPr algn="l">
              <a:spcAft>
                <a:spcPts val="400"/>
              </a:spcAft>
            </a:pPr>
            <a:r>
              <a:rPr sz="2100" b="1">
                <a:solidFill>
                  <a:srgbClr val="7C3AED"/>
                </a:solidFill>
                <a:latin typeface="Arial"/>
              </a:rPr>
              <a:t>Padlet Classroom Board</a:t>
            </a:r>
          </a:p>
        </p:txBody>
      </p:sp>
      <p:sp>
        <p:nvSpPr>
          <p:cNvPr id="15" name="TextBox 14"/>
          <p:cNvSpPr txBox="1"/>
          <p:nvPr/>
        </p:nvSpPr>
        <p:spPr>
          <a:xfrm>
            <a:off x="1051560" y="3017520"/>
            <a:ext cx="5779008" cy="2560320"/>
          </a:xfrm>
          <a:prstGeom prst="rect">
            <a:avLst/>
          </a:prstGeom>
          <a:noFill/>
        </p:spPr>
        <p:txBody>
          <a:bodyPr wrap="square" anchor="t">
            <a:spAutoFit/>
          </a:bodyPr>
          <a:lstStyle/>
          <a:p>
            <a:pPr algn="l">
              <a:spcAft>
                <a:spcPts val="400"/>
              </a:spcAft>
            </a:pPr>
            <a:r>
              <a:rPr sz="1200" b="0">
                <a:solidFill>
                  <a:srgbClr val="161B26"/>
                </a:solidFill>
                <a:latin typeface="Arial"/>
              </a:rPr>
              <a:t>An online classroom board for posting group output, comparing it across groups, and voting. Posts can carry text, images, links, YouTube videos or PDFs, and can be liked and commented on. The board is organised into sections and sub-sections, and can be sorted by newest, oldest or most liked so the strongest thinking rises to the top.</a:t>
            </a:r>
          </a:p>
        </p:txBody>
      </p:sp>
      <p:sp>
        <p:nvSpPr>
          <p:cNvPr id="16" name="Rectangle 15"/>
          <p:cNvSpPr/>
          <p:nvPr/>
        </p:nvSpPr>
        <p:spPr>
          <a:xfrm>
            <a:off x="7452360" y="1783080"/>
            <a:ext cx="3977639"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52360" y="1783080"/>
            <a:ext cx="82296" cy="8846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671816" y="202425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71816" y="2024252"/>
            <a:ext cx="402336" cy="402336"/>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20" name="TextBox 19"/>
          <p:cNvSpPr txBox="1"/>
          <p:nvPr/>
        </p:nvSpPr>
        <p:spPr>
          <a:xfrm>
            <a:off x="8229600" y="1856232"/>
            <a:ext cx="2971799" cy="738377"/>
          </a:xfrm>
          <a:prstGeom prst="rect">
            <a:avLst/>
          </a:prstGeom>
          <a:noFill/>
        </p:spPr>
        <p:txBody>
          <a:bodyPr wrap="square" anchor="ctr">
            <a:spAutoFit/>
          </a:bodyPr>
          <a:lstStyle/>
          <a:p>
            <a:pPr algn="l">
              <a:spcAft>
                <a:spcPts val="400"/>
              </a:spcAft>
            </a:pPr>
            <a:r>
              <a:rPr sz="1150" b="0">
                <a:solidFill>
                  <a:srgbClr val="161B26"/>
                </a:solidFill>
                <a:latin typeface="Arial"/>
              </a:rPr>
              <a:t>The trainer creates a classroom and shares the classroom code.</a:t>
            </a:r>
          </a:p>
        </p:txBody>
      </p:sp>
      <p:sp>
        <p:nvSpPr>
          <p:cNvPr id="21" name="Rectangle 20"/>
          <p:cNvSpPr/>
          <p:nvPr/>
        </p:nvSpPr>
        <p:spPr>
          <a:xfrm>
            <a:off x="7452360" y="2814065"/>
            <a:ext cx="3977639"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52360" y="2814065"/>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671816" y="305523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71816" y="3055237"/>
            <a:ext cx="402336" cy="402336"/>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25" name="TextBox 24"/>
          <p:cNvSpPr txBox="1"/>
          <p:nvPr/>
        </p:nvSpPr>
        <p:spPr>
          <a:xfrm>
            <a:off x="8229600" y="2887217"/>
            <a:ext cx="2971799" cy="738377"/>
          </a:xfrm>
          <a:prstGeom prst="rect">
            <a:avLst/>
          </a:prstGeom>
          <a:noFill/>
        </p:spPr>
        <p:txBody>
          <a:bodyPr wrap="square" anchor="ctr">
            <a:spAutoFit/>
          </a:bodyPr>
          <a:lstStyle/>
          <a:p>
            <a:pPr algn="l">
              <a:spcAft>
                <a:spcPts val="400"/>
              </a:spcAft>
            </a:pPr>
            <a:r>
              <a:rPr sz="1150" b="0">
                <a:solidFill>
                  <a:srgbClr val="161B26"/>
                </a:solidFill>
                <a:latin typeface="Arial"/>
              </a:rPr>
              <a:t>Join the classroom and enter your display name.</a:t>
            </a:r>
          </a:p>
        </p:txBody>
      </p:sp>
      <p:sp>
        <p:nvSpPr>
          <p:cNvPr id="26" name="Rectangle 25"/>
          <p:cNvSpPr/>
          <p:nvPr/>
        </p:nvSpPr>
        <p:spPr>
          <a:xfrm>
            <a:off x="7452360" y="3845050"/>
            <a:ext cx="3977639"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52360" y="3845050"/>
            <a:ext cx="82296" cy="88468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71816" y="408622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71816" y="4086222"/>
            <a:ext cx="402336" cy="402336"/>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30" name="TextBox 29"/>
          <p:cNvSpPr txBox="1"/>
          <p:nvPr/>
        </p:nvSpPr>
        <p:spPr>
          <a:xfrm>
            <a:off x="8229600" y="3918202"/>
            <a:ext cx="2971799" cy="738377"/>
          </a:xfrm>
          <a:prstGeom prst="rect">
            <a:avLst/>
          </a:prstGeom>
          <a:noFill/>
        </p:spPr>
        <p:txBody>
          <a:bodyPr wrap="square" anchor="ctr">
            <a:spAutoFit/>
          </a:bodyPr>
          <a:lstStyle/>
          <a:p>
            <a:pPr algn="l">
              <a:spcAft>
                <a:spcPts val="400"/>
              </a:spcAft>
            </a:pPr>
            <a:r>
              <a:rPr sz="1150" b="0">
                <a:solidFill>
                  <a:srgbClr val="161B26"/>
                </a:solidFill>
                <a:latin typeface="Arial"/>
              </a:rPr>
              <a:t>Use + to Add post into the section for the current activity.</a:t>
            </a:r>
          </a:p>
        </p:txBody>
      </p:sp>
      <p:sp>
        <p:nvSpPr>
          <p:cNvPr id="31" name="Rectangle 30"/>
          <p:cNvSpPr/>
          <p:nvPr/>
        </p:nvSpPr>
        <p:spPr>
          <a:xfrm>
            <a:off x="7452360" y="4876035"/>
            <a:ext cx="3977639"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52360" y="4876035"/>
            <a:ext cx="82296" cy="88468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71816" y="511720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71816" y="5117207"/>
            <a:ext cx="402336" cy="402336"/>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5" name="TextBox 34"/>
          <p:cNvSpPr txBox="1"/>
          <p:nvPr/>
        </p:nvSpPr>
        <p:spPr>
          <a:xfrm>
            <a:off x="8229600" y="4949187"/>
            <a:ext cx="2971799" cy="738377"/>
          </a:xfrm>
          <a:prstGeom prst="rect">
            <a:avLst/>
          </a:prstGeom>
          <a:noFill/>
        </p:spPr>
        <p:txBody>
          <a:bodyPr wrap="square" anchor="ctr">
            <a:spAutoFit/>
          </a:bodyPr>
          <a:lstStyle/>
          <a:p>
            <a:pPr algn="l">
              <a:spcAft>
                <a:spcPts val="400"/>
              </a:spcAft>
            </a:pPr>
            <a:r>
              <a:rPr sz="1150" b="0">
                <a:solidFill>
                  <a:srgbClr val="161B26"/>
                </a:solidFill>
                <a:latin typeface="Arial"/>
              </a:rPr>
              <a:t>Like the strongest posts from other groups and comment on their reasoning.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Scripts are collected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a:t>
            </a:r>
          </a:p>
          <a:p>
            <a:pPr algn="l">
              <a:spcAft>
                <a:spcPts val="300"/>
              </a:spcAft>
            </a:pPr>
            <a:r>
              <a:rPr sz="1200" b="0">
                <a:solidFill>
                  <a:srgbClr val="5B6372"/>
                </a:solidFill>
                <a:latin typeface="Arial"/>
              </a:rPr>
              <a:t>Short-Answer Questions (SAQ) · 0.5 hour · open book. Tests the underpinning knowledge taught in the slides.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Case Study (CS)</a:t>
            </a:r>
          </a:p>
          <a:p>
            <a:pPr algn="l">
              <a:spcAft>
                <a:spcPts val="300"/>
              </a:spcAft>
            </a:pPr>
            <a:r>
              <a:rPr sz="1200" b="0">
                <a:solidFill>
                  <a:srgbClr val="5B6372"/>
                </a:solidFill>
                <a:latin typeface="Arial"/>
              </a:rPr>
              <a:t>A scenario-based innovation case · 1 hour · open book. Tests applied judgement across all four topics.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You may use the course slides, the Learner Guide, your activity briefs and approved materials only.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Eligibility</a:t>
            </a:r>
          </a:p>
          <a:p>
            <a:pPr algn="l">
              <a:spcAft>
                <a:spcPts val="300"/>
              </a:spcAft>
            </a:pPr>
            <a:r>
              <a:rPr sz="1200" b="0">
                <a:solidFill>
                  <a:srgbClr val="5B6372"/>
                </a:solidFill>
                <a:latin typeface="Arial"/>
              </a:rPr>
              <a:t>A minimum of 75% attendance is required to be eligible for assessment and funding.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You are assessed as Competent (C) or Not Yet Competent (NYC) on each instrument.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you wish to contest an assessment outcome.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50392" y="3566160"/>
            <a:ext cx="1673352" cy="658368"/>
          </a:xfrm>
          <a:prstGeom prst="rect">
            <a:avLst/>
          </a:prstGeom>
          <a:noFill/>
        </p:spPr>
        <p:txBody>
          <a:bodyPr wrap="square" anchor="ctr">
            <a:spAutoFit/>
          </a:bodyPr>
          <a:lstStyle/>
          <a:p>
            <a:pPr algn="ctr">
              <a:spcAft>
                <a:spcPts val="0"/>
              </a:spcAft>
            </a:pPr>
            <a:r>
              <a:rPr sz="900" b="0">
                <a:solidFill>
                  <a:srgbClr val="5B6372"/>
                </a:solidFill>
                <a:latin typeface="Arial"/>
              </a:rPr>
              <a:t>Scan the QR code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54096" y="3566160"/>
            <a:ext cx="1673352" cy="658368"/>
          </a:xfrm>
          <a:prstGeom prst="rect">
            <a:avLst/>
          </a:prstGeom>
          <a:noFill/>
        </p:spPr>
        <p:txBody>
          <a:bodyPr wrap="square" anchor="ctr">
            <a:spAutoFit/>
          </a:bodyPr>
          <a:lstStyle/>
          <a:p>
            <a:pPr algn="ctr">
              <a:spcAft>
                <a:spcPts val="0"/>
              </a:spcAft>
            </a:pPr>
            <a:r>
              <a:rPr sz="900" b="0">
                <a:solidFill>
                  <a:srgbClr val="5B6372"/>
                </a:solidFill>
                <a:latin typeface="Arial"/>
              </a:rPr>
              <a:t>Scan the SSG 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Sit WA then CS</a:t>
            </a:r>
          </a:p>
        </p:txBody>
      </p:sp>
      <p:sp>
        <p:nvSpPr>
          <p:cNvPr id="26" name="TextBox 25"/>
          <p:cNvSpPr txBox="1"/>
          <p:nvPr/>
        </p:nvSpPr>
        <p:spPr>
          <a:xfrm>
            <a:off x="5257800" y="3566160"/>
            <a:ext cx="1673352" cy="658368"/>
          </a:xfrm>
          <a:prstGeom prst="rect">
            <a:avLst/>
          </a:prstGeom>
          <a:noFill/>
        </p:spPr>
        <p:txBody>
          <a:bodyPr wrap="square" anchor="ctr">
            <a:spAutoFit/>
          </a:bodyPr>
          <a:lstStyle/>
          <a:p>
            <a:pPr algn="ctr">
              <a:spcAft>
                <a:spcPts val="0"/>
              </a:spcAft>
            </a:pPr>
            <a:r>
              <a:rPr sz="850" b="0">
                <a:solidFill>
                  <a:srgbClr val="5B6372"/>
                </a:solidFill>
                <a:latin typeface="Arial"/>
              </a:rPr>
              <a:t>WA 0.5 h then CS 1 h · open book</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61504" y="3566160"/>
            <a:ext cx="1673352" cy="658368"/>
          </a:xfrm>
          <a:prstGeom prst="rect">
            <a:avLst/>
          </a:prstGeom>
          <a:noFill/>
        </p:spPr>
        <p:txBody>
          <a:bodyPr wrap="square" anchor="ctr">
            <a:spAutoFit/>
          </a:bodyPr>
          <a:lstStyle/>
          <a:p>
            <a:pPr algn="ctr">
              <a:spcAft>
                <a:spcPts val="0"/>
              </a:spcAft>
            </a:pPr>
            <a:r>
              <a:rPr sz="900" b="0">
                <a:solidFill>
                  <a:srgbClr val="5B6372"/>
                </a:solidFill>
                <a:latin typeface="Arial"/>
              </a:rPr>
              <a:t>Upload your completed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65208" y="3566160"/>
            <a:ext cx="1673352" cy="658368"/>
          </a:xfrm>
          <a:prstGeom prst="rect">
            <a:avLst/>
          </a:prstGeom>
          <a:noFill/>
        </p:spPr>
        <p:txBody>
          <a:bodyPr wrap="square" anchor="ctr">
            <a:spAutoFit/>
          </a:bodyPr>
          <a:lstStyle/>
          <a:p>
            <a:pPr algn="ctr">
              <a:spcAft>
                <a:spcPts val="0"/>
              </a:spcAft>
            </a:pPr>
            <a:r>
              <a:rPr sz="850" b="0">
                <a:solidFill>
                  <a:srgbClr val="5B6372"/>
                </a:solidFill>
                <a:latin typeface="Arial"/>
              </a:rPr>
              <a:t>Sign the 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WSQ FUNDING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A 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both assessment components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Scan the SSG QR code for AM, PM and Assessment on every training day.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survey</a:t>
            </a:r>
          </a:p>
          <a:p>
            <a:pPr algn="l">
              <a:spcAft>
                <a:spcPts val="300"/>
              </a:spcAft>
            </a:pPr>
            <a:r>
              <a:rPr sz="1300" b="0">
                <a:solidFill>
                  <a:srgbClr val="5B6372"/>
                </a:solidFill>
                <a:latin typeface="Arial"/>
              </a:rPr>
              <a:t>Complete the mandatory TRAQOM course feedback survey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Foundations of Design Thinking, Agile, and Generative AI for Problem-Solving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Design Thinking · Lean · Agile · Generative AI · The innovation operating system</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advClick="1">
    <p:push dir="l"/>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01 · WHY THIS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Your first idea is almost never your best idea.</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Design Thinking is the discipline of resisting the first plausible answer long enough to find a better one.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advClick="1">
    <p:push dir="l"/>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DESIGN THINKING · LEAN · AGILE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Three Mindsets of Innovation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hree-mindsets.png"/>
          <p:cNvPicPr>
            <a:picLocks noChangeAspect="1"/>
          </p:cNvPicPr>
          <p:nvPr/>
        </p:nvPicPr>
        <p:blipFill>
          <a:blip r:embed="rId2"/>
          <a:stretch>
            <a:fillRect/>
          </a:stretch>
        </p:blipFill>
        <p:spPr>
          <a:xfrm>
            <a:off x="2652189" y="1783080"/>
            <a:ext cx="6884574" cy="3977639"/>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70448"/>
            <a:ext cx="8229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943600"/>
            <a:ext cx="10222992" cy="329184"/>
          </a:xfrm>
          <a:prstGeom prst="rect">
            <a:avLst/>
          </a:prstGeom>
          <a:noFill/>
        </p:spPr>
        <p:txBody>
          <a:bodyPr wrap="square" anchor="t">
            <a:spAutoFit/>
          </a:bodyPr>
          <a:lstStyle/>
          <a:p>
            <a:pPr algn="l">
              <a:spcAft>
                <a:spcPts val="400"/>
              </a:spcAft>
            </a:pPr>
            <a:r>
              <a:rPr sz="1250" b="0">
                <a:solidFill>
                  <a:srgbClr val="161B26"/>
                </a:solidFill>
                <a:latin typeface="Arial"/>
              </a:rPr>
              <a:t>Design Thinking = explore and solve the RIGHT PROBLEM · Lean = test beliefs to find the RIGHT OUTCOME · Agile = adapt to change and BUILD IT RIGHT.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COMPARISON THAT ANCHORS THE COURSE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Design Thinking vs Lean vs Agile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Design Thinking</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Lean Startup</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Agile</a:t>
            </a:r>
          </a:p>
        </p:txBody>
      </p:sp>
      <p:sp>
        <p:nvSpPr>
          <p:cNvPr id="15" name="Rectangle 14"/>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Primary focus</a:t>
            </a:r>
          </a:p>
        </p:txBody>
      </p:sp>
      <p:sp>
        <p:nvSpPr>
          <p:cNvPr id="17" name="Rectangle 16"/>
          <p:cNvSpPr/>
          <p:nvPr/>
        </p:nvSpPr>
        <p:spPr>
          <a:xfrm>
            <a:off x="354220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Understanding users deeply</a:t>
            </a:r>
          </a:p>
        </p:txBody>
      </p:sp>
      <p:sp>
        <p:nvSpPr>
          <p:cNvPr id="19" name="Rectangle 18"/>
          <p:cNvSpPr/>
          <p:nvPr/>
        </p:nvSpPr>
        <p:spPr>
          <a:xfrm>
            <a:off x="616537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Validating ideas efficiently</a:t>
            </a:r>
          </a:p>
        </p:txBody>
      </p:sp>
      <p:sp>
        <p:nvSpPr>
          <p:cNvPr id="21" name="Rectangle 20"/>
          <p:cNvSpPr/>
          <p:nvPr/>
        </p:nvSpPr>
        <p:spPr>
          <a:xfrm>
            <a:off x="878854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Iterative delivery and adaptation</a:t>
            </a:r>
          </a:p>
        </p:txBody>
      </p:sp>
      <p:sp>
        <p:nvSpPr>
          <p:cNvPr id="23" name="Rectangle 22"/>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The question it answers</a:t>
            </a:r>
          </a:p>
        </p:txBody>
      </p:sp>
      <p:sp>
        <p:nvSpPr>
          <p:cNvPr id="25" name="Rectangle 24"/>
          <p:cNvSpPr/>
          <p:nvPr/>
        </p:nvSpPr>
        <p:spPr>
          <a:xfrm>
            <a:off x="354220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How should we think about this problem?</a:t>
            </a:r>
          </a:p>
        </p:txBody>
      </p:sp>
      <p:sp>
        <p:nvSpPr>
          <p:cNvPr id="27" name="Rectangle 26"/>
          <p:cNvSpPr/>
          <p:nvPr/>
        </p:nvSpPr>
        <p:spPr>
          <a:xfrm>
            <a:off x="616537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How do we validate this solution efficiently?</a:t>
            </a:r>
          </a:p>
        </p:txBody>
      </p:sp>
      <p:sp>
        <p:nvSpPr>
          <p:cNvPr id="29" name="Rectangle 28"/>
          <p:cNvSpPr/>
          <p:nvPr/>
        </p:nvSpPr>
        <p:spPr>
          <a:xfrm>
            <a:off x="878854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How do we build, scale and improve it?</a:t>
            </a:r>
          </a:p>
        </p:txBody>
      </p:sp>
      <p:sp>
        <p:nvSpPr>
          <p:cNvPr id="31" name="Rectangle 30"/>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Origin</a:t>
            </a:r>
          </a:p>
        </p:txBody>
      </p:sp>
      <p:sp>
        <p:nvSpPr>
          <p:cNvPr id="33" name="Rectangle 32"/>
          <p:cNvSpPr/>
          <p:nvPr/>
        </p:nvSpPr>
        <p:spPr>
          <a:xfrm>
            <a:off x="354220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Human-centred design practice</a:t>
            </a:r>
          </a:p>
        </p:txBody>
      </p:sp>
      <p:sp>
        <p:nvSpPr>
          <p:cNvPr id="35" name="Rectangle 34"/>
          <p:cNvSpPr/>
          <p:nvPr/>
        </p:nvSpPr>
        <p:spPr>
          <a:xfrm>
            <a:off x="616537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Toyota lean manufacturing</a:t>
            </a:r>
          </a:p>
        </p:txBody>
      </p:sp>
      <p:sp>
        <p:nvSpPr>
          <p:cNvPr id="37" name="Rectangle 36"/>
          <p:cNvSpPr/>
          <p:nvPr/>
        </p:nvSpPr>
        <p:spPr>
          <a:xfrm>
            <a:off x="878854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A counterpoint to Waterfall</a:t>
            </a:r>
          </a:p>
        </p:txBody>
      </p:sp>
      <p:sp>
        <p:nvSpPr>
          <p:cNvPr id="39" name="Rectangle 38"/>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Core move</a:t>
            </a:r>
          </a:p>
        </p:txBody>
      </p:sp>
      <p:sp>
        <p:nvSpPr>
          <p:cNvPr id="41" name="Rectangle 40"/>
          <p:cNvSpPr/>
          <p:nvPr/>
        </p:nvSpPr>
        <p:spPr>
          <a:xfrm>
            <a:off x="354220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Reframe the problem through empathy</a:t>
            </a:r>
          </a:p>
        </p:txBody>
      </p:sp>
      <p:sp>
        <p:nvSpPr>
          <p:cNvPr id="43" name="Rectangle 42"/>
          <p:cNvSpPr/>
          <p:nvPr/>
        </p:nvSpPr>
        <p:spPr>
          <a:xfrm>
            <a:off x="616537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Build an MVP, let the customer decide value</a:t>
            </a:r>
          </a:p>
        </p:txBody>
      </p:sp>
      <p:sp>
        <p:nvSpPr>
          <p:cNvPr id="45" name="Rectangle 44"/>
          <p:cNvSpPr/>
          <p:nvPr/>
        </p:nvSpPr>
        <p:spPr>
          <a:xfrm>
            <a:off x="878854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Ship increments in short sprints</a:t>
            </a:r>
          </a:p>
        </p:txBody>
      </p:sp>
      <p:sp>
        <p:nvSpPr>
          <p:cNvPr id="47" name="Rectangle 4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Timeframe</a:t>
            </a:r>
          </a:p>
        </p:txBody>
      </p:sp>
      <p:sp>
        <p:nvSpPr>
          <p:cNvPr id="49" name="Rectangle 48"/>
          <p:cNvSpPr/>
          <p:nvPr/>
        </p:nvSpPr>
        <p:spPr>
          <a:xfrm>
            <a:off x="354220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Flexible — one day to one month</a:t>
            </a:r>
          </a:p>
        </p:txBody>
      </p:sp>
      <p:sp>
        <p:nvSpPr>
          <p:cNvPr id="51" name="Rectangle 50"/>
          <p:cNvSpPr/>
          <p:nvPr/>
        </p:nvSpPr>
        <p:spPr>
          <a:xfrm>
            <a:off x="616537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Rapid, minimal validation cycles</a:t>
            </a:r>
          </a:p>
        </p:txBody>
      </p:sp>
      <p:sp>
        <p:nvSpPr>
          <p:cNvPr id="53" name="Rectangle 52"/>
          <p:cNvSpPr/>
          <p:nvPr/>
        </p:nvSpPr>
        <p:spPr>
          <a:xfrm>
            <a:off x="878854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Sprint-based, continuous</a:t>
            </a:r>
          </a:p>
        </p:txBody>
      </p:sp>
      <p:sp>
        <p:nvSpPr>
          <p:cNvPr id="55" name="Rectangle 54"/>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Fails when</a:t>
            </a:r>
          </a:p>
        </p:txBody>
      </p:sp>
      <p:sp>
        <p:nvSpPr>
          <p:cNvPr id="57" name="Rectangle 56"/>
          <p:cNvSpPr/>
          <p:nvPr/>
        </p:nvSpPr>
        <p:spPr>
          <a:xfrm>
            <a:off x="354220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It never reaches delivery</a:t>
            </a:r>
          </a:p>
        </p:txBody>
      </p:sp>
      <p:sp>
        <p:nvSpPr>
          <p:cNvPr id="59" name="Rectangle 58"/>
          <p:cNvSpPr/>
          <p:nvPr/>
        </p:nvSpPr>
        <p:spPr>
          <a:xfrm>
            <a:off x="616537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It validates a problem nobody has</a:t>
            </a:r>
          </a:p>
        </p:txBody>
      </p:sp>
      <p:sp>
        <p:nvSpPr>
          <p:cNvPr id="61" name="Rectangle 60"/>
          <p:cNvSpPr/>
          <p:nvPr/>
        </p:nvSpPr>
        <p:spPr>
          <a:xfrm>
            <a:off x="878854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It builds the wrong thing efficiently</a:t>
            </a:r>
          </a:p>
        </p:txBody>
      </p:sp>
      <p:sp>
        <p:nvSpPr>
          <p:cNvPr id="63" name="Rectangle 62"/>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It is not 'Lean or Agile?' — it is 'and'. All three are mindsets, not processes.</a:t>
            </a:r>
          </a:p>
        </p:txBody>
      </p:sp>
      <p:sp>
        <p:nvSpPr>
          <p:cNvPr id="66" name="TextBox 6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67" name="TextBox 6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8" name="TextBox 6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CORE DIAGRAM OF THE COURSE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Double Diamond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uble-diamond.png"/>
          <p:cNvPicPr>
            <a:picLocks noChangeAspect="1"/>
          </p:cNvPicPr>
          <p:nvPr/>
        </p:nvPicPr>
        <p:blipFill>
          <a:blip r:embed="rId2"/>
          <a:stretch>
            <a:fillRect/>
          </a:stretch>
        </p:blipFill>
        <p:spPr>
          <a:xfrm>
            <a:off x="777240" y="2343846"/>
            <a:ext cx="6720840" cy="3038988"/>
          </a:xfrm>
          <a:prstGeom prst="rect">
            <a:avLst/>
          </a:prstGeom>
        </p:spPr>
      </p:pic>
      <p:sp>
        <p:nvSpPr>
          <p:cNvPr id="8" name="Rectangle 7"/>
          <p:cNvSpPr/>
          <p:nvPr/>
        </p:nvSpPr>
        <p:spPr>
          <a:xfrm>
            <a:off x="7726679" y="1783080"/>
            <a:ext cx="3703320"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26679" y="1783080"/>
            <a:ext cx="370332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59" y="1920240"/>
            <a:ext cx="3337560" cy="347472"/>
          </a:xfrm>
          <a:prstGeom prst="rect">
            <a:avLst/>
          </a:prstGeom>
          <a:noFill/>
        </p:spPr>
        <p:txBody>
          <a:bodyPr wrap="square" anchor="t">
            <a:spAutoFit/>
          </a:bodyPr>
          <a:lstStyle/>
          <a:p>
            <a:pPr algn="l">
              <a:spcAft>
                <a:spcPts val="400"/>
              </a:spcAft>
            </a:pPr>
            <a:r>
              <a:rPr sz="1350" b="1">
                <a:solidFill>
                  <a:srgbClr val="1F6FEB"/>
                </a:solidFill>
                <a:latin typeface="Arial"/>
              </a:rPr>
              <a:t>Diamond 1 · Problem space</a:t>
            </a:r>
          </a:p>
        </p:txBody>
      </p:sp>
      <p:sp>
        <p:nvSpPr>
          <p:cNvPr id="11" name="TextBox 10"/>
          <p:cNvSpPr txBox="1"/>
          <p:nvPr/>
        </p:nvSpPr>
        <p:spPr>
          <a:xfrm>
            <a:off x="7909559" y="2286000"/>
            <a:ext cx="3337560" cy="365760"/>
          </a:xfrm>
          <a:prstGeom prst="rect">
            <a:avLst/>
          </a:prstGeom>
          <a:noFill/>
        </p:spPr>
        <p:txBody>
          <a:bodyPr wrap="square" anchor="t">
            <a:spAutoFit/>
          </a:bodyPr>
          <a:lstStyle/>
          <a:p>
            <a:pPr algn="l">
              <a:spcAft>
                <a:spcPts val="200"/>
              </a:spcAft>
            </a:pPr>
            <a:r>
              <a:rPr sz="1200" b="0">
                <a:solidFill>
                  <a:srgbClr val="161B26"/>
                </a:solidFill>
                <a:latin typeface="Arial"/>
              </a:rPr>
              <a:t>Diverge to understand the user, then converge on a clear problem statement.</a:t>
            </a:r>
          </a:p>
        </p:txBody>
      </p:sp>
      <p:sp>
        <p:nvSpPr>
          <p:cNvPr id="12" name="Rectangle 11"/>
          <p:cNvSpPr/>
          <p:nvPr/>
        </p:nvSpPr>
        <p:spPr>
          <a:xfrm>
            <a:off x="7726679" y="2898648"/>
            <a:ext cx="3703320"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26679" y="2898648"/>
            <a:ext cx="37033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59" y="3035808"/>
            <a:ext cx="3337560" cy="347472"/>
          </a:xfrm>
          <a:prstGeom prst="rect">
            <a:avLst/>
          </a:prstGeom>
          <a:noFill/>
        </p:spPr>
        <p:txBody>
          <a:bodyPr wrap="square" anchor="t">
            <a:spAutoFit/>
          </a:bodyPr>
          <a:lstStyle/>
          <a:p>
            <a:pPr algn="l">
              <a:spcAft>
                <a:spcPts val="400"/>
              </a:spcAft>
            </a:pPr>
            <a:r>
              <a:rPr sz="1350" b="1">
                <a:solidFill>
                  <a:srgbClr val="10B981"/>
                </a:solidFill>
                <a:latin typeface="Arial"/>
              </a:rPr>
              <a:t>Diamond 2 · Solution space</a:t>
            </a:r>
          </a:p>
        </p:txBody>
      </p:sp>
      <p:sp>
        <p:nvSpPr>
          <p:cNvPr id="15" name="TextBox 14"/>
          <p:cNvSpPr txBox="1"/>
          <p:nvPr/>
        </p:nvSpPr>
        <p:spPr>
          <a:xfrm>
            <a:off x="7909559" y="3401568"/>
            <a:ext cx="3337560" cy="365760"/>
          </a:xfrm>
          <a:prstGeom prst="rect">
            <a:avLst/>
          </a:prstGeom>
          <a:noFill/>
        </p:spPr>
        <p:txBody>
          <a:bodyPr wrap="square" anchor="t">
            <a:spAutoFit/>
          </a:bodyPr>
          <a:lstStyle/>
          <a:p>
            <a:pPr algn="l">
              <a:spcAft>
                <a:spcPts val="200"/>
              </a:spcAft>
            </a:pPr>
            <a:r>
              <a:rPr sz="1200" b="0">
                <a:solidFill>
                  <a:srgbClr val="161B26"/>
                </a:solidFill>
                <a:latin typeface="Arial"/>
              </a:rPr>
              <a:t>Diverge to generate many solutions, then converge on the one worth building.</a:t>
            </a:r>
          </a:p>
        </p:txBody>
      </p:sp>
      <p:sp>
        <p:nvSpPr>
          <p:cNvPr id="16" name="Rectangle 15"/>
          <p:cNvSpPr/>
          <p:nvPr/>
        </p:nvSpPr>
        <p:spPr>
          <a:xfrm>
            <a:off x="7726679" y="4014216"/>
            <a:ext cx="3703320"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26679" y="4014216"/>
            <a:ext cx="370332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59" y="4151376"/>
            <a:ext cx="3337560" cy="347472"/>
          </a:xfrm>
          <a:prstGeom prst="rect">
            <a:avLst/>
          </a:prstGeom>
          <a:noFill/>
        </p:spPr>
        <p:txBody>
          <a:bodyPr wrap="square" anchor="t">
            <a:spAutoFit/>
          </a:bodyPr>
          <a:lstStyle/>
          <a:p>
            <a:pPr algn="l">
              <a:spcAft>
                <a:spcPts val="400"/>
              </a:spcAft>
            </a:pPr>
            <a:r>
              <a:rPr sz="1350" b="1">
                <a:solidFill>
                  <a:srgbClr val="7C3AED"/>
                </a:solidFill>
                <a:latin typeface="Arial"/>
              </a:rPr>
              <a:t>Then Agile delivers</a:t>
            </a:r>
          </a:p>
        </p:txBody>
      </p:sp>
      <p:sp>
        <p:nvSpPr>
          <p:cNvPr id="19" name="TextBox 18"/>
          <p:cNvSpPr txBox="1"/>
          <p:nvPr/>
        </p:nvSpPr>
        <p:spPr>
          <a:xfrm>
            <a:off x="7909559" y="4517136"/>
            <a:ext cx="3337560" cy="365760"/>
          </a:xfrm>
          <a:prstGeom prst="rect">
            <a:avLst/>
          </a:prstGeom>
          <a:noFill/>
        </p:spPr>
        <p:txBody>
          <a:bodyPr wrap="square" anchor="t">
            <a:spAutoFit/>
          </a:bodyPr>
          <a:lstStyle/>
          <a:p>
            <a:pPr algn="l">
              <a:spcAft>
                <a:spcPts val="200"/>
              </a:spcAft>
            </a:pPr>
            <a:r>
              <a:rPr sz="1200" b="0">
                <a:solidFill>
                  <a:srgbClr val="161B26"/>
                </a:solidFill>
                <a:latin typeface="Arial"/>
              </a:rPr>
              <a:t>Sprints answer the third question: building it right?</a:t>
            </a:r>
          </a:p>
        </p:txBody>
      </p:sp>
      <p:sp>
        <p:nvSpPr>
          <p:cNvPr id="20" name="Rectangle 19"/>
          <p:cNvSpPr/>
          <p:nvPr/>
        </p:nvSpPr>
        <p:spPr>
          <a:xfrm>
            <a:off x="7726679" y="5129784"/>
            <a:ext cx="3703320"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26679" y="5129784"/>
            <a:ext cx="370332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59" y="5266944"/>
            <a:ext cx="3337560" cy="347472"/>
          </a:xfrm>
          <a:prstGeom prst="rect">
            <a:avLst/>
          </a:prstGeom>
          <a:noFill/>
        </p:spPr>
        <p:txBody>
          <a:bodyPr wrap="square" anchor="t">
            <a:spAutoFit/>
          </a:bodyPr>
          <a:lstStyle/>
          <a:p>
            <a:pPr algn="l">
              <a:spcAft>
                <a:spcPts val="400"/>
              </a:spcAft>
            </a:pPr>
            <a:r>
              <a:rPr sz="1350" b="1">
                <a:solidFill>
                  <a:srgbClr val="F59E0B"/>
                </a:solidFill>
                <a:latin typeface="Arial"/>
              </a:rPr>
              <a:t>The discipline</a:t>
            </a:r>
          </a:p>
        </p:txBody>
      </p:sp>
      <p:sp>
        <p:nvSpPr>
          <p:cNvPr id="23" name="TextBox 22"/>
          <p:cNvSpPr txBox="1"/>
          <p:nvPr/>
        </p:nvSpPr>
        <p:spPr>
          <a:xfrm>
            <a:off x="7909559" y="5632704"/>
            <a:ext cx="3337560" cy="365760"/>
          </a:xfrm>
          <a:prstGeom prst="rect">
            <a:avLst/>
          </a:prstGeom>
          <a:noFill/>
        </p:spPr>
        <p:txBody>
          <a:bodyPr wrap="square" anchor="t">
            <a:spAutoFit/>
          </a:bodyPr>
          <a:lstStyle/>
          <a:p>
            <a:pPr algn="l">
              <a:spcAft>
                <a:spcPts val="200"/>
              </a:spcAft>
            </a:pPr>
            <a:r>
              <a:rPr sz="1200" b="0">
                <a:solidFill>
                  <a:srgbClr val="161B26"/>
                </a:solidFill>
                <a:latin typeface="Arial"/>
              </a:rPr>
              <a:t>Never converge before you diverge. The first diamond is the one teams skip.</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EMPATHISE · DEFINE · IDEATE · PROTOTYPE · TEST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Five Stages of Design Thinking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t-five-stages.png"/>
          <p:cNvPicPr>
            <a:picLocks noChangeAspect="1"/>
          </p:cNvPicPr>
          <p:nvPr/>
        </p:nvPicPr>
        <p:blipFill>
          <a:blip r:embed="rId2"/>
          <a:stretch>
            <a:fillRect/>
          </a:stretch>
        </p:blipFill>
        <p:spPr>
          <a:xfrm>
            <a:off x="777240" y="1814416"/>
            <a:ext cx="10634472" cy="3914966"/>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70448"/>
            <a:ext cx="8229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943600"/>
            <a:ext cx="10222992" cy="329184"/>
          </a:xfrm>
          <a:prstGeom prst="rect">
            <a:avLst/>
          </a:prstGeom>
          <a:noFill/>
        </p:spPr>
        <p:txBody>
          <a:bodyPr wrap="square" anchor="t">
            <a:spAutoFit/>
          </a:bodyPr>
          <a:lstStyle/>
          <a:p>
            <a:pPr algn="l">
              <a:spcAft>
                <a:spcPts val="400"/>
              </a:spcAft>
            </a:pPr>
            <a:r>
              <a:rPr sz="1250" b="0">
                <a:solidFill>
                  <a:srgbClr val="161B26"/>
                </a:solidFill>
                <a:latin typeface="Arial"/>
              </a:rPr>
              <a:t>The stages overlap and repeat continuously — this is a loop you re-enter, not a waterfall you complete once.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DEFINITION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Design Thinking Actually 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 solution-based approach</a:t>
            </a:r>
          </a:p>
          <a:p>
            <a:pPr algn="l">
              <a:spcAft>
                <a:spcPts val="300"/>
              </a:spcAft>
            </a:pPr>
            <a:r>
              <a:rPr sz="1200" b="0">
                <a:solidFill>
                  <a:srgbClr val="5B6372"/>
                </a:solidFill>
                <a:latin typeface="Arial"/>
              </a:rPr>
              <a:t>It tackles problems that are ill-defined or unknown by understanding the human needs involved.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Human-centred reframing</a:t>
            </a:r>
          </a:p>
          <a:p>
            <a:pPr algn="l">
              <a:spcAft>
                <a:spcPts val="300"/>
              </a:spcAft>
            </a:pPr>
            <a:r>
              <a:rPr sz="1200" b="0">
                <a:solidFill>
                  <a:srgbClr val="5B6372"/>
                </a:solidFill>
                <a:latin typeface="Arial"/>
              </a:rPr>
              <a:t>It re-frames the problem in human terms before any solution is proposed.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Volume then judgement</a:t>
            </a:r>
          </a:p>
          <a:p>
            <a:pPr algn="l">
              <a:spcAft>
                <a:spcPts val="300"/>
              </a:spcAft>
            </a:pPr>
            <a:r>
              <a:rPr sz="1200" b="0">
                <a:solidFill>
                  <a:srgbClr val="5B6372"/>
                </a:solidFill>
                <a:latin typeface="Arial"/>
              </a:rPr>
              <a:t>It creates many ideas in structured ideation, then converges deliberately.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Hands-on by default</a:t>
            </a:r>
          </a:p>
          <a:p>
            <a:pPr algn="l">
              <a:spcAft>
                <a:spcPts val="300"/>
              </a:spcAft>
            </a:pPr>
            <a:r>
              <a:rPr sz="1200" b="0">
                <a:solidFill>
                  <a:srgbClr val="5B6372"/>
                </a:solidFill>
                <a:latin typeface="Arial"/>
              </a:rPr>
              <a:t>It adopts a build-to-think approach through prototyping and testing with real users.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CARISSA CARTER · STANFORD d.school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Abilities That Make a Designer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Dealing with ambiguity</a:t>
            </a:r>
          </a:p>
          <a:p>
            <a:pPr algn="l">
              <a:spcAft>
                <a:spcPts val="300"/>
              </a:spcAft>
            </a:pPr>
            <a:r>
              <a:rPr sz="1200" b="0">
                <a:solidFill>
                  <a:srgbClr val="5B6372"/>
                </a:solidFill>
                <a:latin typeface="Arial"/>
              </a:rPr>
              <a:t>Staying productive when the problem itself is still unclear — the defining skill of the discipline.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Empathetic learning</a:t>
            </a:r>
          </a:p>
          <a:p>
            <a:pPr algn="l">
              <a:spcAft>
                <a:spcPts val="300"/>
              </a:spcAft>
            </a:pPr>
            <a:r>
              <a:rPr sz="1200" b="0">
                <a:solidFill>
                  <a:srgbClr val="5B6372"/>
                </a:solidFill>
                <a:latin typeface="Arial"/>
              </a:rPr>
              <a:t>Understanding a user's world from inside their experience, not from a survey summary.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Synthesis</a:t>
            </a:r>
          </a:p>
          <a:p>
            <a:pPr algn="l">
              <a:spcAft>
                <a:spcPts val="300"/>
              </a:spcAft>
            </a:pPr>
            <a:r>
              <a:rPr sz="1200" b="0">
                <a:solidFill>
                  <a:srgbClr val="5B6372"/>
                </a:solidFill>
                <a:latin typeface="Arial"/>
              </a:rPr>
              <a:t>Turning a mass of qualitative evidence into a small number of insights you can design against.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Experimentation</a:t>
            </a:r>
          </a:p>
          <a:p>
            <a:pPr algn="l">
              <a:spcAft>
                <a:spcPts val="300"/>
              </a:spcAft>
            </a:pPr>
            <a:r>
              <a:rPr sz="1200" b="0">
                <a:solidFill>
                  <a:srgbClr val="5B6372"/>
                </a:solidFill>
                <a:latin typeface="Arial"/>
              </a:rPr>
              <a:t>Treating every belief as testable, and designing the cheapest test that could disprove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RITTEL &amp; WEBBER, 1973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Wicked Problems — Why Framing Comes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Coined in 1973</a:t>
            </a:r>
          </a:p>
          <a:p>
            <a:pPr algn="l">
              <a:spcAft>
                <a:spcPts val="300"/>
              </a:spcAft>
            </a:pPr>
            <a:r>
              <a:rPr sz="1200" b="0">
                <a:solidFill>
                  <a:srgbClr val="5B6372"/>
                </a:solidFill>
                <a:latin typeface="Arial"/>
              </a:rPr>
              <a:t>Horst Rittel and Melvin Webber, UC Berkeley professors of design and urban planning.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Hard to even define</a:t>
            </a:r>
          </a:p>
          <a:p>
            <a:pPr algn="l">
              <a:spcAft>
                <a:spcPts val="300"/>
              </a:spcAft>
            </a:pPr>
            <a:r>
              <a:rPr sz="1200" b="0">
                <a:solidFill>
                  <a:srgbClr val="5B6372"/>
                </a:solidFill>
                <a:latin typeface="Arial"/>
              </a:rPr>
              <a:t>Abstract challenges with multiple interconnected layers — poverty, climate change, public health.</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 single right answer</a:t>
            </a:r>
          </a:p>
          <a:p>
            <a:pPr algn="l">
              <a:spcAft>
                <a:spcPts val="300"/>
              </a:spcAft>
            </a:pPr>
            <a:r>
              <a:rPr sz="1200" b="0">
                <a:solidFill>
                  <a:srgbClr val="5B6372"/>
                </a:solidFill>
                <a:latin typeface="Arial"/>
              </a:rPr>
              <a:t>They have no fixed endpoint and no single correct solution, only better and worse responses.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Tame problems differ</a:t>
            </a:r>
          </a:p>
          <a:p>
            <a:pPr algn="l">
              <a:spcAft>
                <a:spcPts val="300"/>
              </a:spcAft>
            </a:pPr>
            <a:r>
              <a:rPr sz="1200" b="0">
                <a:solidFill>
                  <a:srgbClr val="5B6372"/>
                </a:solidFill>
                <a:latin typeface="Arial"/>
              </a:rPr>
              <a:t>A tame problem has a knowable answer; reaching for a tame method on a wicked problem is the classic error.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GENAI OVERLAY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Generative AI Accelerates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enai-overlay.png"/>
          <p:cNvPicPr>
            <a:picLocks noChangeAspect="1"/>
          </p:cNvPicPr>
          <p:nvPr/>
        </p:nvPicPr>
        <p:blipFill>
          <a:blip r:embed="rId2"/>
          <a:stretch>
            <a:fillRect/>
          </a:stretch>
        </p:blipFill>
        <p:spPr>
          <a:xfrm>
            <a:off x="1544252" y="1783080"/>
            <a:ext cx="9100448" cy="3977639"/>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70448"/>
            <a:ext cx="82296"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943600"/>
            <a:ext cx="10222992" cy="329184"/>
          </a:xfrm>
          <a:prstGeom prst="rect">
            <a:avLst/>
          </a:prstGeom>
          <a:noFill/>
        </p:spPr>
        <p:txBody>
          <a:bodyPr wrap="square" anchor="t">
            <a:spAutoFit/>
          </a:bodyPr>
          <a:lstStyle/>
          <a:p>
            <a:pPr algn="l">
              <a:spcAft>
                <a:spcPts val="400"/>
              </a:spcAft>
            </a:pPr>
            <a:r>
              <a:rPr sz="1250" b="0">
                <a:solidFill>
                  <a:srgbClr val="161B26"/>
                </a:solidFill>
                <a:latin typeface="Arial"/>
              </a:rPr>
              <a:t>AI acts as an amplifier of good design thinking discipline — never a substitute for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PRACTICAL DIVISION OF LABOUR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GenAI Does Well — and Where It Fails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Stage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GenAI genuinely accelerates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must stay human</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Empathise</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Synthesising interview transcripts and field notes at speed</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Being in the room; noticing what is not said</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Define</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Generating and stress-testing candidate reframes</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Choosing which problem the organisation will own</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Ideate</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Multiplying idea volume and range on demand</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Recognising the idea that fits this context</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Prototype</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Drafting copy, flows, screens and edge cases</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Deciding what is cheap enough to learn from</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Test</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Clustering feedback and drafting scripts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Watching a real user hesitate, and asking why</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A language model produces the statistically likely, not the locally true. Use it to diverge; validate before you converge.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THE PRACTICE IS GOING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Latest Trends in Innovation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AI-assisted discovery</a:t>
            </a:r>
          </a:p>
          <a:p>
            <a:pPr algn="l">
              <a:spcAft>
                <a:spcPts val="300"/>
              </a:spcAft>
            </a:pPr>
            <a:r>
              <a:rPr sz="1200" b="0">
                <a:solidFill>
                  <a:srgbClr val="5B6372"/>
                </a:solidFill>
                <a:latin typeface="Arial"/>
              </a:rPr>
              <a:t>Research synthesis that took a team weeks now takes hours — the bottleneck moves to judgement.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Continuous discovery</a:t>
            </a:r>
          </a:p>
          <a:p>
            <a:pPr algn="l">
              <a:spcAft>
                <a:spcPts val="300"/>
              </a:spcAft>
            </a:pPr>
            <a:r>
              <a:rPr sz="1200" b="0">
                <a:solidFill>
                  <a:srgbClr val="5B6372"/>
                </a:solidFill>
                <a:latin typeface="Arial"/>
              </a:rPr>
              <a:t>Discovery is no longer a phase before delivery; it runs permanently alongside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Cross-functional trios</a:t>
            </a:r>
          </a:p>
          <a:p>
            <a:pPr algn="l">
              <a:spcAft>
                <a:spcPts val="300"/>
              </a:spcAft>
            </a:pPr>
            <a:r>
              <a:rPr sz="1200" b="0">
                <a:solidFill>
                  <a:srgbClr val="5B6372"/>
                </a:solidFill>
                <a:latin typeface="Arial"/>
              </a:rPr>
              <a:t>A product manager, designer and engineer own discovery together rather than passing artefacts.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 over opinion</a:t>
            </a:r>
          </a:p>
          <a:p>
            <a:pPr algn="l">
              <a:spcAft>
                <a:spcPts val="300"/>
              </a:spcAft>
            </a:pPr>
            <a:r>
              <a:rPr sz="1200" b="0">
                <a:solidFill>
                  <a:srgbClr val="5B6372"/>
                </a:solidFill>
                <a:latin typeface="Arial"/>
              </a:rPr>
              <a:t>Decisions increasingly demand a named assumption and the test that would disprove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Responsible AI</a:t>
            </a:r>
          </a:p>
          <a:p>
            <a:pPr algn="l">
              <a:spcAft>
                <a:spcPts val="300"/>
              </a:spcAft>
            </a:pPr>
            <a:r>
              <a:rPr sz="1200" b="0">
                <a:solidFill>
                  <a:srgbClr val="5B6372"/>
                </a:solidFill>
                <a:latin typeface="Arial"/>
              </a:rPr>
              <a:t>Provenance, bias and governance become part of the innovation process, not a legal afterthought.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Outcome over output</a:t>
            </a:r>
          </a:p>
          <a:p>
            <a:pPr algn="l">
              <a:spcAft>
                <a:spcPts val="300"/>
              </a:spcAft>
            </a:pPr>
            <a:r>
              <a:rPr sz="1200" b="0">
                <a:solidFill>
                  <a:srgbClr val="5B6372"/>
                </a:solidFill>
                <a:latin typeface="Arial"/>
              </a:rPr>
              <a:t>Organisations shift from counting features shipped to measuring the customer value created.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REAL-WORLD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Airbnb — Diagnosing Why a Method Alone Does Not Save a Business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19656"/>
            <a:ext cx="10241280" cy="310896"/>
          </a:xfrm>
          <a:prstGeom prst="rect">
            <a:avLst/>
          </a:prstGeom>
          <a:noFill/>
        </p:spPr>
        <p:txBody>
          <a:bodyPr wrap="square" anchor="t">
            <a:spAutoFit/>
          </a:bodyPr>
          <a:lstStyle/>
          <a:p>
            <a:pPr algn="l">
              <a:spcAft>
                <a:spcPts val="400"/>
              </a:spcAft>
            </a:pPr>
            <a:r>
              <a:rPr sz="1250" b="1">
                <a:solidFill>
                  <a:srgbClr val="FFFFFF"/>
                </a:solidFill>
                <a:latin typeface="Arial"/>
              </a:rPr>
              <a:t>ACTIVITY 1  ·  45 MIN</a:t>
            </a:r>
          </a:p>
        </p:txBody>
      </p:sp>
      <p:sp>
        <p:nvSpPr>
          <p:cNvPr id="9" name="Rectangle 8"/>
          <p:cNvSpPr/>
          <p:nvPr/>
        </p:nvSpPr>
        <p:spPr>
          <a:xfrm>
            <a:off x="777240" y="2240280"/>
            <a:ext cx="653796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395728"/>
            <a:ext cx="6126480" cy="310896"/>
          </a:xfrm>
          <a:prstGeom prst="rect">
            <a:avLst/>
          </a:prstGeom>
          <a:noFill/>
        </p:spPr>
        <p:txBody>
          <a:bodyPr wrap="square" anchor="t">
            <a:spAutoFit/>
          </a:bodyPr>
          <a:lstStyle/>
          <a:p>
            <a:pPr algn="l">
              <a:spcAft>
                <a:spcPts val="400"/>
              </a:spcAft>
            </a:pPr>
            <a:r>
              <a:rPr sz="1200" b="1">
                <a:solidFill>
                  <a:srgbClr val="1F6FEB"/>
                </a:solidFill>
                <a:latin typeface="Arial"/>
              </a:rPr>
              <a:t>THE REAL CASE</a:t>
            </a:r>
          </a:p>
        </p:txBody>
      </p:sp>
      <p:sp>
        <p:nvSpPr>
          <p:cNvPr id="11" name="TextBox 10"/>
          <p:cNvSpPr txBox="1"/>
          <p:nvPr/>
        </p:nvSpPr>
        <p:spPr>
          <a:xfrm>
            <a:off x="987552" y="2743200"/>
            <a:ext cx="6144768" cy="2468880"/>
          </a:xfrm>
          <a:prstGeom prst="rect">
            <a:avLst/>
          </a:prstGeom>
          <a:noFill/>
        </p:spPr>
        <p:txBody>
          <a:bodyPr wrap="square" anchor="t">
            <a:spAutoFit/>
          </a:bodyPr>
          <a:lstStyle/>
          <a:p>
            <a:pPr algn="l">
              <a:spcAft>
                <a:spcPts val="400"/>
              </a:spcAft>
            </a:pPr>
            <a:r>
              <a:rPr sz="1150" b="0">
                <a:solidFill>
                  <a:srgbClr val="161B26"/>
                </a:solidFill>
                <a:latin typeface="Arial"/>
              </a:rPr>
              <a:t>Airbnb, 2009. The company was weeks from failing, stuck at roughly $200 revenue a week. The founders noticed a pattern in the New York listings: the photographs were terrible, taken on cheap phone cameras in bad light. Rather than run an A/B test or ship a feature, Paul Graham told them to fly to New York and meet the hosts. They rented a camera, went door to door, and replaced the amateur photos with professional ones. Within a week revenue roughly doubled. It was not a scalable act and it was not in any sprint backlog — but it was the insight that unlocked the business, and it later became a funded, scaled service.</a:t>
            </a:r>
          </a:p>
        </p:txBody>
      </p:sp>
      <p:sp>
        <p:nvSpPr>
          <p:cNvPr id="12" name="Rectangle 11"/>
          <p:cNvSpPr/>
          <p:nvPr/>
        </p:nvSpPr>
        <p:spPr>
          <a:xfrm>
            <a:off x="7635240" y="2240280"/>
            <a:ext cx="3776472" cy="306324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35240" y="2240280"/>
            <a:ext cx="377647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45552" y="2432304"/>
            <a:ext cx="3383280" cy="310896"/>
          </a:xfrm>
          <a:prstGeom prst="rect">
            <a:avLst/>
          </a:prstGeom>
          <a:noFill/>
        </p:spPr>
        <p:txBody>
          <a:bodyPr wrap="square" anchor="t">
            <a:spAutoFit/>
          </a:bodyPr>
          <a:lstStyle/>
          <a:p>
            <a:pPr algn="l">
              <a:spcAft>
                <a:spcPts val="400"/>
              </a:spcAft>
            </a:pPr>
            <a:r>
              <a:rPr sz="1200" b="1">
                <a:solidFill>
                  <a:srgbClr val="10B981"/>
                </a:solidFill>
                <a:latin typeface="Arial"/>
              </a:rPr>
              <a:t>YOUR SCENARIO</a:t>
            </a:r>
          </a:p>
        </p:txBody>
      </p:sp>
      <p:sp>
        <p:nvSpPr>
          <p:cNvPr id="15" name="TextBox 14"/>
          <p:cNvSpPr txBox="1"/>
          <p:nvPr/>
        </p:nvSpPr>
        <p:spPr>
          <a:xfrm>
            <a:off x="7845552" y="2779776"/>
            <a:ext cx="3401568" cy="2377440"/>
          </a:xfrm>
          <a:prstGeom prst="rect">
            <a:avLst/>
          </a:prstGeom>
          <a:noFill/>
        </p:spPr>
        <p:txBody>
          <a:bodyPr wrap="square" anchor="t">
            <a:spAutoFit/>
          </a:bodyPr>
          <a:lstStyle/>
          <a:p>
            <a:pPr algn="l">
              <a:spcAft>
                <a:spcPts val="400"/>
              </a:spcAft>
            </a:pPr>
            <a:r>
              <a:rPr sz="1150" b="0">
                <a:solidFill>
                  <a:srgbClr val="161B26"/>
                </a:solidFill>
                <a:latin typeface="Arial"/>
              </a:rPr>
              <a:t>Your team is the innovation unit of a regional marketplace platform whose bookings have flatlined. Analytics show visitors browse and leave. The engineering team wants to A/B test the checkout button. You suspect, as Airbnb did, that the real problem is not on the screen at all.</a:t>
            </a:r>
          </a:p>
        </p:txBody>
      </p:sp>
      <p:sp>
        <p:nvSpPr>
          <p:cNvPr id="16" name="Rectangle 15"/>
          <p:cNvSpPr/>
          <p:nvPr/>
        </p:nvSpPr>
        <p:spPr>
          <a:xfrm>
            <a:off x="777240" y="5440680"/>
            <a:ext cx="10634472"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440680"/>
            <a:ext cx="8229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541264"/>
            <a:ext cx="10241280" cy="420624"/>
          </a:xfrm>
          <a:prstGeom prst="rect">
            <a:avLst/>
          </a:prstGeom>
          <a:noFill/>
        </p:spPr>
        <p:txBody>
          <a:bodyPr wrap="square" anchor="t">
            <a:spAutoFit/>
          </a:bodyPr>
          <a:lstStyle/>
          <a:p>
            <a:pPr algn="l">
              <a:spcAft>
                <a:spcPts val="400"/>
              </a:spcAft>
            </a:pPr>
            <a:r>
              <a:rPr sz="1150" b="0">
                <a:solidFill>
                  <a:srgbClr val="5B6372"/>
                </a:solidFill>
                <a:latin typeface="Arial"/>
              </a:rPr>
              <a:t>Full case, discussion questions and debrief: see the Learner Guide and the printed activity brief.</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1 · WORK IN GROUPS OF 3–5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1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509760" y="566928"/>
            <a:ext cx="1901952"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0" y="621792"/>
            <a:ext cx="1901952" cy="310896"/>
          </a:xfrm>
          <a:prstGeom prst="rect">
            <a:avLst/>
          </a:prstGeom>
          <a:noFill/>
        </p:spPr>
        <p:txBody>
          <a:bodyPr wrap="square" anchor="t">
            <a:spAutoFit/>
          </a:bodyPr>
          <a:lstStyle/>
          <a:p>
            <a:pPr algn="ctr">
              <a:spcAft>
                <a:spcPts val="400"/>
              </a:spcAft>
            </a:pPr>
            <a:r>
              <a:rPr sz="1200" b="1">
                <a:solidFill>
                  <a:srgbClr val="FFFFFF"/>
                </a:solidFill>
                <a:latin typeface="Arial"/>
              </a:rPr>
              <a:t>45 MIN</a:t>
            </a:r>
          </a:p>
        </p:txBody>
      </p:sp>
      <p:sp>
        <p:nvSpPr>
          <p:cNvPr id="9" name="Rectangle 8"/>
          <p:cNvSpPr/>
          <p:nvPr/>
        </p:nvSpPr>
        <p:spPr>
          <a:xfrm>
            <a:off x="777240" y="1783080"/>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4128" y="1922983"/>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298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3" name="TextBox 12"/>
          <p:cNvSpPr txBox="1"/>
          <p:nvPr/>
        </p:nvSpPr>
        <p:spPr>
          <a:xfrm>
            <a:off x="1691640" y="1856232"/>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Which of the three disciplines — Design Thinking, Lean or Agile — actually produced the photography insight, and why could the other two not have produced it?</a:t>
            </a:r>
          </a:p>
        </p:txBody>
      </p:sp>
      <p:sp>
        <p:nvSpPr>
          <p:cNvPr id="14" name="Rectangle 13"/>
          <p:cNvSpPr/>
          <p:nvPr/>
        </p:nvSpPr>
        <p:spPr>
          <a:xfrm>
            <a:off x="777240" y="2684678"/>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84678"/>
            <a:ext cx="82296" cy="7370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4128" y="282458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282458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757830"/>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The founders did something deliberately unscalable. When is 'do things that don't scale' the right innovation strategy, and when is it an excuse to avoid rigour?</a:t>
            </a:r>
          </a:p>
        </p:txBody>
      </p:sp>
      <p:sp>
        <p:nvSpPr>
          <p:cNvPr id="19" name="Rectangle 18"/>
          <p:cNvSpPr/>
          <p:nvPr/>
        </p:nvSpPr>
        <p:spPr>
          <a:xfrm>
            <a:off x="777240" y="3586276"/>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24128" y="3726179"/>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372617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3659428"/>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Map the story onto the Double Diamond. Where does 'fly to New York and meet the hosts' sit — Discover, Define, Develop or Deliver?</a:t>
            </a:r>
          </a:p>
        </p:txBody>
      </p:sp>
      <p:sp>
        <p:nvSpPr>
          <p:cNvPr id="24" name="Rectangle 23"/>
          <p:cNvSpPr/>
          <p:nvPr/>
        </p:nvSpPr>
        <p:spPr>
          <a:xfrm>
            <a:off x="777240" y="4487874"/>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487874"/>
            <a:ext cx="82296" cy="7370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24128" y="4627777"/>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 y="462777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1691640" y="4561026"/>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Your engineers want to A/B test the checkout button. Write the one question you would ask them to expose whether they are solving the right problem.</a:t>
            </a:r>
          </a:p>
        </p:txBody>
      </p:sp>
      <p:sp>
        <p:nvSpPr>
          <p:cNvPr id="29" name="Rectangle 28"/>
          <p:cNvSpPr/>
          <p:nvPr/>
        </p:nvSpPr>
        <p:spPr>
          <a:xfrm>
            <a:off x="777240" y="5389472"/>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4128" y="5529375"/>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4128" y="5529375"/>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3" name="TextBox 32"/>
          <p:cNvSpPr txBox="1"/>
          <p:nvPr/>
        </p:nvSpPr>
        <p:spPr>
          <a:xfrm>
            <a:off x="1691640" y="5462624"/>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How would you have used GenAI here — and what part of this story could GenAI NOT have done for you?</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1 — What You Produce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Your task</a:t>
            </a:r>
          </a:p>
          <a:p>
            <a:pPr algn="l">
              <a:spcAft>
                <a:spcPts val="300"/>
              </a:spcAft>
            </a:pPr>
            <a:r>
              <a:rPr sz="1150" b="0">
                <a:solidFill>
                  <a:srgbClr val="5B6372"/>
                </a:solidFill>
                <a:latin typeface="Arial"/>
              </a:rPr>
              <a:t>Learners analyse the Airbnb turnaround to separate the three disciplines — Design Thinking (finding the right problem), Lean (validating the solution is worth building) and Agile (building it right) — and explain why starting with Agile alone would never have surfaced the photography insight.</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 will produce</a:t>
            </a:r>
          </a:p>
          <a:p>
            <a:pPr algn="l">
              <a:spcAft>
                <a:spcPts val="300"/>
              </a:spcAft>
            </a:pPr>
            <a:r>
              <a:rPr sz="1150" b="0">
                <a:solidFill>
                  <a:srgbClr val="5B6372"/>
                </a:solidFill>
                <a:latin typeface="Arial"/>
              </a:rPr>
              <a:t>A completed Padlet board mapping the Airbnb story onto Design Thinking / Lean / Agile, plus a group position statement on what the marketplace platform should do first.</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Tools</a:t>
            </a:r>
          </a:p>
          <a:p>
            <a:pPr algn="l">
              <a:spcAft>
                <a:spcPts val="300"/>
              </a:spcAft>
            </a:pPr>
            <a:r>
              <a:rPr sz="1150" b="0">
                <a:solidFill>
                  <a:srgbClr val="5B6372"/>
                </a:solidFill>
                <a:latin typeface="Arial"/>
              </a:rPr>
              <a:t>Padlet Classroom Board, ChatGPT or Microsoft Copilot</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Done when</a:t>
            </a:r>
          </a:p>
          <a:p>
            <a:pPr algn="l">
              <a:spcAft>
                <a:spcPts val="300"/>
              </a:spcAft>
            </a:pPr>
            <a:r>
              <a:rPr sz="1150" b="0">
                <a:solidFill>
                  <a:srgbClr val="5B6372"/>
                </a:solidFill>
                <a:latin typeface="Arial"/>
              </a:rPr>
              <a:t>Your board shows the story correctly split across all three disciplines, and your recommendation names a discovery action before any build action.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TRAINER DEBRIEF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1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011680"/>
            <a:ext cx="10058400" cy="365760"/>
          </a:xfrm>
          <a:prstGeom prst="rect">
            <a:avLst/>
          </a:prstGeom>
          <a:noFill/>
        </p:spPr>
        <p:txBody>
          <a:bodyPr wrap="square" anchor="t">
            <a:spAutoFit/>
          </a:bodyPr>
          <a:lstStyle/>
          <a:p>
            <a:pPr algn="l">
              <a:spcAft>
                <a:spcPts val="400"/>
              </a:spcAft>
            </a:pPr>
            <a:r>
              <a:rPr sz="1250" b="1">
                <a:solidFill>
                  <a:srgbClr val="10B981"/>
                </a:solidFill>
                <a:latin typeface="Arial"/>
              </a:rPr>
              <a:t>WHAT THE ROOM SHOULD CONCLUDE</a:t>
            </a:r>
          </a:p>
        </p:txBody>
      </p:sp>
      <p:sp>
        <p:nvSpPr>
          <p:cNvPr id="10" name="TextBox 9"/>
          <p:cNvSpPr txBox="1"/>
          <p:nvPr/>
        </p:nvSpPr>
        <p:spPr>
          <a:xfrm>
            <a:off x="1143000" y="2468880"/>
            <a:ext cx="10076688" cy="3429000"/>
          </a:xfrm>
          <a:prstGeom prst="rect">
            <a:avLst/>
          </a:prstGeom>
          <a:noFill/>
        </p:spPr>
        <p:txBody>
          <a:bodyPr wrap="square" anchor="t">
            <a:spAutoFit/>
          </a:bodyPr>
          <a:lstStyle/>
          <a:p>
            <a:pPr algn="l">
              <a:spcAft>
                <a:spcPts val="400"/>
              </a:spcAft>
            </a:pPr>
            <a:r>
              <a:rPr sz="1300" b="0">
                <a:solidFill>
                  <a:srgbClr val="161B26"/>
                </a:solidFill>
                <a:latin typeface="Arial"/>
              </a:rPr>
              <a:t>The photography insight came from Empathise, not from analytics. Agile would have optimised the wrong thing faster — a better checkout button on a listing nobody wanted to book. Lean's contribution was the cheap validation (a handful of listings, one week, one rented camera) before any engineering investment. The trap the class should name out loud: teams reach for Agile because it feels productive, and end up building the wrong thing right. GenAI could have clustered the review complaints and drafted interview guides in minutes, but it could not have sat in a host's living room and noticed the light. Empathy is still human work; AI compresses the analysis around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REAL-WORLD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Netflix vs Blockbuster — Innovation as an Operating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19656"/>
            <a:ext cx="10241280" cy="310896"/>
          </a:xfrm>
          <a:prstGeom prst="rect">
            <a:avLst/>
          </a:prstGeom>
          <a:noFill/>
        </p:spPr>
        <p:txBody>
          <a:bodyPr wrap="square" anchor="t">
            <a:spAutoFit/>
          </a:bodyPr>
          <a:lstStyle/>
          <a:p>
            <a:pPr algn="l">
              <a:spcAft>
                <a:spcPts val="400"/>
              </a:spcAft>
            </a:pPr>
            <a:r>
              <a:rPr sz="1250" b="1">
                <a:solidFill>
                  <a:srgbClr val="FFFFFF"/>
                </a:solidFill>
                <a:latin typeface="Arial"/>
              </a:rPr>
              <a:t>ACTIVITY 2  ·  45 MIN</a:t>
            </a:r>
          </a:p>
        </p:txBody>
      </p:sp>
      <p:sp>
        <p:nvSpPr>
          <p:cNvPr id="9" name="Rectangle 8"/>
          <p:cNvSpPr/>
          <p:nvPr/>
        </p:nvSpPr>
        <p:spPr>
          <a:xfrm>
            <a:off x="777240" y="2240280"/>
            <a:ext cx="653796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395728"/>
            <a:ext cx="6126480" cy="310896"/>
          </a:xfrm>
          <a:prstGeom prst="rect">
            <a:avLst/>
          </a:prstGeom>
          <a:noFill/>
        </p:spPr>
        <p:txBody>
          <a:bodyPr wrap="square" anchor="t">
            <a:spAutoFit/>
          </a:bodyPr>
          <a:lstStyle/>
          <a:p>
            <a:pPr algn="l">
              <a:spcAft>
                <a:spcPts val="400"/>
              </a:spcAft>
            </a:pPr>
            <a:r>
              <a:rPr sz="1200" b="1">
                <a:solidFill>
                  <a:srgbClr val="7C3AED"/>
                </a:solidFill>
                <a:latin typeface="Arial"/>
              </a:rPr>
              <a:t>THE REAL CASE</a:t>
            </a:r>
          </a:p>
        </p:txBody>
      </p:sp>
      <p:sp>
        <p:nvSpPr>
          <p:cNvPr id="11" name="TextBox 10"/>
          <p:cNvSpPr txBox="1"/>
          <p:nvPr/>
        </p:nvSpPr>
        <p:spPr>
          <a:xfrm>
            <a:off x="987552" y="2743200"/>
            <a:ext cx="6144768" cy="2468880"/>
          </a:xfrm>
          <a:prstGeom prst="rect">
            <a:avLst/>
          </a:prstGeom>
          <a:noFill/>
        </p:spPr>
        <p:txBody>
          <a:bodyPr wrap="square" anchor="t">
            <a:spAutoFit/>
          </a:bodyPr>
          <a:lstStyle/>
          <a:p>
            <a:pPr algn="l">
              <a:spcAft>
                <a:spcPts val="400"/>
              </a:spcAft>
            </a:pPr>
            <a:r>
              <a:rPr sz="1150" b="0">
                <a:solidFill>
                  <a:srgbClr val="161B26"/>
                </a:solidFill>
                <a:latin typeface="Arial"/>
              </a:rPr>
              <a:t>In 2000 Reed Hastings offered to sell Netflix to Blockbuster for $50 million. Blockbuster's CEO reportedly laughed him out of the room. Blockbuster had 9,000 stores and made a large share of its profit from late fees — a revenue stream that depended on customers being unhappy. Netflix removed late fees entirely, then cannibalised its own profitable DVD-by-mail business to launch streaming in 2007, then cannibalised licensed content by producing originals from 2013. Blockbuster filed for bankruptcy in 2010. Netflix did not win on a single idea; it won because it repeatedly ran the innovation loop against itself while its competitor optimised the business it already had.</a:t>
            </a:r>
          </a:p>
        </p:txBody>
      </p:sp>
      <p:sp>
        <p:nvSpPr>
          <p:cNvPr id="12" name="Rectangle 11"/>
          <p:cNvSpPr/>
          <p:nvPr/>
        </p:nvSpPr>
        <p:spPr>
          <a:xfrm>
            <a:off x="7635240" y="2240280"/>
            <a:ext cx="3776472" cy="306324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35240" y="2240280"/>
            <a:ext cx="377647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45552" y="2432304"/>
            <a:ext cx="3383280" cy="310896"/>
          </a:xfrm>
          <a:prstGeom prst="rect">
            <a:avLst/>
          </a:prstGeom>
          <a:noFill/>
        </p:spPr>
        <p:txBody>
          <a:bodyPr wrap="square" anchor="t">
            <a:spAutoFit/>
          </a:bodyPr>
          <a:lstStyle/>
          <a:p>
            <a:pPr algn="l">
              <a:spcAft>
                <a:spcPts val="400"/>
              </a:spcAft>
            </a:pPr>
            <a:r>
              <a:rPr sz="1200" b="1">
                <a:solidFill>
                  <a:srgbClr val="10B981"/>
                </a:solidFill>
                <a:latin typeface="Arial"/>
              </a:rPr>
              <a:t>YOUR SCENARIO</a:t>
            </a:r>
          </a:p>
        </p:txBody>
      </p:sp>
      <p:sp>
        <p:nvSpPr>
          <p:cNvPr id="15" name="TextBox 14"/>
          <p:cNvSpPr txBox="1"/>
          <p:nvPr/>
        </p:nvSpPr>
        <p:spPr>
          <a:xfrm>
            <a:off x="7845552" y="2779776"/>
            <a:ext cx="3401568" cy="2377440"/>
          </a:xfrm>
          <a:prstGeom prst="rect">
            <a:avLst/>
          </a:prstGeom>
          <a:noFill/>
        </p:spPr>
        <p:txBody>
          <a:bodyPr wrap="square" anchor="t">
            <a:spAutoFit/>
          </a:bodyPr>
          <a:lstStyle/>
          <a:p>
            <a:pPr algn="l">
              <a:spcAft>
                <a:spcPts val="400"/>
              </a:spcAft>
            </a:pPr>
            <a:r>
              <a:rPr sz="1150" b="0">
                <a:solidFill>
                  <a:srgbClr val="161B26"/>
                </a:solidFill>
                <a:latin typeface="Arial"/>
              </a:rPr>
              <a:t>You lead innovation at an established Singapore firm whose most profitable product line depends on a customer inconvenience — a booking fee, a lock-in contract, or a manual process customers pay to have done for them. A start-up has just launched a free alternative. The board wants a response by the end of the quarter.</a:t>
            </a:r>
          </a:p>
        </p:txBody>
      </p:sp>
      <p:sp>
        <p:nvSpPr>
          <p:cNvPr id="16" name="Rectangle 15"/>
          <p:cNvSpPr/>
          <p:nvPr/>
        </p:nvSpPr>
        <p:spPr>
          <a:xfrm>
            <a:off x="777240" y="5440680"/>
            <a:ext cx="10634472"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440680"/>
            <a:ext cx="8229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541264"/>
            <a:ext cx="10241280" cy="420624"/>
          </a:xfrm>
          <a:prstGeom prst="rect">
            <a:avLst/>
          </a:prstGeom>
          <a:noFill/>
        </p:spPr>
        <p:txBody>
          <a:bodyPr wrap="square" anchor="t">
            <a:spAutoFit/>
          </a:bodyPr>
          <a:lstStyle/>
          <a:p>
            <a:pPr algn="l">
              <a:spcAft>
                <a:spcPts val="400"/>
              </a:spcAft>
            </a:pPr>
            <a:r>
              <a:rPr sz="1150" b="0">
                <a:solidFill>
                  <a:srgbClr val="5B6372"/>
                </a:solidFill>
                <a:latin typeface="Arial"/>
              </a:rPr>
              <a:t>Full case, discussion questions and debrief: see the Learner Guide and the printed activity brief.</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2 · WORK IN GROUPS OF 3–5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2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509760" y="566928"/>
            <a:ext cx="1901952"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0" y="621792"/>
            <a:ext cx="1901952" cy="310896"/>
          </a:xfrm>
          <a:prstGeom prst="rect">
            <a:avLst/>
          </a:prstGeom>
          <a:noFill/>
        </p:spPr>
        <p:txBody>
          <a:bodyPr wrap="square" anchor="t">
            <a:spAutoFit/>
          </a:bodyPr>
          <a:lstStyle/>
          <a:p>
            <a:pPr algn="ctr">
              <a:spcAft>
                <a:spcPts val="400"/>
              </a:spcAft>
            </a:pPr>
            <a:r>
              <a:rPr sz="1200" b="1">
                <a:solidFill>
                  <a:srgbClr val="FFFFFF"/>
                </a:solidFill>
                <a:latin typeface="Arial"/>
              </a:rPr>
              <a:t>45 MIN</a:t>
            </a:r>
          </a:p>
        </p:txBody>
      </p:sp>
      <p:sp>
        <p:nvSpPr>
          <p:cNvPr id="9" name="Rectangle 8"/>
          <p:cNvSpPr/>
          <p:nvPr/>
        </p:nvSpPr>
        <p:spPr>
          <a:xfrm>
            <a:off x="777240" y="1783080"/>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4128" y="1922983"/>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298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3" name="TextBox 12"/>
          <p:cNvSpPr txBox="1"/>
          <p:nvPr/>
        </p:nvSpPr>
        <p:spPr>
          <a:xfrm>
            <a:off x="1691640" y="1856232"/>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Blockbuster's late fees were both its profit engine and its biggest customer pain point. What is the equivalent in your own organisation?</a:t>
            </a:r>
          </a:p>
        </p:txBody>
      </p:sp>
      <p:sp>
        <p:nvSpPr>
          <p:cNvPr id="14" name="Rectangle 13"/>
          <p:cNvSpPr/>
          <p:nvPr/>
        </p:nvSpPr>
        <p:spPr>
          <a:xfrm>
            <a:off x="777240" y="2684678"/>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84678"/>
            <a:ext cx="82296" cy="7370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4128" y="282458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282458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757830"/>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Netflix cannibalised two of its own successful businesses. What made that organisationally possible, and what would block it where you work?</a:t>
            </a:r>
          </a:p>
        </p:txBody>
      </p:sp>
      <p:sp>
        <p:nvSpPr>
          <p:cNvPr id="19" name="Rectangle 18"/>
          <p:cNvSpPr/>
          <p:nvPr/>
        </p:nvSpPr>
        <p:spPr>
          <a:xfrm>
            <a:off x="777240" y="3586276"/>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24128" y="3726179"/>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372617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3659428"/>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'Measure things that matter' — what was Blockbuster measuring that made the decision to decline look rational at the time?</a:t>
            </a:r>
          </a:p>
        </p:txBody>
      </p:sp>
      <p:sp>
        <p:nvSpPr>
          <p:cNvPr id="24" name="Rectangle 23"/>
          <p:cNvSpPr/>
          <p:nvPr/>
        </p:nvSpPr>
        <p:spPr>
          <a:xfrm>
            <a:off x="777240" y="4487874"/>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487874"/>
            <a:ext cx="82296" cy="7370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24128" y="4627777"/>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 y="462777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1691640" y="4561026"/>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Was Blockbuster's failure a failure of ideas, of execution, or of the operating system around both? Defend your answer.</a:t>
            </a:r>
          </a:p>
        </p:txBody>
      </p:sp>
      <p:sp>
        <p:nvSpPr>
          <p:cNvPr id="29" name="Rectangle 28"/>
          <p:cNvSpPr/>
          <p:nvPr/>
        </p:nvSpPr>
        <p:spPr>
          <a:xfrm>
            <a:off x="777240" y="5389472"/>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4128" y="5529375"/>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4128" y="5529375"/>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3" name="TextBox 32"/>
          <p:cNvSpPr txBox="1"/>
          <p:nvPr/>
        </p:nvSpPr>
        <p:spPr>
          <a:xfrm>
            <a:off x="1691640" y="5462624"/>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Where could GenAI have given Blockbuster early warning, and would leadership have believed it?</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2 — What You Produce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Your task</a:t>
            </a:r>
          </a:p>
          <a:p>
            <a:pPr algn="l">
              <a:spcAft>
                <a:spcPts val="300"/>
              </a:spcAft>
            </a:pPr>
            <a:r>
              <a:rPr sz="1150" b="0">
                <a:solidFill>
                  <a:srgbClr val="5B6372"/>
                </a:solidFill>
                <a:latin typeface="Arial"/>
              </a:rPr>
              <a:t>Learners contrast an organisation that treated innovation as a repeatable operating system with one that optimised its existing model, and identify the specific organisational conditions — purpose, autonomy, and what gets measured — that allowed one to self-disrupt and prevented the other.</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 will produce</a:t>
            </a:r>
          </a:p>
          <a:p>
            <a:pPr algn="l">
              <a:spcAft>
                <a:spcPts val="300"/>
              </a:spcAft>
            </a:pPr>
            <a:r>
              <a:rPr sz="1150" b="0">
                <a:solidFill>
                  <a:srgbClr val="5B6372"/>
                </a:solidFill>
                <a:latin typeface="Arial"/>
              </a:rPr>
              <a:t>A Padlet comparison board plus a written 'what we would have to stop measuring' statement for the learner's own organisation.</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Tools</a:t>
            </a:r>
          </a:p>
          <a:p>
            <a:pPr algn="l">
              <a:spcAft>
                <a:spcPts val="300"/>
              </a:spcAft>
            </a:pPr>
            <a:r>
              <a:rPr sz="1150" b="0">
                <a:solidFill>
                  <a:srgbClr val="5B6372"/>
                </a:solidFill>
                <a:latin typeface="Arial"/>
              </a:rPr>
              <a:t>Padlet Classroom Board, ChatGPT or Microsoft Copilot</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Done when</a:t>
            </a:r>
          </a:p>
          <a:p>
            <a:pPr algn="l">
              <a:spcAft>
                <a:spcPts val="300"/>
              </a:spcAft>
            </a:pPr>
            <a:r>
              <a:rPr sz="1150" b="0">
                <a:solidFill>
                  <a:srgbClr val="5B6372"/>
                </a:solidFill>
                <a:latin typeface="Arial"/>
              </a:rPr>
              <a:t>Your board names at least one real metric in your own organisation that discourages innovation, and one concrete change to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TRAINER DEBRIEF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2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011680"/>
            <a:ext cx="10058400" cy="365760"/>
          </a:xfrm>
          <a:prstGeom prst="rect">
            <a:avLst/>
          </a:prstGeom>
          <a:noFill/>
        </p:spPr>
        <p:txBody>
          <a:bodyPr wrap="square" anchor="t">
            <a:spAutoFit/>
          </a:bodyPr>
          <a:lstStyle/>
          <a:p>
            <a:pPr algn="l">
              <a:spcAft>
                <a:spcPts val="400"/>
              </a:spcAft>
            </a:pPr>
            <a:r>
              <a:rPr sz="1250" b="1">
                <a:solidFill>
                  <a:srgbClr val="10B981"/>
                </a:solidFill>
                <a:latin typeface="Arial"/>
              </a:rPr>
              <a:t>WHAT THE ROOM SHOULD CONCLUDE</a:t>
            </a:r>
          </a:p>
        </p:txBody>
      </p:sp>
      <p:sp>
        <p:nvSpPr>
          <p:cNvPr id="10" name="TextBox 9"/>
          <p:cNvSpPr txBox="1"/>
          <p:nvPr/>
        </p:nvSpPr>
        <p:spPr>
          <a:xfrm>
            <a:off x="1143000" y="2468880"/>
            <a:ext cx="10076688" cy="3429000"/>
          </a:xfrm>
          <a:prstGeom prst="rect">
            <a:avLst/>
          </a:prstGeom>
          <a:noFill/>
        </p:spPr>
        <p:txBody>
          <a:bodyPr wrap="square" anchor="t">
            <a:spAutoFit/>
          </a:bodyPr>
          <a:lstStyle/>
          <a:p>
            <a:pPr algn="l">
              <a:spcAft>
                <a:spcPts val="400"/>
              </a:spcAft>
            </a:pPr>
            <a:r>
              <a:rPr sz="1300" b="0">
                <a:solidFill>
                  <a:srgbClr val="161B26"/>
                </a:solidFill>
                <a:latin typeface="Arial"/>
              </a:rPr>
              <a:t>Blockbuster did not lack information — it lacked an operating system that let unwelcome information change a decision. Its metrics rewarded protecting late-fee revenue, so every rational manager defended it. This is the 'measure things that matter' principle in its negative form: a metric that cannot change a decision is decoration, and a metric that punishes the future protects the past. Netflix's advantage was structural, not creative: purpose and autonomy at the top, cheap experiments underneath, and a willingness to let a new bet eat an old one. GenAI would have flagged the trend, but the barrier was never detection — it was the incentive to act.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REAL-WORLD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Positioning GenAI in the Innovation Loop — Where It Helps and Where It Lies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19656"/>
            <a:ext cx="10241280" cy="310896"/>
          </a:xfrm>
          <a:prstGeom prst="rect">
            <a:avLst/>
          </a:prstGeom>
          <a:noFill/>
        </p:spPr>
        <p:txBody>
          <a:bodyPr wrap="square" anchor="t">
            <a:spAutoFit/>
          </a:bodyPr>
          <a:lstStyle/>
          <a:p>
            <a:pPr algn="l">
              <a:spcAft>
                <a:spcPts val="400"/>
              </a:spcAft>
            </a:pPr>
            <a:r>
              <a:rPr sz="1250" b="1">
                <a:solidFill>
                  <a:srgbClr val="FFFFFF"/>
                </a:solidFill>
                <a:latin typeface="Arial"/>
              </a:rPr>
              <a:t>ACTIVITY 3  ·  40 MIN</a:t>
            </a:r>
          </a:p>
        </p:txBody>
      </p:sp>
      <p:sp>
        <p:nvSpPr>
          <p:cNvPr id="9" name="Rectangle 8"/>
          <p:cNvSpPr/>
          <p:nvPr/>
        </p:nvSpPr>
        <p:spPr>
          <a:xfrm>
            <a:off x="777240" y="2240280"/>
            <a:ext cx="653796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395728"/>
            <a:ext cx="6126480" cy="310896"/>
          </a:xfrm>
          <a:prstGeom prst="rect">
            <a:avLst/>
          </a:prstGeom>
          <a:noFill/>
        </p:spPr>
        <p:txBody>
          <a:bodyPr wrap="square" anchor="t">
            <a:spAutoFit/>
          </a:bodyPr>
          <a:lstStyle/>
          <a:p>
            <a:pPr algn="l">
              <a:spcAft>
                <a:spcPts val="400"/>
              </a:spcAft>
            </a:pPr>
            <a:r>
              <a:rPr sz="1200" b="1">
                <a:solidFill>
                  <a:srgbClr val="10B981"/>
                </a:solidFill>
                <a:latin typeface="Arial"/>
              </a:rPr>
              <a:t>THE REAL CASE</a:t>
            </a:r>
          </a:p>
        </p:txBody>
      </p:sp>
      <p:sp>
        <p:nvSpPr>
          <p:cNvPr id="11" name="TextBox 10"/>
          <p:cNvSpPr txBox="1"/>
          <p:nvPr/>
        </p:nvSpPr>
        <p:spPr>
          <a:xfrm>
            <a:off x="987552" y="2743200"/>
            <a:ext cx="6144768" cy="2468880"/>
          </a:xfrm>
          <a:prstGeom prst="rect">
            <a:avLst/>
          </a:prstGeom>
          <a:noFill/>
        </p:spPr>
        <p:txBody>
          <a:bodyPr wrap="square" anchor="t">
            <a:spAutoFit/>
          </a:bodyPr>
          <a:lstStyle/>
          <a:p>
            <a:pPr algn="l">
              <a:spcAft>
                <a:spcPts val="400"/>
              </a:spcAft>
            </a:pPr>
            <a:r>
              <a:rPr sz="1150" b="0">
                <a:solidFill>
                  <a:srgbClr val="161B26"/>
                </a:solidFill>
                <a:latin typeface="Arial"/>
              </a:rPr>
              <a:t>A Singapore bank's innovation team used a large language model to generate customer personas for a new savings product aimed at gig-economy workers. The AI produced five polished, confident personas in under a minute, complete with names, incomes, quotes and frustrations. The team built a concept around 'Marcus, 29, a Grab driver saving for a HDB flat'. When they finally ran six real interviews, the actual gig workers' dominant anxiety was not saving for a flat at all — it was irregular income smoothing within a single month, and a deep distrust of anything that locked their money away. The AI personas were plausible, internally consistent, well-written, and wrong. They were a compression of what the internet says about gig workers, not evidence about these gig workers.</a:t>
            </a:r>
          </a:p>
        </p:txBody>
      </p:sp>
      <p:sp>
        <p:nvSpPr>
          <p:cNvPr id="12" name="Rectangle 11"/>
          <p:cNvSpPr/>
          <p:nvPr/>
        </p:nvSpPr>
        <p:spPr>
          <a:xfrm>
            <a:off x="7635240" y="2240280"/>
            <a:ext cx="3776472" cy="306324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35240" y="2240280"/>
            <a:ext cx="377647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45552" y="2432304"/>
            <a:ext cx="3383280" cy="310896"/>
          </a:xfrm>
          <a:prstGeom prst="rect">
            <a:avLst/>
          </a:prstGeom>
          <a:noFill/>
        </p:spPr>
        <p:txBody>
          <a:bodyPr wrap="square" anchor="t">
            <a:spAutoFit/>
          </a:bodyPr>
          <a:lstStyle/>
          <a:p>
            <a:pPr algn="l">
              <a:spcAft>
                <a:spcPts val="400"/>
              </a:spcAft>
            </a:pPr>
            <a:r>
              <a:rPr sz="1200" b="1">
                <a:solidFill>
                  <a:srgbClr val="10B981"/>
                </a:solidFill>
                <a:latin typeface="Arial"/>
              </a:rPr>
              <a:t>YOUR SCENARIO</a:t>
            </a:r>
          </a:p>
        </p:txBody>
      </p:sp>
      <p:sp>
        <p:nvSpPr>
          <p:cNvPr id="15" name="TextBox 14"/>
          <p:cNvSpPr txBox="1"/>
          <p:nvPr/>
        </p:nvSpPr>
        <p:spPr>
          <a:xfrm>
            <a:off x="7845552" y="2779776"/>
            <a:ext cx="3401568" cy="2377440"/>
          </a:xfrm>
          <a:prstGeom prst="rect">
            <a:avLst/>
          </a:prstGeom>
          <a:noFill/>
        </p:spPr>
        <p:txBody>
          <a:bodyPr wrap="square" anchor="t">
            <a:spAutoFit/>
          </a:bodyPr>
          <a:lstStyle/>
          <a:p>
            <a:pPr algn="l">
              <a:spcAft>
                <a:spcPts val="400"/>
              </a:spcAft>
            </a:pPr>
            <a:r>
              <a:rPr sz="1150" b="0">
                <a:solidFill>
                  <a:srgbClr val="161B26"/>
                </a:solidFill>
                <a:latin typeface="Arial"/>
              </a:rPr>
              <a:t>Your team has two weeks to produce a validated problem statement. A colleague proposes skipping the interviews because 'the AI personas are good enough and we're behind schedule'.</a:t>
            </a:r>
          </a:p>
        </p:txBody>
      </p:sp>
      <p:sp>
        <p:nvSpPr>
          <p:cNvPr id="16" name="Rectangle 15"/>
          <p:cNvSpPr/>
          <p:nvPr/>
        </p:nvSpPr>
        <p:spPr>
          <a:xfrm>
            <a:off x="777240" y="5440680"/>
            <a:ext cx="10634472"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440680"/>
            <a:ext cx="8229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541264"/>
            <a:ext cx="10241280" cy="420624"/>
          </a:xfrm>
          <a:prstGeom prst="rect">
            <a:avLst/>
          </a:prstGeom>
          <a:noFill/>
        </p:spPr>
        <p:txBody>
          <a:bodyPr wrap="square" anchor="t">
            <a:spAutoFit/>
          </a:bodyPr>
          <a:lstStyle/>
          <a:p>
            <a:pPr algn="l">
              <a:spcAft>
                <a:spcPts val="400"/>
              </a:spcAft>
            </a:pPr>
            <a:r>
              <a:rPr sz="1150" b="0">
                <a:solidFill>
                  <a:srgbClr val="5B6372"/>
                </a:solidFill>
                <a:latin typeface="Arial"/>
              </a:rPr>
              <a:t>Full case, discussion questions and debrief: see the Learner Guide and the printed activity brief.</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3 · WORK IN GROUPS OF 3–5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3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509760" y="566928"/>
            <a:ext cx="1901952"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0" y="621792"/>
            <a:ext cx="1901952" cy="310896"/>
          </a:xfrm>
          <a:prstGeom prst="rect">
            <a:avLst/>
          </a:prstGeom>
          <a:noFill/>
        </p:spPr>
        <p:txBody>
          <a:bodyPr wrap="square" anchor="t">
            <a:spAutoFit/>
          </a:bodyPr>
          <a:lstStyle/>
          <a:p>
            <a:pPr algn="ctr">
              <a:spcAft>
                <a:spcPts val="400"/>
              </a:spcAft>
            </a:pPr>
            <a:r>
              <a:rPr sz="1200" b="1">
                <a:solidFill>
                  <a:srgbClr val="FFFFFF"/>
                </a:solidFill>
                <a:latin typeface="Arial"/>
              </a:rPr>
              <a:t>40 MIN</a:t>
            </a:r>
          </a:p>
        </p:txBody>
      </p:sp>
      <p:sp>
        <p:nvSpPr>
          <p:cNvPr id="9" name="Rectangle 8"/>
          <p:cNvSpPr/>
          <p:nvPr/>
        </p:nvSpPr>
        <p:spPr>
          <a:xfrm>
            <a:off x="777240" y="1783080"/>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4128" y="1922983"/>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298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3" name="TextBox 12"/>
          <p:cNvSpPr txBox="1"/>
          <p:nvPr/>
        </p:nvSpPr>
        <p:spPr>
          <a:xfrm>
            <a:off x="1691640" y="1856232"/>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The AI personas were plausible but wrong. What property of large language models makes fluent output a poor proxy for truth?</a:t>
            </a:r>
          </a:p>
        </p:txBody>
      </p:sp>
      <p:sp>
        <p:nvSpPr>
          <p:cNvPr id="14" name="Rectangle 13"/>
          <p:cNvSpPr/>
          <p:nvPr/>
        </p:nvSpPr>
        <p:spPr>
          <a:xfrm>
            <a:off x="777240" y="2684678"/>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84678"/>
            <a:ext cx="82296" cy="7370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4128" y="282458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282458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757830"/>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Which parts of the design thinking loop can GenAI genuinely accelerate, and which parts must stay human? Draw the line and justify it.</a:t>
            </a:r>
          </a:p>
        </p:txBody>
      </p:sp>
      <p:sp>
        <p:nvSpPr>
          <p:cNvPr id="19" name="Rectangle 18"/>
          <p:cNvSpPr/>
          <p:nvPr/>
        </p:nvSpPr>
        <p:spPr>
          <a:xfrm>
            <a:off x="777240" y="3586276"/>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24128" y="3726179"/>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372617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3659428"/>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Your colleague says the interviews can be skipped. Give the strongest version of their argument, then rebut it.</a:t>
            </a:r>
          </a:p>
        </p:txBody>
      </p:sp>
      <p:sp>
        <p:nvSpPr>
          <p:cNvPr id="24" name="Rectangle 23"/>
          <p:cNvSpPr/>
          <p:nvPr/>
        </p:nvSpPr>
        <p:spPr>
          <a:xfrm>
            <a:off x="777240" y="4487874"/>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487874"/>
            <a:ext cx="82296" cy="7370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24128" y="4627777"/>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 y="462777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1691640" y="4561026"/>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How would you make an AI-generated persona falsifiable — what evidence would prove it wrong?</a:t>
            </a:r>
          </a:p>
        </p:txBody>
      </p:sp>
      <p:sp>
        <p:nvSpPr>
          <p:cNvPr id="29" name="Rectangle 28"/>
          <p:cNvSpPr/>
          <p:nvPr/>
        </p:nvSpPr>
        <p:spPr>
          <a:xfrm>
            <a:off x="777240" y="5389472"/>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4128" y="5529375"/>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4128" y="5529375"/>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3" name="TextBox 32"/>
          <p:cNvSpPr txBox="1"/>
          <p:nvPr/>
        </p:nvSpPr>
        <p:spPr>
          <a:xfrm>
            <a:off x="1691640" y="5462624"/>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What governance would you put in place so AI-generated insight is always labelled as unvalidated?</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3 — What You Produce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Your task</a:t>
            </a:r>
          </a:p>
          <a:p>
            <a:pPr algn="l">
              <a:spcAft>
                <a:spcPts val="300"/>
              </a:spcAft>
            </a:pPr>
            <a:r>
              <a:rPr sz="1150" b="0">
                <a:solidFill>
                  <a:srgbClr val="5B6372"/>
                </a:solidFill>
                <a:latin typeface="Arial"/>
              </a:rPr>
              <a:t>Learners run the same persona-generation task through a GenAI tool, then interrogate the output against an evidence test, to build a working rule for where GenAI belongs in the design thinking loop and where its confident fluency becomes a liability.</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 will produce</a:t>
            </a:r>
          </a:p>
          <a:p>
            <a:pPr algn="l">
              <a:spcAft>
                <a:spcPts val="300"/>
              </a:spcAft>
            </a:pPr>
            <a:r>
              <a:rPr sz="1150" b="0">
                <a:solidFill>
                  <a:srgbClr val="5B6372"/>
                </a:solidFill>
                <a:latin typeface="Arial"/>
              </a:rPr>
              <a:t>A GenAI-generated persona set annotated with evidence gaps, and a group 'AI use rule' posted to Padlet.</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Tools</a:t>
            </a:r>
          </a:p>
          <a:p>
            <a:pPr algn="l">
              <a:spcAft>
                <a:spcPts val="300"/>
              </a:spcAft>
            </a:pPr>
            <a:r>
              <a:rPr sz="1150" b="0">
                <a:solidFill>
                  <a:srgbClr val="5B6372"/>
                </a:solidFill>
                <a:latin typeface="Arial"/>
              </a:rPr>
              <a:t>ChatGPT or Microsoft Copilot, Padlet Classroom Board</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Done when</a:t>
            </a:r>
          </a:p>
          <a:p>
            <a:pPr algn="l">
              <a:spcAft>
                <a:spcPts val="300"/>
              </a:spcAft>
            </a:pPr>
            <a:r>
              <a:rPr sz="1150" b="0">
                <a:solidFill>
                  <a:srgbClr val="5B6372"/>
                </a:solidFill>
                <a:latin typeface="Arial"/>
              </a:rPr>
              <a:t>Your annotated persona set clearly separates assumption from evidence, and your posted rule states both where GenAI is allowed and where it is not.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TRAINER DEBRIEF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3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011680"/>
            <a:ext cx="10058400" cy="365760"/>
          </a:xfrm>
          <a:prstGeom prst="rect">
            <a:avLst/>
          </a:prstGeom>
          <a:noFill/>
        </p:spPr>
        <p:txBody>
          <a:bodyPr wrap="square" anchor="t">
            <a:spAutoFit/>
          </a:bodyPr>
          <a:lstStyle/>
          <a:p>
            <a:pPr algn="l">
              <a:spcAft>
                <a:spcPts val="400"/>
              </a:spcAft>
            </a:pPr>
            <a:r>
              <a:rPr sz="1250" b="1">
                <a:solidFill>
                  <a:srgbClr val="10B981"/>
                </a:solidFill>
                <a:latin typeface="Arial"/>
              </a:rPr>
              <a:t>WHAT THE ROOM SHOULD CONCLUDE</a:t>
            </a:r>
          </a:p>
        </p:txBody>
      </p:sp>
      <p:sp>
        <p:nvSpPr>
          <p:cNvPr id="10" name="TextBox 9"/>
          <p:cNvSpPr txBox="1"/>
          <p:nvPr/>
        </p:nvSpPr>
        <p:spPr>
          <a:xfrm>
            <a:off x="1143000" y="2468880"/>
            <a:ext cx="10076688" cy="3429000"/>
          </a:xfrm>
          <a:prstGeom prst="rect">
            <a:avLst/>
          </a:prstGeom>
          <a:noFill/>
        </p:spPr>
        <p:txBody>
          <a:bodyPr wrap="square" anchor="t">
            <a:spAutoFit/>
          </a:bodyPr>
          <a:lstStyle/>
          <a:p>
            <a:pPr algn="l">
              <a:spcAft>
                <a:spcPts val="400"/>
              </a:spcAft>
            </a:pPr>
            <a:r>
              <a:rPr sz="1300" b="0">
                <a:solidFill>
                  <a:srgbClr val="161B26"/>
                </a:solidFill>
                <a:latin typeface="Arial"/>
              </a:rPr>
              <a:t>A language model generates the statistically likely, not the locally true. That is exactly what you want for divergence — volume, range, provocations, first drafts — and exactly what you must not trust for convergence, where a wrong-but-confident persona sends a whole quarter's work in the wrong direction. The workable rule most groups arrive at: use GenAI to widen the funnel and to synthesise evidence you already collected; never use it as the evidence itself. Practically, every AI-generated artefact should carry a provenance label — who or what produced it, and what real-world evidence has since confirmed or refuted it. Note also the failure was caught only because someone eventually talked to six real people; six interviews is a small price for not building the wrong product.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Topic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Design Thinking finds the right problem; Lean validates the right solution; Agile builds it right.</a:t>
            </a:r>
          </a:p>
          <a:p>
            <a:pPr>
              <a:spcAft>
                <a:spcPts val="1000"/>
              </a:spcAft>
            </a:pPr>
            <a:r>
              <a:rPr sz="1600" b="0">
                <a:solidFill>
                  <a:srgbClr val="161B26"/>
                </a:solidFill>
                <a:latin typeface="Arial"/>
              </a:rPr>
              <a:t>•  The Double Diamond alternates divergence and convergence across the problem and solution spaces.</a:t>
            </a:r>
          </a:p>
          <a:p>
            <a:pPr>
              <a:spcAft>
                <a:spcPts val="1000"/>
              </a:spcAft>
            </a:pPr>
            <a:r>
              <a:rPr sz="1600" b="0">
                <a:solidFill>
                  <a:srgbClr val="161B26"/>
                </a:solidFill>
                <a:latin typeface="Arial"/>
              </a:rPr>
              <a:t>•  The five stages are a loop you re-enter, not a sequence you complete.</a:t>
            </a:r>
          </a:p>
          <a:p>
            <a:pPr>
              <a:spcAft>
                <a:spcPts val="1000"/>
              </a:spcAft>
            </a:pPr>
            <a:r>
              <a:rPr sz="1600" b="0">
                <a:solidFill>
                  <a:srgbClr val="161B26"/>
                </a:solidFill>
                <a:latin typeface="Arial"/>
              </a:rPr>
              <a:t>•  Wicked problems have no single correct answer — which is exactly why framing precedes solving.</a:t>
            </a:r>
          </a:p>
          <a:p>
            <a:pPr>
              <a:spcAft>
                <a:spcPts val="1000"/>
              </a:spcAft>
            </a:pPr>
            <a:r>
              <a:rPr sz="1600" b="0">
                <a:solidFill>
                  <a:srgbClr val="161B26"/>
                </a:solidFill>
                <a:latin typeface="Arial"/>
              </a:rPr>
              <a:t>•  GenAI compresses synthesis and multiplies ideas, but empathy and judgement remain human work.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Problem Framing and Ideation: Leveraging Design Thinking and Generative 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Framing · Personas · Empathy maps · HMW · Ideation · Rapid prototyping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advClick="1">
    <p:push dir="l"/>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TOPIC 02 · WHY THIS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problem well framed is a problem half solved.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The reframe is the highest-leverage move in design thinking — and the first thing teams skip under deadline pressure.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advClick="1">
    <p:push dir="l"/>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SCHNEIDER &amp; O'REILLY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Problem-Assumption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roblem-assumption.png"/>
          <p:cNvPicPr>
            <a:picLocks noChangeAspect="1"/>
          </p:cNvPicPr>
          <p:nvPr/>
        </p:nvPicPr>
        <p:blipFill>
          <a:blip r:embed="rId2"/>
          <a:stretch>
            <a:fillRect/>
          </a:stretch>
        </p:blipFill>
        <p:spPr>
          <a:xfrm>
            <a:off x="915413" y="1783080"/>
            <a:ext cx="10358126" cy="3977639"/>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70448"/>
            <a:ext cx="82296"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943600"/>
            <a:ext cx="10222992" cy="329184"/>
          </a:xfrm>
          <a:prstGeom prst="rect">
            <a:avLst/>
          </a:prstGeom>
          <a:noFill/>
        </p:spPr>
        <p:txBody>
          <a:bodyPr wrap="square" anchor="t">
            <a:spAutoFit/>
          </a:bodyPr>
          <a:lstStyle/>
          <a:p>
            <a:pPr algn="l">
              <a:spcAft>
                <a:spcPts val="400"/>
              </a:spcAft>
            </a:pPr>
            <a:r>
              <a:rPr sz="1250" b="0">
                <a:solidFill>
                  <a:srgbClr val="161B26"/>
                </a:solidFill>
                <a:latin typeface="Arial"/>
              </a:rPr>
              <a:t>The bridge from Design Thinking into Lean validation — four questions that turn a belief into a test.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SIX STEPS TO A DESIGN CHALLENGE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Framing the Design Challenge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1 · Write the challenge</a:t>
            </a:r>
          </a:p>
          <a:p>
            <a:pPr algn="l">
              <a:spcAft>
                <a:spcPts val="300"/>
              </a:spcAft>
            </a:pPr>
            <a:r>
              <a:rPr sz="1150" b="0">
                <a:solidFill>
                  <a:srgbClr val="5B6372"/>
                </a:solidFill>
                <a:latin typeface="Arial"/>
              </a:rPr>
              <a:t>One short, memorable sentence stating the problem you want to solve.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2 · Make it a question</a:t>
            </a:r>
          </a:p>
          <a:p>
            <a:pPr algn="l">
              <a:spcAft>
                <a:spcPts val="300"/>
              </a:spcAft>
            </a:pPr>
            <a:r>
              <a:rPr sz="1150" b="0">
                <a:solidFill>
                  <a:srgbClr val="5B6372"/>
                </a:solidFill>
                <a:latin typeface="Arial"/>
              </a:rPr>
              <a:t>Convert it into a 'How Might We' question that invites many answers.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3 · Define the impact</a:t>
            </a:r>
          </a:p>
          <a:p>
            <a:pPr algn="l">
              <a:spcAft>
                <a:spcPts val="300"/>
              </a:spcAft>
            </a:pPr>
            <a:r>
              <a:rPr sz="1150" b="0">
                <a:solidFill>
                  <a:srgbClr val="5B6372"/>
                </a:solidFill>
                <a:latin typeface="Arial"/>
              </a:rPr>
              <a:t>State the change you want to see if you succeed.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4 · Explore solutions</a:t>
            </a:r>
          </a:p>
          <a:p>
            <a:pPr algn="l">
              <a:spcAft>
                <a:spcPts val="300"/>
              </a:spcAft>
            </a:pPr>
            <a:r>
              <a:rPr sz="1150" b="0">
                <a:solidFill>
                  <a:srgbClr val="5B6372"/>
                </a:solidFill>
                <a:latin typeface="Arial"/>
              </a:rPr>
              <a:t>Sketch possible directions — without committing to any of them yet.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5 · Name the constraints</a:t>
            </a:r>
          </a:p>
          <a:p>
            <a:pPr algn="l">
              <a:spcAft>
                <a:spcPts val="300"/>
              </a:spcAft>
            </a:pPr>
            <a:r>
              <a:rPr sz="1150" b="0">
                <a:solidFill>
                  <a:srgbClr val="5B6372"/>
                </a:solidFill>
                <a:latin typeface="Arial"/>
              </a:rPr>
              <a:t>Write the context and constraints that surround the question.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6 · Revisit the question</a:t>
            </a:r>
          </a:p>
          <a:p>
            <a:pPr algn="l">
              <a:spcAft>
                <a:spcPts val="300"/>
              </a:spcAft>
            </a:pPr>
            <a:r>
              <a:rPr sz="1150" b="0">
                <a:solidFill>
                  <a:srgbClr val="5B6372"/>
                </a:solidFill>
                <a:latin typeface="Arial"/>
              </a:rPr>
              <a:t>Expect to rewrite the HMW as you learn — the first version is rarely right.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ALTITUDE TEST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Is Your 'How Might We' at the Right Altitude?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Read your HMW question aloud. Can you immediately name only ONE obvious solution?</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it is too NARROW</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The solution is hiding inside the question. Widen it: ask what the user is really trying to achieve.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can you name ANY concrete answer?</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If you cannot picture a single concrete answer, it is too BROAD. Narrow it to a specific user in a specific moment.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A workable HMW invites many different answers, and you can imagine testing each one.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THREE ARTEFACTS, THREE JOBS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Problem Statement vs Point of View vs How Might We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it is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Example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Problem statement</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 neutral description of what is wrong</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Elderly patients miss their screening appointments.</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Point of View (POV)</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[User] needs [need] because [insight]</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Mdm Tan needs to feel safe asking questions because she fears being judged for not understanding.</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How Might We (HMW)</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An invitation to generate solutions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How might we make a first screening feel safe rather than exposing?</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The failure mode</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Jumping straight to a solution disguised as a problem</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'We need an SMS reminder system.' — that is an answer, not a problem.</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The POV is where research becomes designable. Skip it and the HMW floats free of evidence.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EMPATHISE · THE CORE TOOL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Empathy 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mpathy-map.png"/>
          <p:cNvPicPr>
            <a:picLocks noChangeAspect="1"/>
          </p:cNvPicPr>
          <p:nvPr/>
        </p:nvPicPr>
        <p:blipFill>
          <a:blip r:embed="rId2"/>
          <a:stretch>
            <a:fillRect/>
          </a:stretch>
        </p:blipFill>
        <p:spPr>
          <a:xfrm>
            <a:off x="777240" y="1920103"/>
            <a:ext cx="6720840" cy="3886473"/>
          </a:xfrm>
          <a:prstGeom prst="rect">
            <a:avLst/>
          </a:prstGeom>
        </p:spPr>
      </p:pic>
      <p:sp>
        <p:nvSpPr>
          <p:cNvPr id="8" name="Rectangle 7"/>
          <p:cNvSpPr/>
          <p:nvPr/>
        </p:nvSpPr>
        <p:spPr>
          <a:xfrm>
            <a:off x="7726679" y="1783080"/>
            <a:ext cx="3703320"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26679" y="1783080"/>
            <a:ext cx="370332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59" y="1920240"/>
            <a:ext cx="3337560" cy="347472"/>
          </a:xfrm>
          <a:prstGeom prst="rect">
            <a:avLst/>
          </a:prstGeom>
          <a:noFill/>
        </p:spPr>
        <p:txBody>
          <a:bodyPr wrap="square" anchor="t">
            <a:spAutoFit/>
          </a:bodyPr>
          <a:lstStyle/>
          <a:p>
            <a:pPr algn="l">
              <a:spcAft>
                <a:spcPts val="400"/>
              </a:spcAft>
            </a:pPr>
            <a:r>
              <a:rPr sz="1350" b="1">
                <a:solidFill>
                  <a:srgbClr val="1F6FEB"/>
                </a:solidFill>
                <a:latin typeface="Arial"/>
              </a:rPr>
              <a:t>Says and Does are observable</a:t>
            </a:r>
          </a:p>
        </p:txBody>
      </p:sp>
      <p:sp>
        <p:nvSpPr>
          <p:cNvPr id="11" name="TextBox 10"/>
          <p:cNvSpPr txBox="1"/>
          <p:nvPr/>
        </p:nvSpPr>
        <p:spPr>
          <a:xfrm>
            <a:off x="7909559" y="2286000"/>
            <a:ext cx="3337560" cy="365760"/>
          </a:xfrm>
          <a:prstGeom prst="rect">
            <a:avLst/>
          </a:prstGeom>
          <a:noFill/>
        </p:spPr>
        <p:txBody>
          <a:bodyPr wrap="square" anchor="t">
            <a:spAutoFit/>
          </a:bodyPr>
          <a:lstStyle/>
          <a:p>
            <a:pPr algn="l">
              <a:spcAft>
                <a:spcPts val="200"/>
              </a:spcAft>
            </a:pPr>
            <a:r>
              <a:rPr sz="1200" b="0">
                <a:solidFill>
                  <a:srgbClr val="161B26"/>
                </a:solidFill>
                <a:latin typeface="Arial"/>
              </a:rPr>
              <a:t>You can watch and record these directly — evidence.</a:t>
            </a:r>
          </a:p>
        </p:txBody>
      </p:sp>
      <p:sp>
        <p:nvSpPr>
          <p:cNvPr id="12" name="Rectangle 11"/>
          <p:cNvSpPr/>
          <p:nvPr/>
        </p:nvSpPr>
        <p:spPr>
          <a:xfrm>
            <a:off x="7726679" y="2898648"/>
            <a:ext cx="3703320"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26679" y="2898648"/>
            <a:ext cx="37033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59" y="3035808"/>
            <a:ext cx="3337560" cy="347472"/>
          </a:xfrm>
          <a:prstGeom prst="rect">
            <a:avLst/>
          </a:prstGeom>
          <a:noFill/>
        </p:spPr>
        <p:txBody>
          <a:bodyPr wrap="square" anchor="t">
            <a:spAutoFit/>
          </a:bodyPr>
          <a:lstStyle/>
          <a:p>
            <a:pPr algn="l">
              <a:spcAft>
                <a:spcPts val="400"/>
              </a:spcAft>
            </a:pPr>
            <a:r>
              <a:rPr sz="1350" b="1">
                <a:solidFill>
                  <a:srgbClr val="10B981"/>
                </a:solidFill>
                <a:latin typeface="Arial"/>
              </a:rPr>
              <a:t>Thinks and Feels are inferred</a:t>
            </a:r>
          </a:p>
        </p:txBody>
      </p:sp>
      <p:sp>
        <p:nvSpPr>
          <p:cNvPr id="15" name="TextBox 14"/>
          <p:cNvSpPr txBox="1"/>
          <p:nvPr/>
        </p:nvSpPr>
        <p:spPr>
          <a:xfrm>
            <a:off x="7909559" y="3401568"/>
            <a:ext cx="3337560" cy="365760"/>
          </a:xfrm>
          <a:prstGeom prst="rect">
            <a:avLst/>
          </a:prstGeom>
          <a:noFill/>
        </p:spPr>
        <p:txBody>
          <a:bodyPr wrap="square" anchor="t">
            <a:spAutoFit/>
          </a:bodyPr>
          <a:lstStyle/>
          <a:p>
            <a:pPr algn="l">
              <a:spcAft>
                <a:spcPts val="200"/>
              </a:spcAft>
            </a:pPr>
            <a:r>
              <a:rPr sz="1200" b="0">
                <a:solidFill>
                  <a:srgbClr val="161B26"/>
                </a:solidFill>
                <a:latin typeface="Arial"/>
              </a:rPr>
              <a:t>You are interpreting — label as inference, not fact.</a:t>
            </a:r>
          </a:p>
        </p:txBody>
      </p:sp>
      <p:sp>
        <p:nvSpPr>
          <p:cNvPr id="16" name="Rectangle 15"/>
          <p:cNvSpPr/>
          <p:nvPr/>
        </p:nvSpPr>
        <p:spPr>
          <a:xfrm>
            <a:off x="7726679" y="4014216"/>
            <a:ext cx="3703320"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26679" y="4014216"/>
            <a:ext cx="370332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59" y="4151376"/>
            <a:ext cx="3337560" cy="347472"/>
          </a:xfrm>
          <a:prstGeom prst="rect">
            <a:avLst/>
          </a:prstGeom>
          <a:noFill/>
        </p:spPr>
        <p:txBody>
          <a:bodyPr wrap="square" anchor="t">
            <a:spAutoFit/>
          </a:bodyPr>
          <a:lstStyle/>
          <a:p>
            <a:pPr algn="l">
              <a:spcAft>
                <a:spcPts val="400"/>
              </a:spcAft>
            </a:pPr>
            <a:r>
              <a:rPr sz="1350" b="1">
                <a:solidFill>
                  <a:srgbClr val="7C3AED"/>
                </a:solidFill>
                <a:latin typeface="Arial"/>
              </a:rPr>
              <a:t>Pains and Gains at the base</a:t>
            </a:r>
          </a:p>
        </p:txBody>
      </p:sp>
      <p:sp>
        <p:nvSpPr>
          <p:cNvPr id="19" name="TextBox 18"/>
          <p:cNvSpPr txBox="1"/>
          <p:nvPr/>
        </p:nvSpPr>
        <p:spPr>
          <a:xfrm>
            <a:off x="7909559" y="4517136"/>
            <a:ext cx="3337560" cy="365760"/>
          </a:xfrm>
          <a:prstGeom prst="rect">
            <a:avLst/>
          </a:prstGeom>
          <a:noFill/>
        </p:spPr>
        <p:txBody>
          <a:bodyPr wrap="square" anchor="t">
            <a:spAutoFit/>
          </a:bodyPr>
          <a:lstStyle/>
          <a:p>
            <a:pPr algn="l">
              <a:spcAft>
                <a:spcPts val="200"/>
              </a:spcAft>
            </a:pPr>
            <a:r>
              <a:rPr sz="1200" b="0">
                <a:solidFill>
                  <a:srgbClr val="161B26"/>
                </a:solidFill>
                <a:latin typeface="Arial"/>
              </a:rPr>
              <a:t>Obstacles faced, and what success looks like to them.</a:t>
            </a:r>
          </a:p>
        </p:txBody>
      </p:sp>
      <p:sp>
        <p:nvSpPr>
          <p:cNvPr id="20" name="Rectangle 19"/>
          <p:cNvSpPr/>
          <p:nvPr/>
        </p:nvSpPr>
        <p:spPr>
          <a:xfrm>
            <a:off x="7726679" y="5129784"/>
            <a:ext cx="3703320"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26679" y="5129784"/>
            <a:ext cx="370332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59" y="5266944"/>
            <a:ext cx="3337560" cy="347472"/>
          </a:xfrm>
          <a:prstGeom prst="rect">
            <a:avLst/>
          </a:prstGeom>
          <a:noFill/>
        </p:spPr>
        <p:txBody>
          <a:bodyPr wrap="square" anchor="t">
            <a:spAutoFit/>
          </a:bodyPr>
          <a:lstStyle/>
          <a:p>
            <a:pPr algn="l">
              <a:spcAft>
                <a:spcPts val="400"/>
              </a:spcAft>
            </a:pPr>
            <a:r>
              <a:rPr sz="1350" b="1">
                <a:solidFill>
                  <a:srgbClr val="F59E0B"/>
                </a:solidFill>
                <a:latin typeface="Arial"/>
              </a:rPr>
              <a:t>Look for the contradiction</a:t>
            </a:r>
          </a:p>
        </p:txBody>
      </p:sp>
      <p:sp>
        <p:nvSpPr>
          <p:cNvPr id="23" name="TextBox 22"/>
          <p:cNvSpPr txBox="1"/>
          <p:nvPr/>
        </p:nvSpPr>
        <p:spPr>
          <a:xfrm>
            <a:off x="7909559" y="5632704"/>
            <a:ext cx="3337560" cy="365760"/>
          </a:xfrm>
          <a:prstGeom prst="rect">
            <a:avLst/>
          </a:prstGeom>
          <a:noFill/>
        </p:spPr>
        <p:txBody>
          <a:bodyPr wrap="square" anchor="t">
            <a:spAutoFit/>
          </a:bodyPr>
          <a:lstStyle/>
          <a:p>
            <a:pPr algn="l">
              <a:spcAft>
                <a:spcPts val="200"/>
              </a:spcAft>
            </a:pPr>
            <a:r>
              <a:rPr sz="1200" b="0">
                <a:solidFill>
                  <a:srgbClr val="161B26"/>
                </a:solidFill>
                <a:latin typeface="Arial"/>
              </a:rPr>
              <a:t>The gap between what users say and do is where the insight lives.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PERSONA MAPPING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Building Useful Personas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Start with 3–5</a:t>
            </a:r>
          </a:p>
          <a:p>
            <a:pPr algn="l">
              <a:spcAft>
                <a:spcPts val="300"/>
              </a:spcAft>
            </a:pPr>
            <a:r>
              <a:rPr sz="1150" b="0">
                <a:solidFill>
                  <a:srgbClr val="5B6372"/>
                </a:solidFill>
                <a:latin typeface="Arial"/>
              </a:rPr>
              <a:t>Enough to show meaningful variation, few enough to hold in the team's head.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Ground every claim</a:t>
            </a:r>
          </a:p>
          <a:p>
            <a:pPr algn="l">
              <a:spcAft>
                <a:spcPts val="300"/>
              </a:spcAft>
            </a:pPr>
            <a:r>
              <a:rPr sz="1150" b="0">
                <a:solidFill>
                  <a:srgbClr val="5B6372"/>
                </a:solidFill>
                <a:latin typeface="Arial"/>
              </a:rPr>
              <a:t>Each goal, pain and behaviour should trace to something a real person said or did.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Include the awkward one</a:t>
            </a:r>
          </a:p>
          <a:p>
            <a:pPr algn="l">
              <a:spcAft>
                <a:spcPts val="300"/>
              </a:spcAft>
            </a:pPr>
            <a:r>
              <a:rPr sz="1150" b="0">
                <a:solidFill>
                  <a:srgbClr val="5B6372"/>
                </a:solidFill>
                <a:latin typeface="Arial"/>
              </a:rPr>
              <a:t>The user who does not fit the happy path is usually where the design breaks.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Keep them comparable</a:t>
            </a:r>
          </a:p>
          <a:p>
            <a:pPr algn="l">
              <a:spcAft>
                <a:spcPts val="300"/>
              </a:spcAft>
            </a:pPr>
            <a:r>
              <a:rPr sz="1150" b="0">
                <a:solidFill>
                  <a:srgbClr val="5B6372"/>
                </a:solidFill>
                <a:latin typeface="Arial"/>
              </a:rPr>
              <a:t>Consistent layout and one shared metric across personas so you can compare them.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Label AI-generated content</a:t>
            </a:r>
          </a:p>
          <a:p>
            <a:pPr algn="l">
              <a:spcAft>
                <a:spcPts val="300"/>
              </a:spcAft>
            </a:pPr>
            <a:r>
              <a:rPr sz="1150" b="0">
                <a:solidFill>
                  <a:srgbClr val="5B6372"/>
                </a:solidFill>
                <a:latin typeface="Arial"/>
              </a:rPr>
              <a:t>An AI persona is a hypothesis. Mark it as unvalidated until evidence confirms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Retire them honestly</a:t>
            </a:r>
          </a:p>
          <a:p>
            <a:pPr algn="l">
              <a:spcAft>
                <a:spcPts val="300"/>
              </a:spcAft>
            </a:pPr>
            <a:r>
              <a:rPr sz="1150" b="0">
                <a:solidFill>
                  <a:srgbClr val="5B6372"/>
                </a:solidFill>
                <a:latin typeface="Arial"/>
              </a:rPr>
              <a:t>A persona contradicted by evidence must be changed, not defended.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DIVERGE BEFORE YOU CONVERGE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Ideation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Brainstorming</a:t>
            </a:r>
          </a:p>
          <a:p>
            <a:pPr algn="l">
              <a:spcAft>
                <a:spcPts val="300"/>
              </a:spcAft>
            </a:pPr>
            <a:r>
              <a:rPr sz="1150" b="0">
                <a:solidFill>
                  <a:srgbClr val="5B6372"/>
                </a:solidFill>
                <a:latin typeface="Arial"/>
              </a:rPr>
              <a:t>Group generation under explicit rules: defer judgement, go for volume, build on others' ideas.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Brainwriting</a:t>
            </a:r>
          </a:p>
          <a:p>
            <a:pPr algn="l">
              <a:spcAft>
                <a:spcPts val="300"/>
              </a:spcAft>
            </a:pPr>
            <a:r>
              <a:rPr sz="1150" b="0">
                <a:solidFill>
                  <a:srgbClr val="5B6372"/>
                </a:solidFill>
                <a:latin typeface="Arial"/>
              </a:rPr>
              <a:t>Silent written generation first — it prevents the loudest voice from anchoring the room.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Crazy 8s</a:t>
            </a:r>
          </a:p>
          <a:p>
            <a:pPr algn="l">
              <a:spcAft>
                <a:spcPts val="300"/>
              </a:spcAft>
            </a:pPr>
            <a:r>
              <a:rPr sz="1150" b="0">
                <a:solidFill>
                  <a:srgbClr val="5B6372"/>
                </a:solidFill>
                <a:latin typeface="Arial"/>
              </a:rPr>
              <a:t>Eight rapid variations in eight minutes; speed defeats the internal critic.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Worst Possible Idea</a:t>
            </a:r>
          </a:p>
          <a:p>
            <a:pPr algn="l">
              <a:spcAft>
                <a:spcPts val="300"/>
              </a:spcAft>
            </a:pPr>
            <a:r>
              <a:rPr sz="1150" b="0">
                <a:solidFill>
                  <a:srgbClr val="5B6372"/>
                </a:solidFill>
                <a:latin typeface="Arial"/>
              </a:rPr>
              <a:t>Deliberately generate terrible ideas to break the fear of contributing.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SCAMPER</a:t>
            </a:r>
          </a:p>
          <a:p>
            <a:pPr algn="l">
              <a:spcAft>
                <a:spcPts val="300"/>
              </a:spcAft>
            </a:pPr>
            <a:r>
              <a:rPr sz="1150" b="0">
                <a:solidFill>
                  <a:srgbClr val="5B6372"/>
                </a:solidFill>
                <a:latin typeface="Arial"/>
              </a:rPr>
              <a:t>Substitute, Combine, Adapt, Modify, Put to another use, Eliminate, Reverse.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AI amplification</a:t>
            </a:r>
          </a:p>
          <a:p>
            <a:pPr algn="l">
              <a:spcAft>
                <a:spcPts val="300"/>
              </a:spcAft>
            </a:pPr>
            <a:r>
              <a:rPr sz="1150" b="0">
                <a:solidFill>
                  <a:srgbClr val="5B6372"/>
                </a:solidFill>
                <a:latin typeface="Arial"/>
              </a:rPr>
              <a:t>Generate manually first, then use GenAI to extend — never the reverse, or it anchors the room.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THE ONE RULE OF IDEATION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Separate the generation of ideas from the evaluation of ideas.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Judging while generating kills the unusual ideas first — and the unusual idea is the one you came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advClick="1">
    <p:push dir="l"/>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PROTOTYPE · TEST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Prototyping — Build to Think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Buy information cheaply</a:t>
            </a:r>
          </a:p>
          <a:p>
            <a:pPr algn="l">
              <a:spcAft>
                <a:spcPts val="300"/>
              </a:spcAft>
            </a:pPr>
            <a:r>
              <a:rPr sz="1150" b="0">
                <a:solidFill>
                  <a:srgbClr val="5B6372"/>
                </a:solidFill>
                <a:latin typeface="Arial"/>
              </a:rPr>
              <a:t>A prototype's job is to purchase learning at the lowest possible price.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Low fidelity invites honesty</a:t>
            </a:r>
          </a:p>
          <a:p>
            <a:pPr algn="l">
              <a:spcAft>
                <a:spcPts val="300"/>
              </a:spcAft>
            </a:pPr>
            <a:r>
              <a:rPr sz="1150" b="0">
                <a:solidFill>
                  <a:srgbClr val="5B6372"/>
                </a:solidFill>
                <a:latin typeface="Arial"/>
              </a:rPr>
              <a:t>A rough sketch gets real objections; a polished mockup gets polite notes on the font.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Wizard of Oz</a:t>
            </a:r>
          </a:p>
          <a:p>
            <a:pPr algn="l">
              <a:spcAft>
                <a:spcPts val="300"/>
              </a:spcAft>
            </a:pPr>
            <a:r>
              <a:rPr sz="1150" b="0">
                <a:solidFill>
                  <a:srgbClr val="5B6372"/>
                </a:solidFill>
                <a:latin typeface="Arial"/>
              </a:rPr>
              <a:t>Fake the mechanism with a human behind the curtain — learn the behaviour before building anything.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Storyboard the experience</a:t>
            </a:r>
          </a:p>
          <a:p>
            <a:pPr algn="l">
              <a:spcAft>
                <a:spcPts val="300"/>
              </a:spcAft>
            </a:pPr>
            <a:r>
              <a:rPr sz="1150" b="0">
                <a:solidFill>
                  <a:srgbClr val="5B6372"/>
                </a:solidFill>
                <a:latin typeface="Arial"/>
              </a:rPr>
              <a:t>Draw the scenario as a strip so the team can role-play and feel where it breaks.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Write the falsification test</a:t>
            </a:r>
          </a:p>
          <a:p>
            <a:pPr algn="l">
              <a:spcAft>
                <a:spcPts val="300"/>
              </a:spcAft>
            </a:pPr>
            <a:r>
              <a:rPr sz="1150" b="0">
                <a:solidFill>
                  <a:srgbClr val="5B6372"/>
                </a:solidFill>
                <a:latin typeface="Arial"/>
              </a:rPr>
              <a:t>State in advance what result would prove the concept wrong — or it is a demo, not a test.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GenAI drafts the content</a:t>
            </a:r>
          </a:p>
          <a:p>
            <a:pPr algn="l">
              <a:spcAft>
                <a:spcPts val="300"/>
              </a:spcAft>
            </a:pPr>
            <a:r>
              <a:rPr sz="1150" b="0">
                <a:solidFill>
                  <a:srgbClr val="5B6372"/>
                </a:solidFill>
                <a:latin typeface="Arial"/>
              </a:rPr>
              <a:t>Screen copy, flows, edge cases and interview scripts in minutes — you still run the test.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REAL-WORLD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GE Adventure Series — Reframing the Problem Instead of Fixing the Machine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19656"/>
            <a:ext cx="10241280" cy="310896"/>
          </a:xfrm>
          <a:prstGeom prst="rect">
            <a:avLst/>
          </a:prstGeom>
          <a:noFill/>
        </p:spPr>
        <p:txBody>
          <a:bodyPr wrap="square" anchor="t">
            <a:spAutoFit/>
          </a:bodyPr>
          <a:lstStyle/>
          <a:p>
            <a:pPr algn="l">
              <a:spcAft>
                <a:spcPts val="400"/>
              </a:spcAft>
            </a:pPr>
            <a:r>
              <a:rPr sz="1250" b="1">
                <a:solidFill>
                  <a:srgbClr val="FFFFFF"/>
                </a:solidFill>
                <a:latin typeface="Arial"/>
              </a:rPr>
              <a:t>ACTIVITY 4  ·  50 MIN</a:t>
            </a:r>
          </a:p>
        </p:txBody>
      </p:sp>
      <p:sp>
        <p:nvSpPr>
          <p:cNvPr id="9" name="Rectangle 8"/>
          <p:cNvSpPr/>
          <p:nvPr/>
        </p:nvSpPr>
        <p:spPr>
          <a:xfrm>
            <a:off x="777240" y="2240280"/>
            <a:ext cx="653796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395728"/>
            <a:ext cx="6126480" cy="310896"/>
          </a:xfrm>
          <a:prstGeom prst="rect">
            <a:avLst/>
          </a:prstGeom>
          <a:noFill/>
        </p:spPr>
        <p:txBody>
          <a:bodyPr wrap="square" anchor="t">
            <a:spAutoFit/>
          </a:bodyPr>
          <a:lstStyle/>
          <a:p>
            <a:pPr algn="l">
              <a:spcAft>
                <a:spcPts val="400"/>
              </a:spcAft>
            </a:pPr>
            <a:r>
              <a:rPr sz="1200" b="1">
                <a:solidFill>
                  <a:srgbClr val="1F6FEB"/>
                </a:solidFill>
                <a:latin typeface="Arial"/>
              </a:rPr>
              <a:t>THE REAL CASE</a:t>
            </a:r>
          </a:p>
        </p:txBody>
      </p:sp>
      <p:sp>
        <p:nvSpPr>
          <p:cNvPr id="11" name="TextBox 10"/>
          <p:cNvSpPr txBox="1"/>
          <p:nvPr/>
        </p:nvSpPr>
        <p:spPr>
          <a:xfrm>
            <a:off x="987552" y="2743200"/>
            <a:ext cx="6144768" cy="2468880"/>
          </a:xfrm>
          <a:prstGeom prst="rect">
            <a:avLst/>
          </a:prstGeom>
          <a:noFill/>
        </p:spPr>
        <p:txBody>
          <a:bodyPr wrap="square" anchor="t">
            <a:spAutoFit/>
          </a:bodyPr>
          <a:lstStyle/>
          <a:p>
            <a:pPr algn="l">
              <a:spcAft>
                <a:spcPts val="400"/>
              </a:spcAft>
            </a:pPr>
            <a:r>
              <a:rPr sz="1150" b="0">
                <a:solidFill>
                  <a:srgbClr val="161B26"/>
                </a:solidFill>
                <a:latin typeface="Arial"/>
              </a:rPr>
              <a:t>GE Healthcare's MRI scanners were technically excellent, but designer Doug Dietz watched a small child cry with terror in front of one of his own machines. Up to 80% of paediatric patients had to be sedated to complete a scan — meaning an anaesthetist on standby, longer slots, higher cost and real clinical risk. The engineering brief would have been 'make the scanner quieter'. Dietz reframed it: the problem was not the machine's noise, it was a terrifying experience for a frightened child. The team painted the scanner rooms as pirate ships, jungles and space adventures, and trained operators to narrate the scan as an adventure — 'hold very still while the ship goes through the asteroid field'. Sedation rates dropped dramatically (reported as low as around 10% in redesigned suites) and patient satisfaction rose sharply. Not one component of the scanner's imaging technology was changed.</a:t>
            </a:r>
          </a:p>
        </p:txBody>
      </p:sp>
      <p:sp>
        <p:nvSpPr>
          <p:cNvPr id="12" name="Rectangle 11"/>
          <p:cNvSpPr/>
          <p:nvPr/>
        </p:nvSpPr>
        <p:spPr>
          <a:xfrm>
            <a:off x="7635240" y="2240280"/>
            <a:ext cx="3776472" cy="306324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35240" y="2240280"/>
            <a:ext cx="377647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45552" y="2432304"/>
            <a:ext cx="3383280" cy="310896"/>
          </a:xfrm>
          <a:prstGeom prst="rect">
            <a:avLst/>
          </a:prstGeom>
          <a:noFill/>
        </p:spPr>
        <p:txBody>
          <a:bodyPr wrap="square" anchor="t">
            <a:spAutoFit/>
          </a:bodyPr>
          <a:lstStyle/>
          <a:p>
            <a:pPr algn="l">
              <a:spcAft>
                <a:spcPts val="400"/>
              </a:spcAft>
            </a:pPr>
            <a:r>
              <a:rPr sz="1200" b="1">
                <a:solidFill>
                  <a:srgbClr val="10B981"/>
                </a:solidFill>
                <a:latin typeface="Arial"/>
              </a:rPr>
              <a:t>YOUR SCENARIO</a:t>
            </a:r>
          </a:p>
        </p:txBody>
      </p:sp>
      <p:sp>
        <p:nvSpPr>
          <p:cNvPr id="15" name="TextBox 14"/>
          <p:cNvSpPr txBox="1"/>
          <p:nvPr/>
        </p:nvSpPr>
        <p:spPr>
          <a:xfrm>
            <a:off x="7845552" y="2779776"/>
            <a:ext cx="3401568" cy="2377440"/>
          </a:xfrm>
          <a:prstGeom prst="rect">
            <a:avLst/>
          </a:prstGeom>
          <a:noFill/>
        </p:spPr>
        <p:txBody>
          <a:bodyPr wrap="square" anchor="t">
            <a:spAutoFit/>
          </a:bodyPr>
          <a:lstStyle/>
          <a:p>
            <a:pPr algn="l">
              <a:spcAft>
                <a:spcPts val="400"/>
              </a:spcAft>
            </a:pPr>
            <a:r>
              <a:rPr sz="1150" b="0">
                <a:solidFill>
                  <a:srgbClr val="161B26"/>
                </a:solidFill>
                <a:latin typeface="Arial"/>
              </a:rPr>
              <a:t>You work for a Singapore polyclinic group. Elderly patients frequently miss or abandon their health screening appointments. The operations team's proposed solution is an SMS reminder system with a confirm button. Screening uptake has not moved in two years despite three reminder revamps.</a:t>
            </a:r>
          </a:p>
        </p:txBody>
      </p:sp>
      <p:sp>
        <p:nvSpPr>
          <p:cNvPr id="16" name="Rectangle 15"/>
          <p:cNvSpPr/>
          <p:nvPr/>
        </p:nvSpPr>
        <p:spPr>
          <a:xfrm>
            <a:off x="777240" y="5440680"/>
            <a:ext cx="10634472"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440680"/>
            <a:ext cx="8229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541264"/>
            <a:ext cx="10241280" cy="420624"/>
          </a:xfrm>
          <a:prstGeom prst="rect">
            <a:avLst/>
          </a:prstGeom>
          <a:noFill/>
        </p:spPr>
        <p:txBody>
          <a:bodyPr wrap="square" anchor="t">
            <a:spAutoFit/>
          </a:bodyPr>
          <a:lstStyle/>
          <a:p>
            <a:pPr algn="l">
              <a:spcAft>
                <a:spcPts val="400"/>
              </a:spcAft>
            </a:pPr>
            <a:r>
              <a:rPr sz="1150" b="0">
                <a:solidFill>
                  <a:srgbClr val="5B6372"/>
                </a:solidFill>
                <a:latin typeface="Arial"/>
              </a:rPr>
              <a:t>Full case, discussion questions and debrief: see the Learner Guide and the printed activity brief.</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4 · WORK IN GROUPS OF 3–5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4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509760" y="566928"/>
            <a:ext cx="1901952"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0" y="621792"/>
            <a:ext cx="1901952" cy="310896"/>
          </a:xfrm>
          <a:prstGeom prst="rect">
            <a:avLst/>
          </a:prstGeom>
          <a:noFill/>
        </p:spPr>
        <p:txBody>
          <a:bodyPr wrap="square" anchor="t">
            <a:spAutoFit/>
          </a:bodyPr>
          <a:lstStyle/>
          <a:p>
            <a:pPr algn="ctr">
              <a:spcAft>
                <a:spcPts val="400"/>
              </a:spcAft>
            </a:pPr>
            <a:r>
              <a:rPr sz="1200" b="1">
                <a:solidFill>
                  <a:srgbClr val="FFFFFF"/>
                </a:solidFill>
                <a:latin typeface="Arial"/>
              </a:rPr>
              <a:t>50 MIN</a:t>
            </a:r>
          </a:p>
        </p:txBody>
      </p:sp>
      <p:sp>
        <p:nvSpPr>
          <p:cNvPr id="9" name="Rectangle 8"/>
          <p:cNvSpPr/>
          <p:nvPr/>
        </p:nvSpPr>
        <p:spPr>
          <a:xfrm>
            <a:off x="777240" y="1783080"/>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4128" y="1922983"/>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298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3" name="TextBox 12"/>
          <p:cNvSpPr txBox="1"/>
          <p:nvPr/>
        </p:nvSpPr>
        <p:spPr>
          <a:xfrm>
            <a:off x="1691640" y="1856232"/>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The engineering brief was 'make the scanner quieter'. Dietz's brief was different. State both as problem statements and explain what the reframe unlocked.</a:t>
            </a:r>
          </a:p>
        </p:txBody>
      </p:sp>
      <p:sp>
        <p:nvSpPr>
          <p:cNvPr id="14" name="Rectangle 13"/>
          <p:cNvSpPr/>
          <p:nvPr/>
        </p:nvSpPr>
        <p:spPr>
          <a:xfrm>
            <a:off x="777240" y="2684678"/>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84678"/>
            <a:ext cx="82296" cy="7370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4128" y="282458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282458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757830"/>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GE changed the experience, not the technology. In the polyclinic scenario, what is the 'paint the scanner' equivalent — and what is the 'make it quieter' trap?</a:t>
            </a:r>
          </a:p>
        </p:txBody>
      </p:sp>
      <p:sp>
        <p:nvSpPr>
          <p:cNvPr id="19" name="Rectangle 18"/>
          <p:cNvSpPr/>
          <p:nvPr/>
        </p:nvSpPr>
        <p:spPr>
          <a:xfrm>
            <a:off x="777240" y="3586276"/>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24128" y="3726179"/>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372617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3659428"/>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Write a How Might We that is too broad, one that is too narrow, and one that is just right. What makes the third one workable?</a:t>
            </a:r>
          </a:p>
        </p:txBody>
      </p:sp>
      <p:sp>
        <p:nvSpPr>
          <p:cNvPr id="24" name="Rectangle 23"/>
          <p:cNvSpPr/>
          <p:nvPr/>
        </p:nvSpPr>
        <p:spPr>
          <a:xfrm>
            <a:off x="777240" y="4487874"/>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487874"/>
            <a:ext cx="82296" cy="7370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24128" y="4627777"/>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 y="462777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1691640" y="4561026"/>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Whose perspective is missing from an empathy map built only from the operations team's data?</a:t>
            </a:r>
          </a:p>
        </p:txBody>
      </p:sp>
      <p:sp>
        <p:nvSpPr>
          <p:cNvPr id="29" name="Rectangle 28"/>
          <p:cNvSpPr/>
          <p:nvPr/>
        </p:nvSpPr>
        <p:spPr>
          <a:xfrm>
            <a:off x="777240" y="5389472"/>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4128" y="5529375"/>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4128" y="5529375"/>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3" name="TextBox 32"/>
          <p:cNvSpPr txBox="1"/>
          <p:nvPr/>
        </p:nvSpPr>
        <p:spPr>
          <a:xfrm>
            <a:off x="1691640" y="5462624"/>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Sedation rate was the number that proved the redesign worked. What single number would prove your polyclinic solution worked?</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4 — What You Produce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Your task</a:t>
            </a:r>
          </a:p>
          <a:p>
            <a:pPr algn="l">
              <a:spcAft>
                <a:spcPts val="300"/>
              </a:spcAft>
            </a:pPr>
            <a:r>
              <a:rPr sz="1150" b="0">
                <a:solidFill>
                  <a:srgbClr val="5B6372"/>
                </a:solidFill>
                <a:latin typeface="Arial"/>
              </a:rPr>
              <a:t>Learners practise the reframing move that turns a technical brief into a human one: building an empathy map from the case, extracting a Point of View statement, and generating How Might We questions at the right altitude — neither so broad they are useless nor so narrow they smuggle in the solution.</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 will produce</a:t>
            </a:r>
          </a:p>
          <a:p>
            <a:pPr algn="l">
              <a:spcAft>
                <a:spcPts val="300"/>
              </a:spcAft>
            </a:pPr>
            <a:r>
              <a:rPr sz="1150" b="0">
                <a:solidFill>
                  <a:srgbClr val="5B6372"/>
                </a:solidFill>
                <a:latin typeface="Arial"/>
              </a:rPr>
              <a:t>A completed Empathize and Define stage in the Design Thinking Studio: empathy map, POV statement and a voted set of How Might We questions for the polyclinic scenario.</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Tools</a:t>
            </a:r>
          </a:p>
          <a:p>
            <a:pPr algn="l">
              <a:spcAft>
                <a:spcPts val="300"/>
              </a:spcAft>
            </a:pPr>
            <a:r>
              <a:rPr sz="1150" b="0">
                <a:solidFill>
                  <a:srgbClr val="5B6372"/>
                </a:solidFill>
                <a:latin typeface="Arial"/>
              </a:rPr>
              <a:t>Design Thinking Studio, ChatGPT or Microsoft Copilot</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Done when</a:t>
            </a:r>
          </a:p>
          <a:p>
            <a:pPr algn="l">
              <a:spcAft>
                <a:spcPts val="300"/>
              </a:spcAft>
            </a:pPr>
            <a:r>
              <a:rPr sz="1150" b="0">
                <a:solidFill>
                  <a:srgbClr val="5B6372"/>
                </a:solidFill>
                <a:latin typeface="Arial"/>
              </a:rPr>
              <a:t>Your Define stage holds a POV statement traceable to a specific empathy-map entry, and a top-voted HMW question that neither names a solution nor is too vague to answer.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TRAINER DEBRIEF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4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011680"/>
            <a:ext cx="10058400" cy="365760"/>
          </a:xfrm>
          <a:prstGeom prst="rect">
            <a:avLst/>
          </a:prstGeom>
          <a:noFill/>
        </p:spPr>
        <p:txBody>
          <a:bodyPr wrap="square" anchor="t">
            <a:spAutoFit/>
          </a:bodyPr>
          <a:lstStyle/>
          <a:p>
            <a:pPr algn="l">
              <a:spcAft>
                <a:spcPts val="400"/>
              </a:spcAft>
            </a:pPr>
            <a:r>
              <a:rPr sz="1250" b="1">
                <a:solidFill>
                  <a:srgbClr val="10B981"/>
                </a:solidFill>
                <a:latin typeface="Arial"/>
              </a:rPr>
              <a:t>WHAT THE ROOM SHOULD CONCLUDE</a:t>
            </a:r>
          </a:p>
        </p:txBody>
      </p:sp>
      <p:sp>
        <p:nvSpPr>
          <p:cNvPr id="10" name="TextBox 9"/>
          <p:cNvSpPr txBox="1"/>
          <p:nvPr/>
        </p:nvSpPr>
        <p:spPr>
          <a:xfrm>
            <a:off x="1143000" y="2468880"/>
            <a:ext cx="10076688" cy="3429000"/>
          </a:xfrm>
          <a:prstGeom prst="rect">
            <a:avLst/>
          </a:prstGeom>
          <a:noFill/>
        </p:spPr>
        <p:txBody>
          <a:bodyPr wrap="square" anchor="t">
            <a:spAutoFit/>
          </a:bodyPr>
          <a:lstStyle/>
          <a:p>
            <a:pPr algn="l">
              <a:spcAft>
                <a:spcPts val="400"/>
              </a:spcAft>
            </a:pPr>
            <a:r>
              <a:rPr sz="1300" b="0">
                <a:solidFill>
                  <a:srgbClr val="161B26"/>
                </a:solidFill>
                <a:latin typeface="Arial"/>
              </a:rPr>
              <a:t>Reframing is the highest-leverage move in design thinking and the one teams skip under deadline pressure. 'Make the scanner quieter' produces an incrementally better scanner; 'how might we make a frightened seven-year-old feel brave' produces a pirate ship. Note what did not change: the imaging hardware, the physics, the budget for a new machine. The constraint was the same; the problem statement was different. The altitude test for a How Might We question: if there is only one obvious answer it is too narrow (the solution is hiding inside the question); if you cannot imagine any concrete answer it is too broad. For the polyclinic, the reminder-system framing assumes the barrier is forgetting. If the real barrier is fear of a bad result, fear of cost, or having nobody to accompany them, no reminder will ever fix it — and two years of flat uptake is the evidence.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02 · REAL-WORLD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IDEO Shopping Cart — Volume, Then Judgement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19656"/>
            <a:ext cx="10241280" cy="310896"/>
          </a:xfrm>
          <a:prstGeom prst="rect">
            <a:avLst/>
          </a:prstGeom>
          <a:noFill/>
        </p:spPr>
        <p:txBody>
          <a:bodyPr wrap="square" anchor="t">
            <a:spAutoFit/>
          </a:bodyPr>
          <a:lstStyle/>
          <a:p>
            <a:pPr algn="l">
              <a:spcAft>
                <a:spcPts val="400"/>
              </a:spcAft>
            </a:pPr>
            <a:r>
              <a:rPr sz="1250" b="1">
                <a:solidFill>
                  <a:srgbClr val="FFFFFF"/>
                </a:solidFill>
                <a:latin typeface="Arial"/>
              </a:rPr>
              <a:t>ACTIVITY 5  ·  50 MIN</a:t>
            </a:r>
          </a:p>
        </p:txBody>
      </p:sp>
      <p:sp>
        <p:nvSpPr>
          <p:cNvPr id="9" name="Rectangle 8"/>
          <p:cNvSpPr/>
          <p:nvPr/>
        </p:nvSpPr>
        <p:spPr>
          <a:xfrm>
            <a:off x="777240" y="2240280"/>
            <a:ext cx="653796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395728"/>
            <a:ext cx="6126480" cy="310896"/>
          </a:xfrm>
          <a:prstGeom prst="rect">
            <a:avLst/>
          </a:prstGeom>
          <a:noFill/>
        </p:spPr>
        <p:txBody>
          <a:bodyPr wrap="square" anchor="t">
            <a:spAutoFit/>
          </a:bodyPr>
          <a:lstStyle/>
          <a:p>
            <a:pPr algn="l">
              <a:spcAft>
                <a:spcPts val="400"/>
              </a:spcAft>
            </a:pPr>
            <a:r>
              <a:rPr sz="1200" b="1">
                <a:solidFill>
                  <a:srgbClr val="F59E0B"/>
                </a:solidFill>
                <a:latin typeface="Arial"/>
              </a:rPr>
              <a:t>THE REAL CASE</a:t>
            </a:r>
          </a:p>
        </p:txBody>
      </p:sp>
      <p:sp>
        <p:nvSpPr>
          <p:cNvPr id="11" name="TextBox 10"/>
          <p:cNvSpPr txBox="1"/>
          <p:nvPr/>
        </p:nvSpPr>
        <p:spPr>
          <a:xfrm>
            <a:off x="987552" y="2743200"/>
            <a:ext cx="6144768" cy="2468880"/>
          </a:xfrm>
          <a:prstGeom prst="rect">
            <a:avLst/>
          </a:prstGeom>
          <a:noFill/>
        </p:spPr>
        <p:txBody>
          <a:bodyPr wrap="square" anchor="t">
            <a:spAutoFit/>
          </a:bodyPr>
          <a:lstStyle/>
          <a:p>
            <a:pPr algn="l">
              <a:spcAft>
                <a:spcPts val="400"/>
              </a:spcAft>
            </a:pPr>
            <a:r>
              <a:rPr sz="1150" b="0">
                <a:solidFill>
                  <a:srgbClr val="161B26"/>
                </a:solidFill>
                <a:latin typeface="Arial"/>
              </a:rPr>
              <a:t>In 1999, ABC's Nightline gave the design firm IDEO five days to redesign the supermarket shopping cart on camera. The team did not start by designing. They went out and observed shoppers, interviewed store managers about theft and maintenance, and talked to a child-safety expert. They then ran structured brainstorms under explicit rules — defer judgement, encourage wild ideas, build on others' ideas, go for quantity, be visual — and generated a large volume of concepts before converging. The result was a modular cart with detachable hand baskets, a child seat designed for safety, and a scanning system that skipped the checkout queue. Crucially it was never meant for mass production; it was a provocation that demonstrated the process. The famous rule from that studio: separate idea generation from idea evaluation, because judging while generating kills the unusual ideas first.</a:t>
            </a:r>
          </a:p>
        </p:txBody>
      </p:sp>
      <p:sp>
        <p:nvSpPr>
          <p:cNvPr id="12" name="Rectangle 11"/>
          <p:cNvSpPr/>
          <p:nvPr/>
        </p:nvSpPr>
        <p:spPr>
          <a:xfrm>
            <a:off x="7635240" y="2240280"/>
            <a:ext cx="3776472" cy="306324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35240" y="2240280"/>
            <a:ext cx="377647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45552" y="2432304"/>
            <a:ext cx="3383280" cy="310896"/>
          </a:xfrm>
          <a:prstGeom prst="rect">
            <a:avLst/>
          </a:prstGeom>
          <a:noFill/>
        </p:spPr>
        <p:txBody>
          <a:bodyPr wrap="square" anchor="t">
            <a:spAutoFit/>
          </a:bodyPr>
          <a:lstStyle/>
          <a:p>
            <a:pPr algn="l">
              <a:spcAft>
                <a:spcPts val="400"/>
              </a:spcAft>
            </a:pPr>
            <a:r>
              <a:rPr sz="1200" b="1">
                <a:solidFill>
                  <a:srgbClr val="10B981"/>
                </a:solidFill>
                <a:latin typeface="Arial"/>
              </a:rPr>
              <a:t>YOUR SCENARIO</a:t>
            </a:r>
          </a:p>
        </p:txBody>
      </p:sp>
      <p:sp>
        <p:nvSpPr>
          <p:cNvPr id="15" name="TextBox 14"/>
          <p:cNvSpPr txBox="1"/>
          <p:nvPr/>
        </p:nvSpPr>
        <p:spPr>
          <a:xfrm>
            <a:off x="7845552" y="2779776"/>
            <a:ext cx="3401568" cy="2377440"/>
          </a:xfrm>
          <a:prstGeom prst="rect">
            <a:avLst/>
          </a:prstGeom>
          <a:noFill/>
        </p:spPr>
        <p:txBody>
          <a:bodyPr wrap="square" anchor="t">
            <a:spAutoFit/>
          </a:bodyPr>
          <a:lstStyle/>
          <a:p>
            <a:pPr algn="l">
              <a:spcAft>
                <a:spcPts val="400"/>
              </a:spcAft>
            </a:pPr>
            <a:r>
              <a:rPr sz="1150" b="0">
                <a:solidFill>
                  <a:srgbClr val="161B26"/>
                </a:solidFill>
                <a:latin typeface="Arial"/>
              </a:rPr>
              <a:t>Carry forward the top-voted How Might We question from Activity 4. Your team has 25 minutes to generate and converge on ideas for the polyclinic screening challenge, with a GenAI tool available as an idea multiplier.</a:t>
            </a:r>
          </a:p>
        </p:txBody>
      </p:sp>
      <p:sp>
        <p:nvSpPr>
          <p:cNvPr id="16" name="Rectangle 15"/>
          <p:cNvSpPr/>
          <p:nvPr/>
        </p:nvSpPr>
        <p:spPr>
          <a:xfrm>
            <a:off x="777240" y="5440680"/>
            <a:ext cx="10634472"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440680"/>
            <a:ext cx="8229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541264"/>
            <a:ext cx="10241280" cy="420624"/>
          </a:xfrm>
          <a:prstGeom prst="rect">
            <a:avLst/>
          </a:prstGeom>
          <a:noFill/>
        </p:spPr>
        <p:txBody>
          <a:bodyPr wrap="square" anchor="t">
            <a:spAutoFit/>
          </a:bodyPr>
          <a:lstStyle/>
          <a:p>
            <a:pPr algn="l">
              <a:spcAft>
                <a:spcPts val="400"/>
              </a:spcAft>
            </a:pPr>
            <a:r>
              <a:rPr sz="1150" b="0">
                <a:solidFill>
                  <a:srgbClr val="5B6372"/>
                </a:solidFill>
                <a:latin typeface="Arial"/>
              </a:rPr>
              <a:t>Full case, discussion questions and debrief: see the Learner Guide and the printed activity brief.</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5 · WORK IN GROUPS OF 3–5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5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509760" y="566928"/>
            <a:ext cx="1901952"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0" y="621792"/>
            <a:ext cx="1901952" cy="310896"/>
          </a:xfrm>
          <a:prstGeom prst="rect">
            <a:avLst/>
          </a:prstGeom>
          <a:noFill/>
        </p:spPr>
        <p:txBody>
          <a:bodyPr wrap="square" anchor="t">
            <a:spAutoFit/>
          </a:bodyPr>
          <a:lstStyle/>
          <a:p>
            <a:pPr algn="ctr">
              <a:spcAft>
                <a:spcPts val="400"/>
              </a:spcAft>
            </a:pPr>
            <a:r>
              <a:rPr sz="1200" b="1">
                <a:solidFill>
                  <a:srgbClr val="FFFFFF"/>
                </a:solidFill>
                <a:latin typeface="Arial"/>
              </a:rPr>
              <a:t>50 MIN</a:t>
            </a:r>
          </a:p>
        </p:txBody>
      </p:sp>
      <p:sp>
        <p:nvSpPr>
          <p:cNvPr id="9" name="Rectangle 8"/>
          <p:cNvSpPr/>
          <p:nvPr/>
        </p:nvSpPr>
        <p:spPr>
          <a:xfrm>
            <a:off x="777240" y="1783080"/>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4128" y="1922983"/>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298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3" name="TextBox 12"/>
          <p:cNvSpPr txBox="1"/>
          <p:nvPr/>
        </p:nvSpPr>
        <p:spPr>
          <a:xfrm>
            <a:off x="1691640" y="1856232"/>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IDEO's rules include 'defer judgement' and 'encourage wild ideas'. What actually happens in a meeting when these are not enforced?</a:t>
            </a:r>
          </a:p>
        </p:txBody>
      </p:sp>
      <p:sp>
        <p:nvSpPr>
          <p:cNvPr id="14" name="Rectangle 13"/>
          <p:cNvSpPr/>
          <p:nvPr/>
        </p:nvSpPr>
        <p:spPr>
          <a:xfrm>
            <a:off x="777240" y="2684678"/>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84678"/>
            <a:ext cx="82296" cy="7370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4128" y="282458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282458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757830"/>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You generated ideas manually, then with AI. Compare the two sets — which was more diverse, and which was more useful?</a:t>
            </a:r>
          </a:p>
        </p:txBody>
      </p:sp>
      <p:sp>
        <p:nvSpPr>
          <p:cNvPr id="19" name="Rectangle 18"/>
          <p:cNvSpPr/>
          <p:nvPr/>
        </p:nvSpPr>
        <p:spPr>
          <a:xfrm>
            <a:off x="777240" y="3586276"/>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24128" y="3726179"/>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372617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3659428"/>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The cart was never mass-produced. What is the value of a prototype that was never meant to ship?</a:t>
            </a:r>
          </a:p>
        </p:txBody>
      </p:sp>
      <p:sp>
        <p:nvSpPr>
          <p:cNvPr id="24" name="Rectangle 23"/>
          <p:cNvSpPr/>
          <p:nvPr/>
        </p:nvSpPr>
        <p:spPr>
          <a:xfrm>
            <a:off x="777240" y="4487874"/>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487874"/>
            <a:ext cx="82296" cy="7370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24128" y="4627777"/>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 y="462777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1691640" y="4561026"/>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Under what conditions does GenAI reduce the diversity of ideas in a room instead of increasing it?</a:t>
            </a:r>
          </a:p>
        </p:txBody>
      </p:sp>
      <p:sp>
        <p:nvSpPr>
          <p:cNvPr id="29" name="Rectangle 28"/>
          <p:cNvSpPr/>
          <p:nvPr/>
        </p:nvSpPr>
        <p:spPr>
          <a:xfrm>
            <a:off x="777240" y="5389472"/>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4128" y="5529375"/>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4128" y="5529375"/>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3" name="TextBox 32"/>
          <p:cNvSpPr txBox="1"/>
          <p:nvPr/>
        </p:nvSpPr>
        <p:spPr>
          <a:xfrm>
            <a:off x="1691640" y="5462624"/>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Who should have the final vote on which idea proceeds — and what does that choice say about your organisation?</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5 — What You Produce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Your task</a:t>
            </a:r>
          </a:p>
          <a:p>
            <a:pPr algn="l">
              <a:spcAft>
                <a:spcPts val="300"/>
              </a:spcAft>
            </a:pPr>
            <a:r>
              <a:rPr sz="1150" b="0">
                <a:solidFill>
                  <a:srgbClr val="5B6372"/>
                </a:solidFill>
                <a:latin typeface="Arial"/>
              </a:rPr>
              <a:t>Learners run a disciplined divergence–convergence cycle using Crazy 8s and structured brainstorming, amplify it with GenAI, then converge with dot voting — experiencing directly why mixing generation and evaluation suppresses the best ideas.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 will produce</a:t>
            </a:r>
          </a:p>
          <a:p>
            <a:pPr algn="l">
              <a:spcAft>
                <a:spcPts val="300"/>
              </a:spcAft>
            </a:pPr>
            <a:r>
              <a:rPr sz="1150" b="0">
                <a:solidFill>
                  <a:srgbClr val="5B6372"/>
                </a:solidFill>
                <a:latin typeface="Arial"/>
              </a:rPr>
              <a:t>A populated Ideate stage — brainstorming board, Crazy 8s, categorised ideas and a voted shortlist of three concepts to prototype.</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Tools</a:t>
            </a:r>
          </a:p>
          <a:p>
            <a:pPr algn="l">
              <a:spcAft>
                <a:spcPts val="300"/>
              </a:spcAft>
            </a:pPr>
            <a:r>
              <a:rPr sz="1150" b="0">
                <a:solidFill>
                  <a:srgbClr val="5B6372"/>
                </a:solidFill>
                <a:latin typeface="Arial"/>
              </a:rPr>
              <a:t>Design Thinking Studio, ChatGPT or Microsoft Copilot</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Done when</a:t>
            </a:r>
          </a:p>
          <a:p>
            <a:pPr algn="l">
              <a:spcAft>
                <a:spcPts val="300"/>
              </a:spcAft>
            </a:pPr>
            <a:r>
              <a:rPr sz="1150" b="0">
                <a:solidFill>
                  <a:srgbClr val="5B6372"/>
                </a:solidFill>
                <a:latin typeface="Arial"/>
              </a:rPr>
              <a:t>Your Ideate stage shows a clear divergence phase and a separate convergence phase, with three shortlisted concepts and their provenance recorded.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TRAINER DEBRIEF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5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011680"/>
            <a:ext cx="10058400" cy="365760"/>
          </a:xfrm>
          <a:prstGeom prst="rect">
            <a:avLst/>
          </a:prstGeom>
          <a:noFill/>
        </p:spPr>
        <p:txBody>
          <a:bodyPr wrap="square" anchor="t">
            <a:spAutoFit/>
          </a:bodyPr>
          <a:lstStyle/>
          <a:p>
            <a:pPr algn="l">
              <a:spcAft>
                <a:spcPts val="400"/>
              </a:spcAft>
            </a:pPr>
            <a:r>
              <a:rPr sz="1250" b="1">
                <a:solidFill>
                  <a:srgbClr val="10B981"/>
                </a:solidFill>
                <a:latin typeface="Arial"/>
              </a:rPr>
              <a:t>WHAT THE ROOM SHOULD CONCLUDE</a:t>
            </a:r>
          </a:p>
        </p:txBody>
      </p:sp>
      <p:sp>
        <p:nvSpPr>
          <p:cNvPr id="10" name="TextBox 9"/>
          <p:cNvSpPr txBox="1"/>
          <p:nvPr/>
        </p:nvSpPr>
        <p:spPr>
          <a:xfrm>
            <a:off x="1143000" y="2468880"/>
            <a:ext cx="10076688" cy="3429000"/>
          </a:xfrm>
          <a:prstGeom prst="rect">
            <a:avLst/>
          </a:prstGeom>
          <a:noFill/>
        </p:spPr>
        <p:txBody>
          <a:bodyPr wrap="square" anchor="t">
            <a:spAutoFit/>
          </a:bodyPr>
          <a:lstStyle/>
          <a:p>
            <a:pPr algn="l">
              <a:spcAft>
                <a:spcPts val="400"/>
              </a:spcAft>
            </a:pPr>
            <a:r>
              <a:rPr sz="1300" b="0">
                <a:solidFill>
                  <a:srgbClr val="161B26"/>
                </a:solidFill>
                <a:latin typeface="Arial"/>
              </a:rPr>
              <a:t>Two effects usually show up in the room. First, the manual round produces fewer ideas but more surprising ones, because they come from lived context the model does not have; the AI round produces more ideas but they cluster around the conventional centre of the training distribution. The productive pattern is manual-first, then AI to extend — running AI first anchors everyone to its framing and measurably narrows the room. Second, groups that skip the 'defer judgement' rule converge far too early on the safe idea. The IDEO cart matters precisely because it was never shipped: a prototype's job is to make an idea arguable and testable, not to be the final answer. Dot voting is not democracy for its own sake — it surfaces which ideas the group can actually rally behind before anyone spends money.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REAL-WORLD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Rapid Prototyping with AI — From Concept to Testable Artefact in One Hour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19656"/>
            <a:ext cx="10241280" cy="310896"/>
          </a:xfrm>
          <a:prstGeom prst="rect">
            <a:avLst/>
          </a:prstGeom>
          <a:noFill/>
        </p:spPr>
        <p:txBody>
          <a:bodyPr wrap="square" anchor="t">
            <a:spAutoFit/>
          </a:bodyPr>
          <a:lstStyle/>
          <a:p>
            <a:pPr algn="l">
              <a:spcAft>
                <a:spcPts val="400"/>
              </a:spcAft>
            </a:pPr>
            <a:r>
              <a:rPr sz="1250" b="1">
                <a:solidFill>
                  <a:srgbClr val="FFFFFF"/>
                </a:solidFill>
                <a:latin typeface="Arial"/>
              </a:rPr>
              <a:t>ACTIVITY 6  ·  50 MIN</a:t>
            </a:r>
          </a:p>
        </p:txBody>
      </p:sp>
      <p:sp>
        <p:nvSpPr>
          <p:cNvPr id="9" name="Rectangle 8"/>
          <p:cNvSpPr/>
          <p:nvPr/>
        </p:nvSpPr>
        <p:spPr>
          <a:xfrm>
            <a:off x="777240" y="2240280"/>
            <a:ext cx="653796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395728"/>
            <a:ext cx="6126480" cy="310896"/>
          </a:xfrm>
          <a:prstGeom prst="rect">
            <a:avLst/>
          </a:prstGeom>
          <a:noFill/>
        </p:spPr>
        <p:txBody>
          <a:bodyPr wrap="square" anchor="t">
            <a:spAutoFit/>
          </a:bodyPr>
          <a:lstStyle/>
          <a:p>
            <a:pPr algn="l">
              <a:spcAft>
                <a:spcPts val="400"/>
              </a:spcAft>
            </a:pPr>
            <a:r>
              <a:rPr sz="1200" b="1">
                <a:solidFill>
                  <a:srgbClr val="10B981"/>
                </a:solidFill>
                <a:latin typeface="Arial"/>
              </a:rPr>
              <a:t>THE REAL CASE</a:t>
            </a:r>
          </a:p>
        </p:txBody>
      </p:sp>
      <p:sp>
        <p:nvSpPr>
          <p:cNvPr id="11" name="TextBox 10"/>
          <p:cNvSpPr txBox="1"/>
          <p:nvPr/>
        </p:nvSpPr>
        <p:spPr>
          <a:xfrm>
            <a:off x="987552" y="2743200"/>
            <a:ext cx="6144768" cy="2468880"/>
          </a:xfrm>
          <a:prstGeom prst="rect">
            <a:avLst/>
          </a:prstGeom>
          <a:noFill/>
        </p:spPr>
        <p:txBody>
          <a:bodyPr wrap="square" anchor="t">
            <a:spAutoFit/>
          </a:bodyPr>
          <a:lstStyle/>
          <a:p>
            <a:pPr algn="l">
              <a:spcAft>
                <a:spcPts val="400"/>
              </a:spcAft>
            </a:pPr>
            <a:r>
              <a:rPr sz="1150" b="0">
                <a:solidFill>
                  <a:srgbClr val="161B26"/>
                </a:solidFill>
                <a:latin typeface="Arial"/>
              </a:rPr>
              <a:t>A Singapore hospital team needed to test whether a self-service kiosk would cut queue times at an outpatient clinic. A scoped software build would have taken a quarter and a budget. Instead the team used a GenAI tool to draft the screen copy and flow, printed the screens on paper, and ran a 'Wizard of Oz' test in the clinic corridor — a staff member behind a curtain swapped the paper screens by hand while real patients used it. Within two days they learned that elderly patients did not fail at the touchscreen — they abandoned at the point where the kiosk asked for an NRIC, because they were not sure whether it was safe to enter it in public view. That single insight redirected the entire design, and it cost nothing but paper and two afternoons. Had they built the software first, they would have discovered it after the budget was spent.</a:t>
            </a:r>
          </a:p>
        </p:txBody>
      </p:sp>
      <p:sp>
        <p:nvSpPr>
          <p:cNvPr id="12" name="Rectangle 11"/>
          <p:cNvSpPr/>
          <p:nvPr/>
        </p:nvSpPr>
        <p:spPr>
          <a:xfrm>
            <a:off x="7635240" y="2240280"/>
            <a:ext cx="3776472" cy="306324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35240" y="2240280"/>
            <a:ext cx="377647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45552" y="2432304"/>
            <a:ext cx="3383280" cy="310896"/>
          </a:xfrm>
          <a:prstGeom prst="rect">
            <a:avLst/>
          </a:prstGeom>
          <a:noFill/>
        </p:spPr>
        <p:txBody>
          <a:bodyPr wrap="square" anchor="t">
            <a:spAutoFit/>
          </a:bodyPr>
          <a:lstStyle/>
          <a:p>
            <a:pPr algn="l">
              <a:spcAft>
                <a:spcPts val="400"/>
              </a:spcAft>
            </a:pPr>
            <a:r>
              <a:rPr sz="1200" b="1">
                <a:solidFill>
                  <a:srgbClr val="10B981"/>
                </a:solidFill>
                <a:latin typeface="Arial"/>
              </a:rPr>
              <a:t>YOUR SCENARIO</a:t>
            </a:r>
          </a:p>
        </p:txBody>
      </p:sp>
      <p:sp>
        <p:nvSpPr>
          <p:cNvPr id="15" name="TextBox 14"/>
          <p:cNvSpPr txBox="1"/>
          <p:nvPr/>
        </p:nvSpPr>
        <p:spPr>
          <a:xfrm>
            <a:off x="7845552" y="2779776"/>
            <a:ext cx="3401568" cy="2377440"/>
          </a:xfrm>
          <a:prstGeom prst="rect">
            <a:avLst/>
          </a:prstGeom>
          <a:noFill/>
        </p:spPr>
        <p:txBody>
          <a:bodyPr wrap="square" anchor="t">
            <a:spAutoFit/>
          </a:bodyPr>
          <a:lstStyle/>
          <a:p>
            <a:pPr algn="l">
              <a:spcAft>
                <a:spcPts val="400"/>
              </a:spcAft>
            </a:pPr>
            <a:r>
              <a:rPr sz="1150" b="0">
                <a:solidFill>
                  <a:srgbClr val="161B26"/>
                </a:solidFill>
                <a:latin typeface="Arial"/>
              </a:rPr>
              <a:t>Take the top-voted concept from Activity 5. You have 50 minutes to make it testable by a real person — not to build it.</a:t>
            </a:r>
          </a:p>
        </p:txBody>
      </p:sp>
      <p:sp>
        <p:nvSpPr>
          <p:cNvPr id="16" name="Rectangle 15"/>
          <p:cNvSpPr/>
          <p:nvPr/>
        </p:nvSpPr>
        <p:spPr>
          <a:xfrm>
            <a:off x="777240" y="5440680"/>
            <a:ext cx="10634472"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440680"/>
            <a:ext cx="8229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541264"/>
            <a:ext cx="10241280" cy="420624"/>
          </a:xfrm>
          <a:prstGeom prst="rect">
            <a:avLst/>
          </a:prstGeom>
          <a:noFill/>
        </p:spPr>
        <p:txBody>
          <a:bodyPr wrap="square" anchor="t">
            <a:spAutoFit/>
          </a:bodyPr>
          <a:lstStyle/>
          <a:p>
            <a:pPr algn="l">
              <a:spcAft>
                <a:spcPts val="400"/>
              </a:spcAft>
            </a:pPr>
            <a:r>
              <a:rPr sz="1150" b="0">
                <a:solidFill>
                  <a:srgbClr val="5B6372"/>
                </a:solidFill>
                <a:latin typeface="Arial"/>
              </a:rPr>
              <a:t>Full case, discussion questions and debrief: see the Learner Guide and the printed activity brief.</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6 · WORK IN GROUPS OF 3–5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6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509760" y="566928"/>
            <a:ext cx="1901952"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0" y="621792"/>
            <a:ext cx="1901952" cy="310896"/>
          </a:xfrm>
          <a:prstGeom prst="rect">
            <a:avLst/>
          </a:prstGeom>
          <a:noFill/>
        </p:spPr>
        <p:txBody>
          <a:bodyPr wrap="square" anchor="t">
            <a:spAutoFit/>
          </a:bodyPr>
          <a:lstStyle/>
          <a:p>
            <a:pPr algn="ctr">
              <a:spcAft>
                <a:spcPts val="400"/>
              </a:spcAft>
            </a:pPr>
            <a:r>
              <a:rPr sz="1200" b="1">
                <a:solidFill>
                  <a:srgbClr val="FFFFFF"/>
                </a:solidFill>
                <a:latin typeface="Arial"/>
              </a:rPr>
              <a:t>50 MIN</a:t>
            </a:r>
          </a:p>
        </p:txBody>
      </p:sp>
      <p:sp>
        <p:nvSpPr>
          <p:cNvPr id="9" name="Rectangle 8"/>
          <p:cNvSpPr/>
          <p:nvPr/>
        </p:nvSpPr>
        <p:spPr>
          <a:xfrm>
            <a:off x="777240" y="1783080"/>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4128" y="1922983"/>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298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3" name="TextBox 12"/>
          <p:cNvSpPr txBox="1"/>
          <p:nvPr/>
        </p:nvSpPr>
        <p:spPr>
          <a:xfrm>
            <a:off x="1691640" y="1856232"/>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The kiosk team learned the real barrier was privacy, not usability. Which of your assumptions, if wrong, would sink your concept fastest?</a:t>
            </a:r>
          </a:p>
        </p:txBody>
      </p:sp>
      <p:sp>
        <p:nvSpPr>
          <p:cNvPr id="14" name="Rectangle 13"/>
          <p:cNvSpPr/>
          <p:nvPr/>
        </p:nvSpPr>
        <p:spPr>
          <a:xfrm>
            <a:off x="777240" y="2684678"/>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84678"/>
            <a:ext cx="82296" cy="7370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4128" y="282458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282458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757830"/>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What is the cheapest possible artefact that would still generate a real reaction from a real user?</a:t>
            </a:r>
          </a:p>
        </p:txBody>
      </p:sp>
      <p:sp>
        <p:nvSpPr>
          <p:cNvPr id="19" name="Rectangle 18"/>
          <p:cNvSpPr/>
          <p:nvPr/>
        </p:nvSpPr>
        <p:spPr>
          <a:xfrm>
            <a:off x="777240" y="3586276"/>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24128" y="3726179"/>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372617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3659428"/>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'Build to think, not to ship.' What is the risk of a prototype that looks too polished?</a:t>
            </a:r>
          </a:p>
        </p:txBody>
      </p:sp>
      <p:sp>
        <p:nvSpPr>
          <p:cNvPr id="24" name="Rectangle 23"/>
          <p:cNvSpPr/>
          <p:nvPr/>
        </p:nvSpPr>
        <p:spPr>
          <a:xfrm>
            <a:off x="777240" y="4487874"/>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487874"/>
            <a:ext cx="82296" cy="7370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24128" y="4627777"/>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 y="462777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1691640" y="4561026"/>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Where did GenAI genuinely save time here, and where would relying on it have hidden the privacy insight?</a:t>
            </a:r>
          </a:p>
        </p:txBody>
      </p:sp>
      <p:sp>
        <p:nvSpPr>
          <p:cNvPr id="29" name="Rectangle 28"/>
          <p:cNvSpPr/>
          <p:nvPr/>
        </p:nvSpPr>
        <p:spPr>
          <a:xfrm>
            <a:off x="777240" y="5389472"/>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4128" y="5529375"/>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4128" y="5529375"/>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3" name="TextBox 32"/>
          <p:cNvSpPr txBox="1"/>
          <p:nvPr/>
        </p:nvSpPr>
        <p:spPr>
          <a:xfrm>
            <a:off x="1691640" y="5462624"/>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Write the one question you would ask a test user that could prove your concept wrong.</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6 — What You Produce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Your task</a:t>
            </a:r>
          </a:p>
          <a:p>
            <a:pPr algn="l">
              <a:spcAft>
                <a:spcPts val="300"/>
              </a:spcAft>
            </a:pPr>
            <a:r>
              <a:rPr sz="1150" b="0">
                <a:solidFill>
                  <a:srgbClr val="5B6372"/>
                </a:solidFill>
                <a:latin typeface="Arial"/>
              </a:rPr>
              <a:t>Learners use GenAI to draft prototype content and user flows, assemble a low-fidelity prototype, and define an explicit test plan with falsifiable assumptions — practising 'build to think' rather than 'build to ship'.</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 will produce</a:t>
            </a:r>
          </a:p>
          <a:p>
            <a:pPr algn="l">
              <a:spcAft>
                <a:spcPts val="300"/>
              </a:spcAft>
            </a:pPr>
            <a:r>
              <a:rPr sz="1150" b="0">
                <a:solidFill>
                  <a:srgbClr val="5B6372"/>
                </a:solidFill>
                <a:latin typeface="Arial"/>
              </a:rPr>
              <a:t>A low-fidelity prototype (paper, slide or wireframe) with a written test plan, listed assumptions and the criteria that would prove the concept wrong.</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Tools</a:t>
            </a:r>
          </a:p>
          <a:p>
            <a:pPr algn="l">
              <a:spcAft>
                <a:spcPts val="300"/>
              </a:spcAft>
            </a:pPr>
            <a:r>
              <a:rPr sz="1150" b="0">
                <a:solidFill>
                  <a:srgbClr val="5B6372"/>
                </a:solidFill>
                <a:latin typeface="Arial"/>
              </a:rPr>
              <a:t>Design Thinking Studio, ChatGPT or Microsoft Copilot, Adobe Firefly (optional)</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Done when</a:t>
            </a:r>
          </a:p>
          <a:p>
            <a:pPr algn="l">
              <a:spcAft>
                <a:spcPts val="300"/>
              </a:spcAft>
            </a:pPr>
            <a:r>
              <a:rPr sz="1150" b="0">
                <a:solidFill>
                  <a:srgbClr val="5B6372"/>
                </a:solidFill>
                <a:latin typeface="Arial"/>
              </a:rPr>
              <a:t>Your prototype can be run by someone from another group without you explaining it, and your test plan states in advance what result would falsify the concept.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TRAINER DEBRIEF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6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011680"/>
            <a:ext cx="10058400" cy="365760"/>
          </a:xfrm>
          <a:prstGeom prst="rect">
            <a:avLst/>
          </a:prstGeom>
          <a:noFill/>
        </p:spPr>
        <p:txBody>
          <a:bodyPr wrap="square" anchor="t">
            <a:spAutoFit/>
          </a:bodyPr>
          <a:lstStyle/>
          <a:p>
            <a:pPr algn="l">
              <a:spcAft>
                <a:spcPts val="400"/>
              </a:spcAft>
            </a:pPr>
            <a:r>
              <a:rPr sz="1250" b="1">
                <a:solidFill>
                  <a:srgbClr val="10B981"/>
                </a:solidFill>
                <a:latin typeface="Arial"/>
              </a:rPr>
              <a:t>WHAT THE ROOM SHOULD CONCLUDE</a:t>
            </a:r>
          </a:p>
        </p:txBody>
      </p:sp>
      <p:sp>
        <p:nvSpPr>
          <p:cNvPr id="10" name="TextBox 9"/>
          <p:cNvSpPr txBox="1"/>
          <p:nvPr/>
        </p:nvSpPr>
        <p:spPr>
          <a:xfrm>
            <a:off x="1143000" y="2468880"/>
            <a:ext cx="10076688" cy="3429000"/>
          </a:xfrm>
          <a:prstGeom prst="rect">
            <a:avLst/>
          </a:prstGeom>
          <a:noFill/>
        </p:spPr>
        <p:txBody>
          <a:bodyPr wrap="square" anchor="t">
            <a:spAutoFit/>
          </a:bodyPr>
          <a:lstStyle/>
          <a:p>
            <a:pPr algn="l">
              <a:spcAft>
                <a:spcPts val="400"/>
              </a:spcAft>
            </a:pPr>
            <a:r>
              <a:rPr sz="1300" b="0">
                <a:solidFill>
                  <a:srgbClr val="161B26"/>
                </a:solidFill>
                <a:latin typeface="Arial"/>
              </a:rPr>
              <a:t>A prototype's purpose is to buy information at the lowest possible price. The kiosk team bought a quarter's worth of learning for two afternoons and a stack of paper. Note the specific trap in polished prototypes: when an artefact looks finished, test users critique surface details and politely withhold fundamental objections — a rough paper screen invites honest reaction in a way a clean mockup does not. GenAI is genuinely excellent at the drafting layer here: screen copy, flow logic, edge cases, even the interview script. What it cannot do is stand in the corridor and watch a 74-year-old hesitate over her NRIC. Every prototype should ship with its falsification criteria written down in advance; a test you cannot fail is a demonstration, not a test.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Topic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Framing turns a technical brief into a human one — and that reframe is where the leverage is.</a:t>
            </a:r>
          </a:p>
          <a:p>
            <a:pPr>
              <a:spcAft>
                <a:spcPts val="1000"/>
              </a:spcAft>
            </a:pPr>
            <a:r>
              <a:rPr sz="1600" b="0">
                <a:solidFill>
                  <a:srgbClr val="161B26"/>
                </a:solidFill>
                <a:latin typeface="Arial"/>
              </a:rPr>
              <a:t>•  A POV statement ([user] needs [need] because [insight]) makes research designable.</a:t>
            </a:r>
          </a:p>
          <a:p>
            <a:pPr>
              <a:spcAft>
                <a:spcPts val="1000"/>
              </a:spcAft>
            </a:pPr>
            <a:r>
              <a:rPr sz="1600" b="0">
                <a:solidFill>
                  <a:srgbClr val="161B26"/>
                </a:solidFill>
                <a:latin typeface="Arial"/>
              </a:rPr>
              <a:t>•  A How Might We question must be neither so narrow it hides the answer nor so broad it invites none.</a:t>
            </a:r>
          </a:p>
          <a:p>
            <a:pPr>
              <a:spcAft>
                <a:spcPts val="1000"/>
              </a:spcAft>
            </a:pPr>
            <a:r>
              <a:rPr sz="1600" b="0">
                <a:solidFill>
                  <a:srgbClr val="161B26"/>
                </a:solidFill>
                <a:latin typeface="Arial"/>
              </a:rPr>
              <a:t>•  Empathy maps expose the gap between what users say and what they do.</a:t>
            </a:r>
          </a:p>
          <a:p>
            <a:pPr>
              <a:spcAft>
                <a:spcPts val="1000"/>
              </a:spcAft>
            </a:pPr>
            <a:r>
              <a:rPr sz="1600" b="0">
                <a:solidFill>
                  <a:srgbClr val="161B26"/>
                </a:solidFill>
                <a:latin typeface="Arial"/>
              </a:rPr>
              <a:t>•  Diverge with volume, converge with judgement — and never let AI anchor the room first.</a:t>
            </a:r>
          </a:p>
          <a:p>
            <a:pPr>
              <a:spcAft>
                <a:spcPts val="1000"/>
              </a:spcAft>
            </a:pPr>
            <a:r>
              <a:rPr sz="1600" b="0">
                <a:solidFill>
                  <a:srgbClr val="161B26"/>
                </a:solidFill>
                <a:latin typeface="Arial"/>
              </a:rPr>
              <a:t>•  A prototype exists to be proven wrong cheaply, not to look finished.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DAY 1 CLOSE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End of Day 1.</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Tomorrow: how the validated problem becomes a backlog, a sprint, and an innovation the organisation can sustain.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advClick="1">
    <p:push dir="l"/>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Agile Development and AI for Rapid Solution Delivery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Agile mindset · Scrum · Backlogs · User stories · Estimation · Sprints with AI</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advClick="1">
    <p:push dir="l"/>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TOPIC 03 · WHY THIS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most expensive way to test your idea is to build production-quality software.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Jeff Patton — the sentence that justifies every prototype, every discovery cycle and every killed idea.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advClick="1">
    <p:push dir="l"/>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DISTINCTION THAT DECIDES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Being Agile vs Doing Agile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Doing Agile (the rituals)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Being Agile (the mindset)</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Stand-up</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status report to the manager</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team re-plans its own day</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Backlog</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queue of requirements handed down</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living, validated set of bets</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Sprint review</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demo performed for stakeholders</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genuine request for disconfirming feedback</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Retrospective</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meeting that produces a tidy list</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team says the uncomfortable thing and changes something</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Change request</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disruption to be resisted</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New information to be welcomed and evaluated</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Velocity</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productivity target imposed on the team</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planning input owned by the team</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Practices without principles are a short-lived Band-Aid; principles without practices are a fruitless exercise in philosophy.</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AGILE FRAMEWORKS FOR INNOVATION PROJECTS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Scrum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crum-loop.png"/>
          <p:cNvPicPr>
            <a:picLocks noChangeAspect="1"/>
          </p:cNvPicPr>
          <p:nvPr/>
        </p:nvPicPr>
        <p:blipFill>
          <a:blip r:embed="rId2"/>
          <a:stretch>
            <a:fillRect/>
          </a:stretch>
        </p:blipFill>
        <p:spPr>
          <a:xfrm>
            <a:off x="1163293" y="1783080"/>
            <a:ext cx="9862365" cy="3977639"/>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70448"/>
            <a:ext cx="8229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943600"/>
            <a:ext cx="10222992" cy="329184"/>
          </a:xfrm>
          <a:prstGeom prst="rect">
            <a:avLst/>
          </a:prstGeom>
          <a:noFill/>
        </p:spPr>
        <p:txBody>
          <a:bodyPr wrap="square" anchor="t">
            <a:spAutoFit/>
          </a:bodyPr>
          <a:lstStyle/>
          <a:p>
            <a:pPr algn="l">
              <a:spcAft>
                <a:spcPts val="400"/>
              </a:spcAft>
            </a:pPr>
            <a:r>
              <a:rPr sz="1250" b="0">
                <a:solidFill>
                  <a:srgbClr val="161B26"/>
                </a:solidFill>
                <a:latin typeface="Arial"/>
              </a:rPr>
              <a:t>Scrum delivers the highest value in the shortest time through transparency, inspection and adaptation.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DOES WHAT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Scrum Team — Three Accountabilities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Product Owner</a:t>
            </a:r>
          </a:p>
          <a:p>
            <a:pPr algn="l">
              <a:spcAft>
                <a:spcPts val="300"/>
              </a:spcAft>
            </a:pPr>
            <a:r>
              <a:rPr sz="1150" b="0">
                <a:solidFill>
                  <a:srgbClr val="5B6372"/>
                </a:solidFill>
                <a:latin typeface="Arial"/>
              </a:rPr>
              <a:t>Owns the product vision and the backlog; the final decision-maker on priority. Owns the WHAT.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Scrum Master</a:t>
            </a:r>
          </a:p>
          <a:p>
            <a:pPr algn="l">
              <a:spcAft>
                <a:spcPts val="300"/>
              </a:spcAft>
            </a:pPr>
            <a:r>
              <a:rPr sz="1150" b="0">
                <a:solidFill>
                  <a:srgbClr val="5B6372"/>
                </a:solidFill>
                <a:latin typeface="Arial"/>
              </a:rPr>
              <a:t>Enables the process, removes impediments, protects the team's focus, coaches the practice.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Developers</a:t>
            </a:r>
          </a:p>
          <a:p>
            <a:pPr algn="l">
              <a:spcAft>
                <a:spcPts val="300"/>
              </a:spcAft>
            </a:pPr>
            <a:r>
              <a:rPr sz="1150" b="0">
                <a:solidFill>
                  <a:srgbClr val="5B6372"/>
                </a:solidFill>
                <a:latin typeface="Arial"/>
              </a:rPr>
              <a:t>The cross-functional group who build the increment. Self-organising; they own the HOW.</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Team size</a:t>
            </a:r>
          </a:p>
          <a:p>
            <a:pPr algn="l">
              <a:spcAft>
                <a:spcPts val="300"/>
              </a:spcAft>
            </a:pPr>
            <a:r>
              <a:rPr sz="1150" b="0">
                <a:solidFill>
                  <a:srgbClr val="5B6372"/>
                </a:solidFill>
                <a:latin typeface="Arial"/>
              </a:rPr>
              <a:t>Small enough to stay coordinated — typically around seven people, plus or minus two.</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Cross-functional</a:t>
            </a:r>
          </a:p>
          <a:p>
            <a:pPr algn="l">
              <a:spcAft>
                <a:spcPts val="300"/>
              </a:spcAft>
            </a:pPr>
            <a:r>
              <a:rPr sz="1150" b="0">
                <a:solidFill>
                  <a:srgbClr val="5B6372"/>
                </a:solidFill>
                <a:latin typeface="Arial"/>
              </a:rPr>
              <a:t>The team contains every skill needed to produce a done increment without external handoff.</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Self-managing</a:t>
            </a:r>
          </a:p>
          <a:p>
            <a:pPr algn="l">
              <a:spcAft>
                <a:spcPts val="300"/>
              </a:spcAft>
            </a:pPr>
            <a:r>
              <a:rPr sz="1150" b="0">
                <a:solidFill>
                  <a:srgbClr val="5B6372"/>
                </a:solidFill>
                <a:latin typeface="Arial"/>
              </a:rPr>
              <a:t>The team decides how the work gets done; nobody outside it assigns tasks to individuals.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OPERATING MODEL OF MODERN PRODUCT TEAMS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Dual-Track Agile — Discovery and Delivery Together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ual-track-agile.png"/>
          <p:cNvPicPr>
            <a:picLocks noChangeAspect="1"/>
          </p:cNvPicPr>
          <p:nvPr/>
        </p:nvPicPr>
        <p:blipFill>
          <a:blip r:embed="rId2"/>
          <a:stretch>
            <a:fillRect/>
          </a:stretch>
        </p:blipFill>
        <p:spPr>
          <a:xfrm>
            <a:off x="1614302" y="1783080"/>
            <a:ext cx="8960347" cy="3977639"/>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70448"/>
            <a:ext cx="8229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943600"/>
            <a:ext cx="10222992" cy="329184"/>
          </a:xfrm>
          <a:prstGeom prst="rect">
            <a:avLst/>
          </a:prstGeom>
          <a:noFill/>
        </p:spPr>
        <p:txBody>
          <a:bodyPr wrap="square" anchor="t">
            <a:spAutoFit/>
          </a:bodyPr>
          <a:lstStyle/>
          <a:p>
            <a:pPr algn="l">
              <a:spcAft>
                <a:spcPts val="400"/>
              </a:spcAft>
            </a:pPr>
            <a:r>
              <a:rPr sz="1250" b="0">
                <a:solidFill>
                  <a:srgbClr val="161B26"/>
                </a:solidFill>
                <a:latin typeface="Arial"/>
              </a:rPr>
              <a:t>Discovery asks 'should we build this?'; delivery asks 'how do we build it well?' — one team, two tracks, running at once.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JEFF PATTON · CORRECTING THE RECORD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Four Myths About Dual-Track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'Discovery comes first, then delivery'</a:t>
            </a:r>
          </a:p>
          <a:p>
            <a:pPr algn="l">
              <a:spcAft>
                <a:spcPts val="300"/>
              </a:spcAft>
            </a:pPr>
            <a:r>
              <a:rPr sz="1150" b="0">
                <a:solidFill>
                  <a:srgbClr val="5B6372"/>
                </a:solidFill>
                <a:latin typeface="Arial"/>
              </a:rPr>
              <a:t>No — both run continuously and simultaneously within the same team.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'Everything flows discovery → delivery'</a:t>
            </a:r>
          </a:p>
          <a:p>
            <a:pPr algn="l">
              <a:spcAft>
                <a:spcPts val="300"/>
              </a:spcAft>
            </a:pPr>
            <a:r>
              <a:rPr sz="1150" b="0">
                <a:solidFill>
                  <a:srgbClr val="5B6372"/>
                </a:solidFill>
                <a:latin typeface="Arial"/>
              </a:rPr>
              <a:t>No — most ideas are changed or killed during discovery. That is the point.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'They are separate teams'</a:t>
            </a:r>
          </a:p>
          <a:p>
            <a:pPr algn="l">
              <a:spcAft>
                <a:spcPts val="300"/>
              </a:spcAft>
            </a:pPr>
            <a:r>
              <a:rPr sz="1150" b="0">
                <a:solidFill>
                  <a:srgbClr val="5B6372"/>
                </a:solidFill>
                <a:latin typeface="Arial"/>
              </a:rPr>
              <a:t>No — a trio may lead discovery, but the whole team participates in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'Discovery ends at launch'</a:t>
            </a:r>
          </a:p>
          <a:p>
            <a:pPr algn="l">
              <a:spcAft>
                <a:spcPts val="300"/>
              </a:spcAft>
            </a:pPr>
            <a:r>
              <a:rPr sz="1150" b="0">
                <a:solidFill>
                  <a:srgbClr val="5B6372"/>
                </a:solidFill>
                <a:latin typeface="Arial"/>
              </a:rPr>
              <a:t>No — keep measuring and learning after you ship; that is when reality arrives.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MARTY CAGAN · THE COMMON ANTI-PATTERN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Beware the mini-waterfall inside your sprint.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PM writes requirements → hands to a designer → hands to the delivery team. Each handoff looks like collaboration and is actually a queue.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advClick="1">
    <p:push dir="l"/>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CONVERTING IDEAS INTO AGILE ARTEFACTS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From Idea to Task — the Decomposition Ladder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Level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it is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Example</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Epic</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 large body of work spanning many sprints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Self-service health screening</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Feature</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 coherent capability within an epic</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Appointment booking without a call centre</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Hill</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An outcome statement: as a [who], I want [what], so that [wow]</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As a first-time patient, I can book a screening in under 3 minutes, so that I never need to phone.</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User story</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 small unit of value: as a [user], I want [goal], so that [reason]</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As a patient, I want to see the next three available slots so that I can choose quickly.</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Task</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work needed to deliver the story</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Build the slot-availability API endpoint.</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 Hill states the outcome and the 'wow'; a user story states the function. Teach both — they do different jobs.</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RON JEFFRIES · THE 3 C's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User Stories — the Three 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Card</a:t>
            </a:r>
          </a:p>
          <a:p>
            <a:pPr algn="l">
              <a:spcAft>
                <a:spcPts val="300"/>
              </a:spcAft>
            </a:pPr>
            <a:r>
              <a:rPr sz="1150" b="0">
                <a:solidFill>
                  <a:srgbClr val="5B6372"/>
                </a:solidFill>
                <a:latin typeface="Arial"/>
              </a:rPr>
              <a:t>The story is written small, on a card. Its size is a deliberate constraint on scope.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Conversation</a:t>
            </a:r>
          </a:p>
          <a:p>
            <a:pPr algn="l">
              <a:spcAft>
                <a:spcPts val="300"/>
              </a:spcAft>
            </a:pPr>
            <a:r>
              <a:rPr sz="1150" b="0">
                <a:solidFill>
                  <a:srgbClr val="5B6372"/>
                </a:solidFill>
                <a:latin typeface="Arial"/>
              </a:rPr>
              <a:t>The card is a promise to have a conversation — the detail lives in the discussion, not the text.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Confirmation</a:t>
            </a:r>
          </a:p>
          <a:p>
            <a:pPr algn="l">
              <a:spcAft>
                <a:spcPts val="300"/>
              </a:spcAft>
            </a:pPr>
            <a:r>
              <a:rPr sz="1150" b="0">
                <a:solidFill>
                  <a:srgbClr val="5B6372"/>
                </a:solidFill>
                <a:latin typeface="Arial"/>
              </a:rPr>
              <a:t>Acceptance criteria define how you will know it is done. Testable, not restated.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The common failure</a:t>
            </a:r>
          </a:p>
          <a:p>
            <a:pPr algn="l">
              <a:spcAft>
                <a:spcPts val="300"/>
              </a:spcAft>
            </a:pPr>
            <a:r>
              <a:rPr sz="1150" b="0">
                <a:solidFill>
                  <a:srgbClr val="5B6372"/>
                </a:solidFill>
                <a:latin typeface="Arial"/>
              </a:rPr>
              <a:t>Acceptance criteria that merely repeat the story. If it cannot fail a test, it is not a criterion.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IBM DESIGN THINKING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Release Prioritisation — The Three-Cake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ake-releases.png"/>
          <p:cNvPicPr>
            <a:picLocks noChangeAspect="1"/>
          </p:cNvPicPr>
          <p:nvPr/>
        </p:nvPicPr>
        <p:blipFill>
          <a:blip r:embed="rId2"/>
          <a:stretch>
            <a:fillRect/>
          </a:stretch>
        </p:blipFill>
        <p:spPr>
          <a:xfrm>
            <a:off x="1744328" y="1783080"/>
            <a:ext cx="8700296" cy="3977639"/>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70448"/>
            <a:ext cx="82296"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943600"/>
            <a:ext cx="10222992" cy="329184"/>
          </a:xfrm>
          <a:prstGeom prst="rect">
            <a:avLst/>
          </a:prstGeom>
          <a:noFill/>
        </p:spPr>
        <p:txBody>
          <a:bodyPr wrap="square" anchor="t">
            <a:spAutoFit/>
          </a:bodyPr>
          <a:lstStyle/>
          <a:p>
            <a:pPr algn="l">
              <a:spcAft>
                <a:spcPts val="400"/>
              </a:spcAft>
            </a:pPr>
            <a:r>
              <a:rPr sz="1250" b="0">
                <a:solidFill>
                  <a:srgbClr val="161B26"/>
                </a:solidFill>
                <a:latin typeface="Arial"/>
              </a:rPr>
              <a:t>Every release must be a whole cake at its own scale. A slice of an unfinished wedding cake is not a smaller product — it is a broken 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ESTIMATION THAT SURVIVES CONTACT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Agile Estimation — Story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Size, not duration</a:t>
            </a:r>
          </a:p>
          <a:p>
            <a:pPr algn="l">
              <a:spcAft>
                <a:spcPts val="300"/>
              </a:spcAft>
            </a:pPr>
            <a:r>
              <a:rPr sz="1150" b="0">
                <a:solidFill>
                  <a:srgbClr val="5B6372"/>
                </a:solidFill>
                <a:latin typeface="Arial"/>
              </a:rPr>
              <a:t>Points measure relative complexity and effort, not hours. Duration is derived later from velocity.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Relative, not absolute</a:t>
            </a:r>
          </a:p>
          <a:p>
            <a:pPr algn="l">
              <a:spcAft>
                <a:spcPts val="300"/>
              </a:spcAft>
            </a:pPr>
            <a:r>
              <a:rPr sz="1150" b="0">
                <a:solidFill>
                  <a:srgbClr val="5B6372"/>
                </a:solidFill>
                <a:latin typeface="Arial"/>
              </a:rPr>
              <a:t>Humans compare well and predict poorly — 'this is twice that' beats 'this takes six hours'.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A constrained scale</a:t>
            </a:r>
          </a:p>
          <a:p>
            <a:pPr algn="l">
              <a:spcAft>
                <a:spcPts val="300"/>
              </a:spcAft>
            </a:pPr>
            <a:r>
              <a:rPr sz="1150" b="0">
                <a:solidFill>
                  <a:srgbClr val="5B6372"/>
                </a:solidFill>
                <a:latin typeface="Arial"/>
              </a:rPr>
              <a:t>Fibonacci-like values (1, 2, 3, 5, 8, 13) force meaningful distinctions between sizes.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Additive</a:t>
            </a:r>
          </a:p>
          <a:p>
            <a:pPr algn="l">
              <a:spcAft>
                <a:spcPts val="300"/>
              </a:spcAft>
            </a:pPr>
            <a:r>
              <a:rPr sz="1150" b="0">
                <a:solidFill>
                  <a:srgbClr val="5B6372"/>
                </a:solidFill>
                <a:latin typeface="Arial"/>
              </a:rPr>
              <a:t>Points can be summed across stories; time-based estimates cannot be summed honestly.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Velocity from done work</a:t>
            </a:r>
          </a:p>
          <a:p>
            <a:pPr algn="l">
              <a:spcAft>
                <a:spcPts val="300"/>
              </a:spcAft>
            </a:pPr>
            <a:r>
              <a:rPr sz="1150" b="0">
                <a:solidFill>
                  <a:srgbClr val="5B6372"/>
                </a:solidFill>
                <a:latin typeface="Arial"/>
              </a:rPr>
              <a:t>Only fully 'done, done' stories count. Partial credit destroys the signal.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Planning Poker</a:t>
            </a:r>
          </a:p>
          <a:p>
            <a:pPr algn="l">
              <a:spcAft>
                <a:spcPts val="300"/>
              </a:spcAft>
            </a:pPr>
            <a:r>
              <a:rPr sz="1150" b="0">
                <a:solidFill>
                  <a:srgbClr val="5B6372"/>
                </a:solidFill>
                <a:latin typeface="Arial"/>
              </a:rPr>
              <a:t>Estimate privately, reveal together, discuss the outliers — that discussion is the real value.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FASTER ITERATIONS WITHOUT LOSING THE DECISION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GenAI Across the Sprint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Backlog drafting</a:t>
            </a:r>
          </a:p>
          <a:p>
            <a:pPr algn="l">
              <a:spcAft>
                <a:spcPts val="300"/>
              </a:spcAft>
            </a:pPr>
            <a:r>
              <a:rPr sz="1150" b="0">
                <a:solidFill>
                  <a:srgbClr val="5B6372"/>
                </a:solidFill>
                <a:latin typeface="Arial"/>
              </a:rPr>
              <a:t>Generate candidate stories and acceptance criteria from a Hill in seconds — then cut what is unvalidated.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Backlog grooming</a:t>
            </a:r>
          </a:p>
          <a:p>
            <a:pPr algn="l">
              <a:spcAft>
                <a:spcPts val="300"/>
              </a:spcAft>
            </a:pPr>
            <a:r>
              <a:rPr sz="1150" b="0">
                <a:solidFill>
                  <a:srgbClr val="5B6372"/>
                </a:solidFill>
                <a:latin typeface="Arial"/>
              </a:rPr>
              <a:t>Flag duplicates and related items across a large backlog faster than a human scan.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Test data</a:t>
            </a:r>
          </a:p>
          <a:p>
            <a:pPr algn="l">
              <a:spcAft>
                <a:spcPts val="300"/>
              </a:spcAft>
            </a:pPr>
            <a:r>
              <a:rPr sz="1150" b="0">
                <a:solidFill>
                  <a:srgbClr val="5B6372"/>
                </a:solidFill>
                <a:latin typeface="Arial"/>
              </a:rPr>
              <a:t>Generate realistic edge-case data sets for testing without exposing real customer records.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Retro synthesis</a:t>
            </a:r>
          </a:p>
          <a:p>
            <a:pPr algn="l">
              <a:spcAft>
                <a:spcPts val="300"/>
              </a:spcAft>
            </a:pPr>
            <a:r>
              <a:rPr sz="1150" b="0">
                <a:solidFill>
                  <a:srgbClr val="5B6372"/>
                </a:solidFill>
                <a:latin typeface="Arial"/>
              </a:rPr>
              <a:t>Cluster retrospective themes across many notes — after the team has spoken, never instead of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Sprint reporting</a:t>
            </a:r>
          </a:p>
          <a:p>
            <a:pPr algn="l">
              <a:spcAft>
                <a:spcPts val="300"/>
              </a:spcAft>
            </a:pPr>
            <a:r>
              <a:rPr sz="1150" b="0">
                <a:solidFill>
                  <a:srgbClr val="5B6372"/>
                </a:solidFill>
                <a:latin typeface="Arial"/>
              </a:rPr>
              <a:t>Draft the summary so the Scrum Master spends the time on impediments, not formatting.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Where it must not run</a:t>
            </a:r>
          </a:p>
          <a:p>
            <a:pPr algn="l">
              <a:spcAft>
                <a:spcPts val="300"/>
              </a:spcAft>
            </a:pPr>
            <a:r>
              <a:rPr sz="1150" b="0">
                <a:solidFill>
                  <a:srgbClr val="5B6372"/>
                </a:solidFill>
                <a:latin typeface="Arial"/>
              </a:rPr>
              <a:t>Prioritisation, the disruption decision, and the retrospective conversation itself.</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REAL-WORLD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Spotify — Reading a Scaling Model Honestly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19656"/>
            <a:ext cx="10241280" cy="310896"/>
          </a:xfrm>
          <a:prstGeom prst="rect">
            <a:avLst/>
          </a:prstGeom>
          <a:noFill/>
        </p:spPr>
        <p:txBody>
          <a:bodyPr wrap="square" anchor="t">
            <a:spAutoFit/>
          </a:bodyPr>
          <a:lstStyle/>
          <a:p>
            <a:pPr algn="l">
              <a:spcAft>
                <a:spcPts val="400"/>
              </a:spcAft>
            </a:pPr>
            <a:r>
              <a:rPr sz="1250" b="1">
                <a:solidFill>
                  <a:srgbClr val="FFFFFF"/>
                </a:solidFill>
                <a:latin typeface="Arial"/>
              </a:rPr>
              <a:t>ACTIVITY 7  ·  45 MIN</a:t>
            </a:r>
          </a:p>
        </p:txBody>
      </p:sp>
      <p:sp>
        <p:nvSpPr>
          <p:cNvPr id="9" name="Rectangle 8"/>
          <p:cNvSpPr/>
          <p:nvPr/>
        </p:nvSpPr>
        <p:spPr>
          <a:xfrm>
            <a:off x="777240" y="2240280"/>
            <a:ext cx="653796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395728"/>
            <a:ext cx="6126480" cy="310896"/>
          </a:xfrm>
          <a:prstGeom prst="rect">
            <a:avLst/>
          </a:prstGeom>
          <a:noFill/>
        </p:spPr>
        <p:txBody>
          <a:bodyPr wrap="square" anchor="t">
            <a:spAutoFit/>
          </a:bodyPr>
          <a:lstStyle/>
          <a:p>
            <a:pPr algn="l">
              <a:spcAft>
                <a:spcPts val="400"/>
              </a:spcAft>
            </a:pPr>
            <a:r>
              <a:rPr sz="1200" b="1">
                <a:solidFill>
                  <a:srgbClr val="1F6FEB"/>
                </a:solidFill>
                <a:latin typeface="Arial"/>
              </a:rPr>
              <a:t>THE REAL CASE</a:t>
            </a:r>
          </a:p>
        </p:txBody>
      </p:sp>
      <p:sp>
        <p:nvSpPr>
          <p:cNvPr id="11" name="TextBox 10"/>
          <p:cNvSpPr txBox="1"/>
          <p:nvPr/>
        </p:nvSpPr>
        <p:spPr>
          <a:xfrm>
            <a:off x="987552" y="2743200"/>
            <a:ext cx="6144768" cy="2468880"/>
          </a:xfrm>
          <a:prstGeom prst="rect">
            <a:avLst/>
          </a:prstGeom>
          <a:noFill/>
        </p:spPr>
        <p:txBody>
          <a:bodyPr wrap="square" anchor="t">
            <a:spAutoFit/>
          </a:bodyPr>
          <a:lstStyle/>
          <a:p>
            <a:pPr algn="l">
              <a:spcAft>
                <a:spcPts val="400"/>
              </a:spcAft>
            </a:pPr>
            <a:r>
              <a:rPr sz="1150" b="0">
                <a:solidFill>
                  <a:srgbClr val="161B26"/>
                </a:solidFill>
                <a:latin typeface="Arial"/>
              </a:rPr>
              <a:t>In 2012 Henrik Kniberg and Anders Ivarsson published a paper describing how Spotify organised engineering into Squads, Tribes, Chapters and Guilds. It spread worldwide as 'the Spotify Model' and was copied by hundreds of organisations. What most of those organisations missed was the disclaimer in the paper itself: it was a snapshot of a journey, not a framework, and Spotify had already moved on. Kniberg later stated plainly that Spotify does not use 'the Spotify Model' and that people should not copy it. Organisations that copied the structure — renaming teams 'squads' and departments 'tribes' — routinely failed to copy the culture of trust and autonomy that made it work, and ended up with the same hierarchy under new labels. The lesson: practices without principles are a short-lived Band-Aid.</a:t>
            </a:r>
          </a:p>
        </p:txBody>
      </p:sp>
      <p:sp>
        <p:nvSpPr>
          <p:cNvPr id="12" name="Rectangle 11"/>
          <p:cNvSpPr/>
          <p:nvPr/>
        </p:nvSpPr>
        <p:spPr>
          <a:xfrm>
            <a:off x="7635240" y="2240280"/>
            <a:ext cx="3776472" cy="306324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35240" y="2240280"/>
            <a:ext cx="377647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45552" y="2432304"/>
            <a:ext cx="3383280" cy="310896"/>
          </a:xfrm>
          <a:prstGeom prst="rect">
            <a:avLst/>
          </a:prstGeom>
          <a:noFill/>
        </p:spPr>
        <p:txBody>
          <a:bodyPr wrap="square" anchor="t">
            <a:spAutoFit/>
          </a:bodyPr>
          <a:lstStyle/>
          <a:p>
            <a:pPr algn="l">
              <a:spcAft>
                <a:spcPts val="400"/>
              </a:spcAft>
            </a:pPr>
            <a:r>
              <a:rPr sz="1200" b="1">
                <a:solidFill>
                  <a:srgbClr val="10B981"/>
                </a:solidFill>
                <a:latin typeface="Arial"/>
              </a:rPr>
              <a:t>YOUR SCENARIO</a:t>
            </a:r>
          </a:p>
        </p:txBody>
      </p:sp>
      <p:sp>
        <p:nvSpPr>
          <p:cNvPr id="15" name="TextBox 14"/>
          <p:cNvSpPr txBox="1"/>
          <p:nvPr/>
        </p:nvSpPr>
        <p:spPr>
          <a:xfrm>
            <a:off x="7845552" y="2779776"/>
            <a:ext cx="3401568" cy="2377440"/>
          </a:xfrm>
          <a:prstGeom prst="rect">
            <a:avLst/>
          </a:prstGeom>
          <a:noFill/>
        </p:spPr>
        <p:txBody>
          <a:bodyPr wrap="square" anchor="t">
            <a:spAutoFit/>
          </a:bodyPr>
          <a:lstStyle/>
          <a:p>
            <a:pPr algn="l">
              <a:spcAft>
                <a:spcPts val="400"/>
              </a:spcAft>
            </a:pPr>
            <a:r>
              <a:rPr sz="1150" b="0">
                <a:solidFill>
                  <a:srgbClr val="161B26"/>
                </a:solidFill>
                <a:latin typeface="Arial"/>
              </a:rPr>
              <a:t>Your management team has returned from a conference and wants to 'implement the Spotify Model' across three departments by the end of the quarter. You have been asked to write the implementation plan.</a:t>
            </a:r>
          </a:p>
        </p:txBody>
      </p:sp>
      <p:sp>
        <p:nvSpPr>
          <p:cNvPr id="16" name="Rectangle 15"/>
          <p:cNvSpPr/>
          <p:nvPr/>
        </p:nvSpPr>
        <p:spPr>
          <a:xfrm>
            <a:off x="777240" y="5440680"/>
            <a:ext cx="10634472"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440680"/>
            <a:ext cx="8229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541264"/>
            <a:ext cx="10241280" cy="420624"/>
          </a:xfrm>
          <a:prstGeom prst="rect">
            <a:avLst/>
          </a:prstGeom>
          <a:noFill/>
        </p:spPr>
        <p:txBody>
          <a:bodyPr wrap="square" anchor="t">
            <a:spAutoFit/>
          </a:bodyPr>
          <a:lstStyle/>
          <a:p>
            <a:pPr algn="l">
              <a:spcAft>
                <a:spcPts val="400"/>
              </a:spcAft>
            </a:pPr>
            <a:r>
              <a:rPr sz="1150" b="0">
                <a:solidFill>
                  <a:srgbClr val="5B6372"/>
                </a:solidFill>
                <a:latin typeface="Arial"/>
              </a:rPr>
              <a:t>Full case, discussion questions and debrief: see the Learner Guide and the printed activity brief.</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7 · WORK IN GROUPS OF 3–5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7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509760" y="566928"/>
            <a:ext cx="1901952"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0" y="621792"/>
            <a:ext cx="1901952" cy="310896"/>
          </a:xfrm>
          <a:prstGeom prst="rect">
            <a:avLst/>
          </a:prstGeom>
          <a:noFill/>
        </p:spPr>
        <p:txBody>
          <a:bodyPr wrap="square" anchor="t">
            <a:spAutoFit/>
          </a:bodyPr>
          <a:lstStyle/>
          <a:p>
            <a:pPr algn="ctr">
              <a:spcAft>
                <a:spcPts val="400"/>
              </a:spcAft>
            </a:pPr>
            <a:r>
              <a:rPr sz="1200" b="1">
                <a:solidFill>
                  <a:srgbClr val="FFFFFF"/>
                </a:solidFill>
                <a:latin typeface="Arial"/>
              </a:rPr>
              <a:t>45 MIN</a:t>
            </a:r>
          </a:p>
        </p:txBody>
      </p:sp>
      <p:sp>
        <p:nvSpPr>
          <p:cNvPr id="9" name="Rectangle 8"/>
          <p:cNvSpPr/>
          <p:nvPr/>
        </p:nvSpPr>
        <p:spPr>
          <a:xfrm>
            <a:off x="777240" y="1783080"/>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4128" y="1922983"/>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298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3" name="TextBox 12"/>
          <p:cNvSpPr txBox="1"/>
          <p:nvPr/>
        </p:nvSpPr>
        <p:spPr>
          <a:xfrm>
            <a:off x="1691640" y="1856232"/>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Spotify's own authors say do not copy it. Why did hundreds of organisations copy it anyway?</a:t>
            </a:r>
          </a:p>
        </p:txBody>
      </p:sp>
      <p:sp>
        <p:nvSpPr>
          <p:cNvPr id="14" name="Rectangle 13"/>
          <p:cNvSpPr/>
          <p:nvPr/>
        </p:nvSpPr>
        <p:spPr>
          <a:xfrm>
            <a:off x="777240" y="2684678"/>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84678"/>
            <a:ext cx="82296" cy="7370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4128" y="282458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282458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757830"/>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Separate the list: which parts of the model are structures (copyable) and which are cultures (not directly copyable)?</a:t>
            </a:r>
          </a:p>
        </p:txBody>
      </p:sp>
      <p:sp>
        <p:nvSpPr>
          <p:cNvPr id="19" name="Rectangle 18"/>
          <p:cNvSpPr/>
          <p:nvPr/>
        </p:nvSpPr>
        <p:spPr>
          <a:xfrm>
            <a:off x="777240" y="3586276"/>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24128" y="3726179"/>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372617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3659428"/>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'Practices without principles are a short-lived Band-Aid. And principles without practices are a fruitless exercise in philosophy.' Give a workplace example of each failure mode.</a:t>
            </a:r>
          </a:p>
        </p:txBody>
      </p:sp>
      <p:sp>
        <p:nvSpPr>
          <p:cNvPr id="24" name="Rectangle 23"/>
          <p:cNvSpPr/>
          <p:nvPr/>
        </p:nvSpPr>
        <p:spPr>
          <a:xfrm>
            <a:off x="777240" y="4487874"/>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487874"/>
            <a:ext cx="82296" cy="7370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24128" y="4627777"/>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 y="462777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1691640" y="4561026"/>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Your management wants it done by Q4. Write the one question that reframes the request without being insubordinate.</a:t>
            </a:r>
          </a:p>
        </p:txBody>
      </p:sp>
      <p:sp>
        <p:nvSpPr>
          <p:cNvPr id="29" name="Rectangle 28"/>
          <p:cNvSpPr/>
          <p:nvPr/>
        </p:nvSpPr>
        <p:spPr>
          <a:xfrm>
            <a:off x="777240" y="5389472"/>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4128" y="5529375"/>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4128" y="5529375"/>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3" name="TextBox 32"/>
          <p:cNvSpPr txBox="1"/>
          <p:nvPr/>
        </p:nvSpPr>
        <p:spPr>
          <a:xfrm>
            <a:off x="1691640" y="5462624"/>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How might GenAI help you assess organisational readiness before a rollout — and what would it get wrong?</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7 — What You Produce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Your task</a:t>
            </a:r>
          </a:p>
          <a:p>
            <a:pPr algn="l">
              <a:spcAft>
                <a:spcPts val="300"/>
              </a:spcAft>
            </a:pPr>
            <a:r>
              <a:rPr sz="1150" b="0">
                <a:solidFill>
                  <a:srgbClr val="5B6372"/>
                </a:solidFill>
                <a:latin typeface="Arial"/>
              </a:rPr>
              <a:t>Learners examine the most-copied agile scaling model in the industry and diagnose why structural copying fails, then distinguish the transferable principles from the non-transferable artefacts — the core skill in leading design thinking and agile projects across an organisation.</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 will produce</a:t>
            </a:r>
          </a:p>
          <a:p>
            <a:pPr algn="l">
              <a:spcAft>
                <a:spcPts val="300"/>
              </a:spcAft>
            </a:pPr>
            <a:r>
              <a:rPr sz="1150" b="0">
                <a:solidFill>
                  <a:srgbClr val="5B6372"/>
                </a:solidFill>
                <a:latin typeface="Arial"/>
              </a:rPr>
              <a:t>A Padlet board separating Spotify's transferable principles from its non-transferable structures, and a one-page counter-proposal to the 'implement it by Q4' instruction.</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Tools</a:t>
            </a:r>
          </a:p>
          <a:p>
            <a:pPr algn="l">
              <a:spcAft>
                <a:spcPts val="300"/>
              </a:spcAft>
            </a:pPr>
            <a:r>
              <a:rPr sz="1150" b="0">
                <a:solidFill>
                  <a:srgbClr val="5B6372"/>
                </a:solidFill>
                <a:latin typeface="Arial"/>
              </a:rPr>
              <a:t>Padlet Classroom Board, ChatGPT or Microsoft Copilot</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Done when</a:t>
            </a:r>
          </a:p>
          <a:p>
            <a:pPr algn="l">
              <a:spcAft>
                <a:spcPts val="300"/>
              </a:spcAft>
            </a:pPr>
            <a:r>
              <a:rPr sz="1150" b="0">
                <a:solidFill>
                  <a:srgbClr val="5B6372"/>
                </a:solidFill>
                <a:latin typeface="Arial"/>
              </a:rPr>
              <a:t>Your board cleanly separates structure from principle, and your counter-proposal names one team, one outcome and one metric rather than an organisation-wide rollout.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TRAINER DEBRIEF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7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011680"/>
            <a:ext cx="10058400" cy="365760"/>
          </a:xfrm>
          <a:prstGeom prst="rect">
            <a:avLst/>
          </a:prstGeom>
          <a:noFill/>
        </p:spPr>
        <p:txBody>
          <a:bodyPr wrap="square" anchor="t">
            <a:spAutoFit/>
          </a:bodyPr>
          <a:lstStyle/>
          <a:p>
            <a:pPr algn="l">
              <a:spcAft>
                <a:spcPts val="400"/>
              </a:spcAft>
            </a:pPr>
            <a:r>
              <a:rPr sz="1250" b="1">
                <a:solidFill>
                  <a:srgbClr val="10B981"/>
                </a:solidFill>
                <a:latin typeface="Arial"/>
              </a:rPr>
              <a:t>WHAT THE ROOM SHOULD CONCLUDE</a:t>
            </a:r>
          </a:p>
        </p:txBody>
      </p:sp>
      <p:sp>
        <p:nvSpPr>
          <p:cNvPr id="10" name="TextBox 9"/>
          <p:cNvSpPr txBox="1"/>
          <p:nvPr/>
        </p:nvSpPr>
        <p:spPr>
          <a:xfrm>
            <a:off x="1143000" y="2468880"/>
            <a:ext cx="10076688" cy="3429000"/>
          </a:xfrm>
          <a:prstGeom prst="rect">
            <a:avLst/>
          </a:prstGeom>
          <a:noFill/>
        </p:spPr>
        <p:txBody>
          <a:bodyPr wrap="square" anchor="t">
            <a:spAutoFit/>
          </a:bodyPr>
          <a:lstStyle/>
          <a:p>
            <a:pPr algn="l">
              <a:spcAft>
                <a:spcPts val="400"/>
              </a:spcAft>
            </a:pPr>
            <a:r>
              <a:rPr sz="1300" b="0">
                <a:solidFill>
                  <a:srgbClr val="161B26"/>
                </a:solidFill>
                <a:latin typeface="Arial"/>
              </a:rPr>
              <a:t>Renaming a department a 'tribe' changes nothing; devolving budget authority to it changes everything. The copyable parts are the visible artefacts — squad names, chapter structures, guild meetings. The parts that actually generated the results are autonomy backed by real decision rights, alignment through a clear mission, and a tolerance for teams choosing different practices. Those cannot be installed by reorganisation chart. The professional move when handed 'implement it by Q4' is not refusal but reframing: ask what outcome the leadership team actually wants — faster delivery, better retention, fewer handoffs — and then propose the smallest change that could plausibly move it, run in one team first. PremierAgile's guidance applies directly: start small, low-risk and high-value, one to three attempts before scaling.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REAL-WORLD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From Hills to Backlog — Converting Ideas into Stories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19656"/>
            <a:ext cx="10241280" cy="310896"/>
          </a:xfrm>
          <a:prstGeom prst="rect">
            <a:avLst/>
          </a:prstGeom>
          <a:noFill/>
        </p:spPr>
        <p:txBody>
          <a:bodyPr wrap="square" anchor="t">
            <a:spAutoFit/>
          </a:bodyPr>
          <a:lstStyle/>
          <a:p>
            <a:pPr algn="l">
              <a:spcAft>
                <a:spcPts val="400"/>
              </a:spcAft>
            </a:pPr>
            <a:r>
              <a:rPr sz="1250" b="1">
                <a:solidFill>
                  <a:srgbClr val="FFFFFF"/>
                </a:solidFill>
                <a:latin typeface="Arial"/>
              </a:rPr>
              <a:t>ACTIVITY 8  ·  55 MIN</a:t>
            </a:r>
          </a:p>
        </p:txBody>
      </p:sp>
      <p:sp>
        <p:nvSpPr>
          <p:cNvPr id="9" name="Rectangle 8"/>
          <p:cNvSpPr/>
          <p:nvPr/>
        </p:nvSpPr>
        <p:spPr>
          <a:xfrm>
            <a:off x="777240" y="2240280"/>
            <a:ext cx="653796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395728"/>
            <a:ext cx="6126480" cy="310896"/>
          </a:xfrm>
          <a:prstGeom prst="rect">
            <a:avLst/>
          </a:prstGeom>
          <a:noFill/>
        </p:spPr>
        <p:txBody>
          <a:bodyPr wrap="square" anchor="t">
            <a:spAutoFit/>
          </a:bodyPr>
          <a:lstStyle/>
          <a:p>
            <a:pPr algn="l">
              <a:spcAft>
                <a:spcPts val="400"/>
              </a:spcAft>
            </a:pPr>
            <a:r>
              <a:rPr sz="1200" b="1">
                <a:solidFill>
                  <a:srgbClr val="7C3AED"/>
                </a:solidFill>
                <a:latin typeface="Arial"/>
              </a:rPr>
              <a:t>THE REAL CASE</a:t>
            </a:r>
          </a:p>
        </p:txBody>
      </p:sp>
      <p:sp>
        <p:nvSpPr>
          <p:cNvPr id="11" name="TextBox 10"/>
          <p:cNvSpPr txBox="1"/>
          <p:nvPr/>
        </p:nvSpPr>
        <p:spPr>
          <a:xfrm>
            <a:off x="987552" y="2743200"/>
            <a:ext cx="6144768" cy="2468880"/>
          </a:xfrm>
          <a:prstGeom prst="rect">
            <a:avLst/>
          </a:prstGeom>
          <a:noFill/>
        </p:spPr>
        <p:txBody>
          <a:bodyPr wrap="square" anchor="t">
            <a:spAutoFit/>
          </a:bodyPr>
          <a:lstStyle/>
          <a:p>
            <a:pPr algn="l">
              <a:spcAft>
                <a:spcPts val="400"/>
              </a:spcAft>
            </a:pPr>
            <a:r>
              <a:rPr sz="1150" b="0">
                <a:solidFill>
                  <a:srgbClr val="161B26"/>
                </a:solidFill>
                <a:latin typeface="Arial"/>
              </a:rPr>
              <a:t>IBM runs a two-day Design Thinking and Agile workshop in which Day 1 produces 'Hills' — outcome statements in the form 'As a [who], I want [what], so that [wow]' — and Day 2 converts them into 20–30 user stories, prioritises them into three releases and sizes them with Planning Poker. In one documented session, a manufacturing user's need for inventory data started as a vague 'in minutes'. The team pushed until it became '5 minutes', and the justification made the requirement real: the data had to be available before the morning manager meeting. That specificity is what separates an outcome you can test from an aspiration you cannot. IBM prioritises releases as 'Cupcake, Birthday Cake, Wedding Cake' — where the cupcake is a complete, satisfying cake at small scale, not a slice of an unfinished one.</a:t>
            </a:r>
          </a:p>
        </p:txBody>
      </p:sp>
      <p:sp>
        <p:nvSpPr>
          <p:cNvPr id="12" name="Rectangle 11"/>
          <p:cNvSpPr/>
          <p:nvPr/>
        </p:nvSpPr>
        <p:spPr>
          <a:xfrm>
            <a:off x="7635240" y="2240280"/>
            <a:ext cx="3776472" cy="306324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35240" y="2240280"/>
            <a:ext cx="377647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45552" y="2432304"/>
            <a:ext cx="3383280" cy="310896"/>
          </a:xfrm>
          <a:prstGeom prst="rect">
            <a:avLst/>
          </a:prstGeom>
          <a:noFill/>
        </p:spPr>
        <p:txBody>
          <a:bodyPr wrap="square" anchor="t">
            <a:spAutoFit/>
          </a:bodyPr>
          <a:lstStyle/>
          <a:p>
            <a:pPr algn="l">
              <a:spcAft>
                <a:spcPts val="400"/>
              </a:spcAft>
            </a:pPr>
            <a:r>
              <a:rPr sz="1200" b="1">
                <a:solidFill>
                  <a:srgbClr val="10B981"/>
                </a:solidFill>
                <a:latin typeface="Arial"/>
              </a:rPr>
              <a:t>YOUR SCENARIO</a:t>
            </a:r>
          </a:p>
        </p:txBody>
      </p:sp>
      <p:sp>
        <p:nvSpPr>
          <p:cNvPr id="15" name="TextBox 14"/>
          <p:cNvSpPr txBox="1"/>
          <p:nvPr/>
        </p:nvSpPr>
        <p:spPr>
          <a:xfrm>
            <a:off x="7845552" y="2779776"/>
            <a:ext cx="3401568" cy="2377440"/>
          </a:xfrm>
          <a:prstGeom prst="rect">
            <a:avLst/>
          </a:prstGeom>
          <a:noFill/>
        </p:spPr>
        <p:txBody>
          <a:bodyPr wrap="square" anchor="t">
            <a:spAutoFit/>
          </a:bodyPr>
          <a:lstStyle/>
          <a:p>
            <a:pPr algn="l">
              <a:spcAft>
                <a:spcPts val="400"/>
              </a:spcAft>
            </a:pPr>
            <a:r>
              <a:rPr sz="1150" b="0">
                <a:solidFill>
                  <a:srgbClr val="161B26"/>
                </a:solidFill>
                <a:latin typeface="Arial"/>
              </a:rPr>
              <a:t>Take the prototype concept your group validated in Activity 6. Your product trio — product manager, designer, engineer — now has one hour to turn it into a release-one backlog that a delivery team could actually start on Monday.</a:t>
            </a:r>
          </a:p>
        </p:txBody>
      </p:sp>
      <p:sp>
        <p:nvSpPr>
          <p:cNvPr id="16" name="Rectangle 15"/>
          <p:cNvSpPr/>
          <p:nvPr/>
        </p:nvSpPr>
        <p:spPr>
          <a:xfrm>
            <a:off x="777240" y="5440680"/>
            <a:ext cx="10634472"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440680"/>
            <a:ext cx="8229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541264"/>
            <a:ext cx="10241280" cy="420624"/>
          </a:xfrm>
          <a:prstGeom prst="rect">
            <a:avLst/>
          </a:prstGeom>
          <a:noFill/>
        </p:spPr>
        <p:txBody>
          <a:bodyPr wrap="square" anchor="t">
            <a:spAutoFit/>
          </a:bodyPr>
          <a:lstStyle/>
          <a:p>
            <a:pPr algn="l">
              <a:spcAft>
                <a:spcPts val="400"/>
              </a:spcAft>
            </a:pPr>
            <a:r>
              <a:rPr sz="1150" b="0">
                <a:solidFill>
                  <a:srgbClr val="5B6372"/>
                </a:solidFill>
                <a:latin typeface="Arial"/>
              </a:rPr>
              <a:t>Full case, discussion questions and debrief: see the Learner Guide and the printed activity brief.</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8 · WORK IN GROUPS OF 3–5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8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509760" y="566928"/>
            <a:ext cx="1901952"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0" y="621792"/>
            <a:ext cx="1901952" cy="310896"/>
          </a:xfrm>
          <a:prstGeom prst="rect">
            <a:avLst/>
          </a:prstGeom>
          <a:noFill/>
        </p:spPr>
        <p:txBody>
          <a:bodyPr wrap="square" anchor="t">
            <a:spAutoFit/>
          </a:bodyPr>
          <a:lstStyle/>
          <a:p>
            <a:pPr algn="ctr">
              <a:spcAft>
                <a:spcPts val="400"/>
              </a:spcAft>
            </a:pPr>
            <a:r>
              <a:rPr sz="1200" b="1">
                <a:solidFill>
                  <a:srgbClr val="FFFFFF"/>
                </a:solidFill>
                <a:latin typeface="Arial"/>
              </a:rPr>
              <a:t>55 MIN</a:t>
            </a:r>
          </a:p>
        </p:txBody>
      </p:sp>
      <p:sp>
        <p:nvSpPr>
          <p:cNvPr id="9" name="Rectangle 8"/>
          <p:cNvSpPr/>
          <p:nvPr/>
        </p:nvSpPr>
        <p:spPr>
          <a:xfrm>
            <a:off x="777240" y="1783080"/>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4128" y="1922983"/>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298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3" name="TextBox 12"/>
          <p:cNvSpPr txBox="1"/>
          <p:nvPr/>
        </p:nvSpPr>
        <p:spPr>
          <a:xfrm>
            <a:off x="1691640" y="1856232"/>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Compare a Hill ('so that [wow]') with a user story ('so that [reason]'). What does the Hill capture that the story loses?</a:t>
            </a:r>
          </a:p>
        </p:txBody>
      </p:sp>
      <p:sp>
        <p:nvSpPr>
          <p:cNvPr id="14" name="Rectangle 13"/>
          <p:cNvSpPr/>
          <p:nvPr/>
        </p:nvSpPr>
        <p:spPr>
          <a:xfrm>
            <a:off x="777240" y="2684678"/>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84678"/>
            <a:ext cx="82296" cy="7370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4128" y="282458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282458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757830"/>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The team pushed 'in minutes' to '5 minutes'. What forced the specificity, and what would have happened without it?</a:t>
            </a:r>
          </a:p>
        </p:txBody>
      </p:sp>
      <p:sp>
        <p:nvSpPr>
          <p:cNvPr id="19" name="Rectangle 18"/>
          <p:cNvSpPr/>
          <p:nvPr/>
        </p:nvSpPr>
        <p:spPr>
          <a:xfrm>
            <a:off x="777240" y="3586276"/>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24128" y="3726179"/>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372617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3659428"/>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Review the AI-generated stories. What did it get structurally right, and what did it get wrong about your context?</a:t>
            </a:r>
          </a:p>
        </p:txBody>
      </p:sp>
      <p:sp>
        <p:nvSpPr>
          <p:cNvPr id="24" name="Rectangle 23"/>
          <p:cNvSpPr/>
          <p:nvPr/>
        </p:nvSpPr>
        <p:spPr>
          <a:xfrm>
            <a:off x="777240" y="4487874"/>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487874"/>
            <a:ext cx="82296" cy="7370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24128" y="4627777"/>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 y="462777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1691640" y="4561026"/>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Explain 'Cupcake' to someone who thinks an MVP is 'version one with features removed'. Where is the difference?</a:t>
            </a:r>
          </a:p>
        </p:txBody>
      </p:sp>
      <p:sp>
        <p:nvSpPr>
          <p:cNvPr id="29" name="Rectangle 28"/>
          <p:cNvSpPr/>
          <p:nvPr/>
        </p:nvSpPr>
        <p:spPr>
          <a:xfrm>
            <a:off x="777240" y="5389472"/>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4128" y="5529375"/>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4128" y="5529375"/>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3" name="TextBox 32"/>
          <p:cNvSpPr txBox="1"/>
          <p:nvPr/>
        </p:nvSpPr>
        <p:spPr>
          <a:xfrm>
            <a:off x="1691640" y="5462624"/>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Story points measure size and complexity, not duration. Why does the distinction matter for a team's velocity?</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8 — What You Produce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Your task</a:t>
            </a:r>
          </a:p>
          <a:p>
            <a:pPr algn="l">
              <a:spcAft>
                <a:spcPts val="300"/>
              </a:spcAft>
            </a:pPr>
            <a:r>
              <a:rPr sz="1150" b="0">
                <a:solidFill>
                  <a:srgbClr val="5B6372"/>
                </a:solidFill>
                <a:latin typeface="Arial"/>
              </a:rPr>
              <a:t>Learners write a measurable Hill, use GenAI to expand it into user stories with acceptance criteria, critique and correct the AI output, prioritise into the three-cake release model and size the stories with relative estimation.</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 will produce</a:t>
            </a:r>
          </a:p>
          <a:p>
            <a:pPr algn="l">
              <a:spcAft>
                <a:spcPts val="300"/>
              </a:spcAft>
            </a:pPr>
            <a:r>
              <a:rPr sz="1150" b="0">
                <a:solidFill>
                  <a:srgbClr val="5B6372"/>
                </a:solidFill>
                <a:latin typeface="Arial"/>
              </a:rPr>
              <a:t>A prioritised release-one backlog: one Hill, 8–12 user stories with acceptance criteria, a Cupcake/Birthday/Wedding split and story-point estimates.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Tools</a:t>
            </a:r>
          </a:p>
          <a:p>
            <a:pPr algn="l">
              <a:spcAft>
                <a:spcPts val="300"/>
              </a:spcAft>
            </a:pPr>
            <a:r>
              <a:rPr sz="1150" b="0">
                <a:solidFill>
                  <a:srgbClr val="5B6372"/>
                </a:solidFill>
                <a:latin typeface="Arial"/>
              </a:rPr>
              <a:t>Design Thinking Studio, Padlet Classroom Board, ChatGPT or Microsoft Copilot</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Done when</a:t>
            </a:r>
          </a:p>
          <a:p>
            <a:pPr algn="l">
              <a:spcAft>
                <a:spcPts val="300"/>
              </a:spcAft>
            </a:pPr>
            <a:r>
              <a:rPr sz="1150" b="0">
                <a:solidFill>
                  <a:srgbClr val="5B6372"/>
                </a:solidFill>
                <a:latin typeface="Arial"/>
              </a:rPr>
              <a:t>Your Cupcake release is genuinely shippable and useful on its own, every story has testable acceptance criteria, and you can point to which stories you deleted from the AI output and say why.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TRAINER DEBRIEF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8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011680"/>
            <a:ext cx="10058400" cy="365760"/>
          </a:xfrm>
          <a:prstGeom prst="rect">
            <a:avLst/>
          </a:prstGeom>
          <a:noFill/>
        </p:spPr>
        <p:txBody>
          <a:bodyPr wrap="square" anchor="t">
            <a:spAutoFit/>
          </a:bodyPr>
          <a:lstStyle/>
          <a:p>
            <a:pPr algn="l">
              <a:spcAft>
                <a:spcPts val="400"/>
              </a:spcAft>
            </a:pPr>
            <a:r>
              <a:rPr sz="1250" b="1">
                <a:solidFill>
                  <a:srgbClr val="10B981"/>
                </a:solidFill>
                <a:latin typeface="Arial"/>
              </a:rPr>
              <a:t>WHAT THE ROOM SHOULD CONCLUDE</a:t>
            </a:r>
          </a:p>
        </p:txBody>
      </p:sp>
      <p:sp>
        <p:nvSpPr>
          <p:cNvPr id="10" name="TextBox 9"/>
          <p:cNvSpPr txBox="1"/>
          <p:nvPr/>
        </p:nvSpPr>
        <p:spPr>
          <a:xfrm>
            <a:off x="1143000" y="2468880"/>
            <a:ext cx="10076688" cy="3429000"/>
          </a:xfrm>
          <a:prstGeom prst="rect">
            <a:avLst/>
          </a:prstGeom>
          <a:noFill/>
        </p:spPr>
        <p:txBody>
          <a:bodyPr wrap="square" anchor="t">
            <a:spAutoFit/>
          </a:bodyPr>
          <a:lstStyle/>
          <a:p>
            <a:pPr algn="l">
              <a:spcAft>
                <a:spcPts val="400"/>
              </a:spcAft>
            </a:pPr>
            <a:r>
              <a:rPr sz="1300" b="0">
                <a:solidFill>
                  <a:srgbClr val="161B26"/>
                </a:solidFill>
                <a:latin typeface="Arial"/>
              </a:rPr>
              <a:t>GenAI is genuinely good at the mechanical layer of this task — it produces well-formed stories with plausible acceptance criteria in seconds, and it rarely forgets the syntax. What it cannot supply is context: your constraints, your regulatory environment, your legacy integration, your users' actual tolerance for change. The reliable pattern is AI drafts, humans decide. Watch for the two characteristic AI failures in the room: stories that are technically well-formed but describe features nobody validated, and acceptance criteria that restate the story instead of defining a testable condition. On the cake model — the point of the cupcake is that a person could genuinely enjoy it and it stands alone. A slice of unfinished wedding cake is not a smaller product, it is a broken one, and shipping it teaches you nothing except that users dislike broken things.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REAL-WORLD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Running Dual-Track Agile — A Sprint Simulation with AI Assistance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19656"/>
            <a:ext cx="10241280" cy="310896"/>
          </a:xfrm>
          <a:prstGeom prst="rect">
            <a:avLst/>
          </a:prstGeom>
          <a:noFill/>
        </p:spPr>
        <p:txBody>
          <a:bodyPr wrap="square" anchor="t">
            <a:spAutoFit/>
          </a:bodyPr>
          <a:lstStyle/>
          <a:p>
            <a:pPr algn="l">
              <a:spcAft>
                <a:spcPts val="400"/>
              </a:spcAft>
            </a:pPr>
            <a:r>
              <a:rPr sz="1250" b="1">
                <a:solidFill>
                  <a:srgbClr val="FFFFFF"/>
                </a:solidFill>
                <a:latin typeface="Arial"/>
              </a:rPr>
              <a:t>ACTIVITY 9  ·  50 MIN</a:t>
            </a:r>
          </a:p>
        </p:txBody>
      </p:sp>
      <p:sp>
        <p:nvSpPr>
          <p:cNvPr id="9" name="Rectangle 8"/>
          <p:cNvSpPr/>
          <p:nvPr/>
        </p:nvSpPr>
        <p:spPr>
          <a:xfrm>
            <a:off x="777240" y="2240280"/>
            <a:ext cx="653796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395728"/>
            <a:ext cx="6126480" cy="310896"/>
          </a:xfrm>
          <a:prstGeom prst="rect">
            <a:avLst/>
          </a:prstGeom>
          <a:noFill/>
        </p:spPr>
        <p:txBody>
          <a:bodyPr wrap="square" anchor="t">
            <a:spAutoFit/>
          </a:bodyPr>
          <a:lstStyle/>
          <a:p>
            <a:pPr algn="l">
              <a:spcAft>
                <a:spcPts val="400"/>
              </a:spcAft>
            </a:pPr>
            <a:r>
              <a:rPr sz="1200" b="1">
                <a:solidFill>
                  <a:srgbClr val="10B981"/>
                </a:solidFill>
                <a:latin typeface="Arial"/>
              </a:rPr>
              <a:t>THE REAL CASE</a:t>
            </a:r>
          </a:p>
        </p:txBody>
      </p:sp>
      <p:sp>
        <p:nvSpPr>
          <p:cNvPr id="11" name="TextBox 10"/>
          <p:cNvSpPr txBox="1"/>
          <p:nvPr/>
        </p:nvSpPr>
        <p:spPr>
          <a:xfrm>
            <a:off x="987552" y="2743200"/>
            <a:ext cx="6144768" cy="2468880"/>
          </a:xfrm>
          <a:prstGeom prst="rect">
            <a:avLst/>
          </a:prstGeom>
          <a:noFill/>
        </p:spPr>
        <p:txBody>
          <a:bodyPr wrap="square" anchor="t">
            <a:spAutoFit/>
          </a:bodyPr>
          <a:lstStyle/>
          <a:p>
            <a:pPr algn="l">
              <a:spcAft>
                <a:spcPts val="400"/>
              </a:spcAft>
            </a:pPr>
            <a:r>
              <a:rPr sz="1150" b="0">
                <a:solidFill>
                  <a:srgbClr val="161B26"/>
                </a:solidFill>
                <a:latin typeface="Arial"/>
              </a:rPr>
              <a:t>Marty Cagan describes the most common failure he sees in teams that believe they are agile: 'many people essentially doing little mini-waterfalls within their Scrum framework' — the product manager writes requirements, hands them to a designer who produces annotated wireframes, who hands them to a delivery team to build and test. Each handoff looks like collaboration and is actually a queue. The dual-track alternative runs discovery and delivery simultaneously in one team: the product trio continuously validates ideas cheaply while the delivery track builds the already-validated ones. Jeff Patton's line is the justification: 'The most expensive way to test your idea is to build production quality software.' Discovery's job is to kill ideas cheaply — 'if we're doing discovery right, we substantially change and kill lots of ideas.'</a:t>
            </a:r>
          </a:p>
        </p:txBody>
      </p:sp>
      <p:sp>
        <p:nvSpPr>
          <p:cNvPr id="12" name="Rectangle 11"/>
          <p:cNvSpPr/>
          <p:nvPr/>
        </p:nvSpPr>
        <p:spPr>
          <a:xfrm>
            <a:off x="7635240" y="2240280"/>
            <a:ext cx="3776472" cy="306324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35240" y="2240280"/>
            <a:ext cx="377647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45552" y="2432304"/>
            <a:ext cx="3383280" cy="310896"/>
          </a:xfrm>
          <a:prstGeom prst="rect">
            <a:avLst/>
          </a:prstGeom>
          <a:noFill/>
        </p:spPr>
        <p:txBody>
          <a:bodyPr wrap="square" anchor="t">
            <a:spAutoFit/>
          </a:bodyPr>
          <a:lstStyle/>
          <a:p>
            <a:pPr algn="l">
              <a:spcAft>
                <a:spcPts val="400"/>
              </a:spcAft>
            </a:pPr>
            <a:r>
              <a:rPr sz="1200" b="1">
                <a:solidFill>
                  <a:srgbClr val="10B981"/>
                </a:solidFill>
                <a:latin typeface="Arial"/>
              </a:rPr>
              <a:t>YOUR SCENARIO</a:t>
            </a:r>
          </a:p>
        </p:txBody>
      </p:sp>
      <p:sp>
        <p:nvSpPr>
          <p:cNvPr id="15" name="TextBox 14"/>
          <p:cNvSpPr txBox="1"/>
          <p:nvPr/>
        </p:nvSpPr>
        <p:spPr>
          <a:xfrm>
            <a:off x="7845552" y="2779776"/>
            <a:ext cx="3401568" cy="2377440"/>
          </a:xfrm>
          <a:prstGeom prst="rect">
            <a:avLst/>
          </a:prstGeom>
          <a:noFill/>
        </p:spPr>
        <p:txBody>
          <a:bodyPr wrap="square" anchor="t">
            <a:spAutoFit/>
          </a:bodyPr>
          <a:lstStyle/>
          <a:p>
            <a:pPr algn="l">
              <a:spcAft>
                <a:spcPts val="400"/>
              </a:spcAft>
            </a:pPr>
            <a:r>
              <a:rPr sz="1150" b="0">
                <a:solidFill>
                  <a:srgbClr val="161B26"/>
                </a:solidFill>
                <a:latin typeface="Arial"/>
              </a:rPr>
              <a:t>Your team is running Sprint 1 on the Cupcake release from Activity 8. Mid-sprint, a stakeholder arrives with an urgent new request and a competitor announcement. You must decide what happens to the sprint, the backlog and the discovery track.</a:t>
            </a:r>
          </a:p>
        </p:txBody>
      </p:sp>
      <p:sp>
        <p:nvSpPr>
          <p:cNvPr id="16" name="Rectangle 15"/>
          <p:cNvSpPr/>
          <p:nvPr/>
        </p:nvSpPr>
        <p:spPr>
          <a:xfrm>
            <a:off x="777240" y="5440680"/>
            <a:ext cx="10634472"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440680"/>
            <a:ext cx="8229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541264"/>
            <a:ext cx="10241280" cy="420624"/>
          </a:xfrm>
          <a:prstGeom prst="rect">
            <a:avLst/>
          </a:prstGeom>
          <a:noFill/>
        </p:spPr>
        <p:txBody>
          <a:bodyPr wrap="square" anchor="t">
            <a:spAutoFit/>
          </a:bodyPr>
          <a:lstStyle/>
          <a:p>
            <a:pPr algn="l">
              <a:spcAft>
                <a:spcPts val="400"/>
              </a:spcAft>
            </a:pPr>
            <a:r>
              <a:rPr sz="1150" b="0">
                <a:solidFill>
                  <a:srgbClr val="5B6372"/>
                </a:solidFill>
                <a:latin typeface="Arial"/>
              </a:rPr>
              <a:t>Full case, discussion questions and debrief: see the Learner Guide and the printed activity brief.</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9 · WORK IN GROUPS OF 3–5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9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509760" y="566928"/>
            <a:ext cx="1901952"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0" y="621792"/>
            <a:ext cx="1901952" cy="310896"/>
          </a:xfrm>
          <a:prstGeom prst="rect">
            <a:avLst/>
          </a:prstGeom>
          <a:noFill/>
        </p:spPr>
        <p:txBody>
          <a:bodyPr wrap="square" anchor="t">
            <a:spAutoFit/>
          </a:bodyPr>
          <a:lstStyle/>
          <a:p>
            <a:pPr algn="ctr">
              <a:spcAft>
                <a:spcPts val="400"/>
              </a:spcAft>
            </a:pPr>
            <a:r>
              <a:rPr sz="1200" b="1">
                <a:solidFill>
                  <a:srgbClr val="FFFFFF"/>
                </a:solidFill>
                <a:latin typeface="Arial"/>
              </a:rPr>
              <a:t>50 MIN</a:t>
            </a:r>
          </a:p>
        </p:txBody>
      </p:sp>
      <p:sp>
        <p:nvSpPr>
          <p:cNvPr id="9" name="Rectangle 8"/>
          <p:cNvSpPr/>
          <p:nvPr/>
        </p:nvSpPr>
        <p:spPr>
          <a:xfrm>
            <a:off x="777240" y="1783080"/>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4128" y="1922983"/>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298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3" name="TextBox 12"/>
          <p:cNvSpPr txBox="1"/>
          <p:nvPr/>
        </p:nvSpPr>
        <p:spPr>
          <a:xfrm>
            <a:off x="1691640" y="1856232"/>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A stakeholder interrupts mid-sprint. What are your options, and what does each one cost in trust, focus and delivery?</a:t>
            </a:r>
          </a:p>
        </p:txBody>
      </p:sp>
      <p:sp>
        <p:nvSpPr>
          <p:cNvPr id="14" name="Rectangle 13"/>
          <p:cNvSpPr/>
          <p:nvPr/>
        </p:nvSpPr>
        <p:spPr>
          <a:xfrm>
            <a:off x="777240" y="2684678"/>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84678"/>
            <a:ext cx="82296" cy="7370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4128" y="282458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282458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757830"/>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Cagan calls handoffs 'little mini-waterfalls'. Where do handoffs disguised as collaboration happen in your organisation?</a:t>
            </a:r>
          </a:p>
        </p:txBody>
      </p:sp>
      <p:sp>
        <p:nvSpPr>
          <p:cNvPr id="19" name="Rectangle 18"/>
          <p:cNvSpPr/>
          <p:nvPr/>
        </p:nvSpPr>
        <p:spPr>
          <a:xfrm>
            <a:off x="777240" y="3586276"/>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24128" y="3726179"/>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372617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3659428"/>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Discovery's job is partly to kill ideas. Why is killing an idea a success, and why do organisations rarely reward it?</a:t>
            </a:r>
          </a:p>
        </p:txBody>
      </p:sp>
      <p:sp>
        <p:nvSpPr>
          <p:cNvPr id="24" name="Rectangle 23"/>
          <p:cNvSpPr/>
          <p:nvPr/>
        </p:nvSpPr>
        <p:spPr>
          <a:xfrm>
            <a:off x="777240" y="4487874"/>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487874"/>
            <a:ext cx="82296" cy="7370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24128" y="4627777"/>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 y="462777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1691640" y="4561026"/>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Which ceremony did GenAI genuinely improve, and which one would it damage if you let it run unsupervised?</a:t>
            </a:r>
          </a:p>
        </p:txBody>
      </p:sp>
      <p:sp>
        <p:nvSpPr>
          <p:cNvPr id="29" name="Rectangle 28"/>
          <p:cNvSpPr/>
          <p:nvPr/>
        </p:nvSpPr>
        <p:spPr>
          <a:xfrm>
            <a:off x="777240" y="5389472"/>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4128" y="5529375"/>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4128" y="5529375"/>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3" name="TextBox 32"/>
          <p:cNvSpPr txBox="1"/>
          <p:nvPr/>
        </p:nvSpPr>
        <p:spPr>
          <a:xfrm>
            <a:off x="1691640" y="5462624"/>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Your velocity drops because the team spent time on discovery. How do you explain that to a manager who only tracks delivery?</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9 — What You Produce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Your task</a:t>
            </a:r>
          </a:p>
          <a:p>
            <a:pPr algn="l">
              <a:spcAft>
                <a:spcPts val="300"/>
              </a:spcAft>
            </a:pPr>
            <a:r>
              <a:rPr sz="1150" b="0">
                <a:solidFill>
                  <a:srgbClr val="5B6372"/>
                </a:solidFill>
                <a:latin typeface="Arial"/>
              </a:rPr>
              <a:t>Learners simulate a compressed sprint — planning, a daily stand-up, a mid-sprint disruption, a review and a retrospective — running a discovery track in parallel, and use GenAI to accelerate the administrative parts of the ceremonies without surrendering the decisions.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 will produce</a:t>
            </a:r>
          </a:p>
          <a:p>
            <a:pPr algn="l">
              <a:spcAft>
                <a:spcPts val="300"/>
              </a:spcAft>
            </a:pPr>
            <a:r>
              <a:rPr sz="1150" b="0">
                <a:solidFill>
                  <a:srgbClr val="5B6372"/>
                </a:solidFill>
                <a:latin typeface="Arial"/>
              </a:rPr>
              <a:t>A completed sprint simulation record: sprint goal, committed backlog, stand-up notes, a documented disruption decision, review outcome and an AI-assisted retrospective with three actions.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Tools</a:t>
            </a:r>
          </a:p>
          <a:p>
            <a:pPr algn="l">
              <a:spcAft>
                <a:spcPts val="300"/>
              </a:spcAft>
            </a:pPr>
            <a:r>
              <a:rPr sz="1150" b="0">
                <a:solidFill>
                  <a:srgbClr val="5B6372"/>
                </a:solidFill>
                <a:latin typeface="Arial"/>
              </a:rPr>
              <a:t>Padlet Classroom Board, Design Thinking Studio, ChatGPT or Microsoft Copilot</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Done when</a:t>
            </a:r>
          </a:p>
          <a:p>
            <a:pPr algn="l">
              <a:spcAft>
                <a:spcPts val="300"/>
              </a:spcAft>
            </a:pPr>
            <a:r>
              <a:rPr sz="1150" b="0">
                <a:solidFill>
                  <a:srgbClr val="5B6372"/>
                </a:solidFill>
                <a:latin typeface="Arial"/>
              </a:rPr>
              <a:t>Your sprint record shows a protected sprint goal, a documented and justified disruption decision, and three retrospective actions with named owners.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TRAINER DEBRIEF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9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011680"/>
            <a:ext cx="10058400" cy="365760"/>
          </a:xfrm>
          <a:prstGeom prst="rect">
            <a:avLst/>
          </a:prstGeom>
          <a:noFill/>
        </p:spPr>
        <p:txBody>
          <a:bodyPr wrap="square" anchor="t">
            <a:spAutoFit/>
          </a:bodyPr>
          <a:lstStyle/>
          <a:p>
            <a:pPr algn="l">
              <a:spcAft>
                <a:spcPts val="400"/>
              </a:spcAft>
            </a:pPr>
            <a:r>
              <a:rPr sz="1250" b="1">
                <a:solidFill>
                  <a:srgbClr val="10B981"/>
                </a:solidFill>
                <a:latin typeface="Arial"/>
              </a:rPr>
              <a:t>WHAT THE ROOM SHOULD CONCLUDE</a:t>
            </a:r>
          </a:p>
        </p:txBody>
      </p:sp>
      <p:sp>
        <p:nvSpPr>
          <p:cNvPr id="10" name="TextBox 9"/>
          <p:cNvSpPr txBox="1"/>
          <p:nvPr/>
        </p:nvSpPr>
        <p:spPr>
          <a:xfrm>
            <a:off x="1143000" y="2468880"/>
            <a:ext cx="10076688" cy="3429000"/>
          </a:xfrm>
          <a:prstGeom prst="rect">
            <a:avLst/>
          </a:prstGeom>
          <a:noFill/>
        </p:spPr>
        <p:txBody>
          <a:bodyPr wrap="square" anchor="t">
            <a:spAutoFit/>
          </a:bodyPr>
          <a:lstStyle/>
          <a:p>
            <a:pPr algn="l">
              <a:spcAft>
                <a:spcPts val="400"/>
              </a:spcAft>
            </a:pPr>
            <a:r>
              <a:rPr sz="1300" b="0">
                <a:solidFill>
                  <a:srgbClr val="161B26"/>
                </a:solidFill>
                <a:latin typeface="Arial"/>
              </a:rPr>
              <a:t>The disruption is the real lesson. Teams that protect the sprint goal and route the new request into the discovery track keep both their focus and their responsiveness; teams that swap scope mid-sprint lose the sprint and teach stakeholders that interrupting works. Note the asymmetry — the request does not have to wait long, it just has to be validated before it displaces committed work. On AI in ceremonies: it is excellent at summarising stand-up notes, clustering retrospective themes and drafting the sprint report, and it is actively harmful if it runs the retrospective itself, because the value of a retrospective is the team saying uncomfortable things to each other, not a tidy summary. Watch for velocity anxiety: a team doing genuine discovery will show lower delivery velocity and higher decision quality, which is only a problem if the organisation measures the wrong 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Topic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Being Agile is a mindset; doing Agile is the ceremonies — organisations need both to work.</a:t>
            </a:r>
          </a:p>
          <a:p>
            <a:pPr>
              <a:spcAft>
                <a:spcPts val="1000"/>
              </a:spcAft>
            </a:pPr>
            <a:r>
              <a:rPr sz="1600" b="0">
                <a:solidFill>
                  <a:srgbClr val="161B26"/>
                </a:solidFill>
                <a:latin typeface="Arial"/>
              </a:rPr>
              <a:t>•  Scrum's three accountabilities separate the what (PO), the enablement (SM) and the how (Developers).</a:t>
            </a:r>
          </a:p>
          <a:p>
            <a:pPr>
              <a:spcAft>
                <a:spcPts val="1000"/>
              </a:spcAft>
            </a:pPr>
            <a:r>
              <a:rPr sz="1600" b="0">
                <a:solidFill>
                  <a:srgbClr val="161B26"/>
                </a:solidFill>
                <a:latin typeface="Arial"/>
              </a:rPr>
              <a:t>•  Dual-track agile runs discovery and delivery simultaneously in one team, feeding a validated backlog.</a:t>
            </a:r>
          </a:p>
          <a:p>
            <a:pPr>
              <a:spcAft>
                <a:spcPts val="1000"/>
              </a:spcAft>
            </a:pPr>
            <a:r>
              <a:rPr sz="1600" b="0">
                <a:solidFill>
                  <a:srgbClr val="161B26"/>
                </a:solidFill>
                <a:latin typeface="Arial"/>
              </a:rPr>
              <a:t>•  Ideas decompose Epic → Feature → Hill → Story → Task; Hills carry the outcome, stories carry the function.</a:t>
            </a:r>
          </a:p>
          <a:p>
            <a:pPr>
              <a:spcAft>
                <a:spcPts val="1000"/>
              </a:spcAft>
            </a:pPr>
            <a:r>
              <a:rPr sz="1600" b="0">
                <a:solidFill>
                  <a:srgbClr val="161B26"/>
                </a:solidFill>
                <a:latin typeface="Arial"/>
              </a:rPr>
              <a:t>•  Story points measure relative size, and velocity counts only fully completed work.</a:t>
            </a:r>
          </a:p>
          <a:p>
            <a:pPr>
              <a:spcAft>
                <a:spcPts val="1000"/>
              </a:spcAft>
            </a:pPr>
            <a:r>
              <a:rPr sz="1600" b="0">
                <a:solidFill>
                  <a:srgbClr val="161B26"/>
                </a:solidFill>
                <a:latin typeface="Arial"/>
              </a:rPr>
              <a:t>•  GenAI drafts, clusters and summarises — the team still owns every decision.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Scaling and Sustaining Innovations with Agile Design Thinking and Generative 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Scaling · Stakeholders · Sensemaking · Systems thinking · Resources · Metrics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advClick="1">
    <p:push dir="l"/>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TOPIC 04 · WHY THIS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Training 400 people produces 400 people who know the vocabulary.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Scaling innovation is not a training problem — it is a question of what gets measured, who may decide, and what leaders visibly do.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advClick="1">
    <p:push dir="l"/>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OPERATING SYSTEM, NOT THE TRAINING CALENDAR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Three Levers That Actually Scale Innovation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Purpose, alignment and autonomy</a:t>
            </a:r>
          </a:p>
          <a:p>
            <a:pPr algn="l">
              <a:spcAft>
                <a:spcPts val="300"/>
              </a:spcAft>
            </a:pPr>
            <a:r>
              <a:rPr sz="1200" b="0">
                <a:solidFill>
                  <a:srgbClr val="5B6372"/>
                </a:solidFill>
                <a:latin typeface="Arial"/>
              </a:rPr>
              <a:t>Be stubborn on the vision and flexible on the details. Teams need a clear outcome and the authority to pursue it.</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Measure things that matter</a:t>
            </a:r>
          </a:p>
          <a:p>
            <a:pPr algn="l">
              <a:spcAft>
                <a:spcPts val="300"/>
              </a:spcAft>
            </a:pPr>
            <a:r>
              <a:rPr sz="1200" b="0">
                <a:solidFill>
                  <a:srgbClr val="5B6372"/>
                </a:solidFill>
                <a:latin typeface="Arial"/>
              </a:rPr>
              <a:t>Structure metrics around the decisions you intend to make. A metric that cannot change a decision is decoration.</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Decide from learning</a:t>
            </a:r>
          </a:p>
          <a:p>
            <a:pPr algn="l">
              <a:spcAft>
                <a:spcPts val="300"/>
              </a:spcAft>
            </a:pPr>
            <a:r>
              <a:rPr sz="1200" b="0">
                <a:solidFill>
                  <a:srgbClr val="5B6372"/>
                </a:solidFill>
                <a:latin typeface="Arial"/>
              </a:rPr>
              <a:t>Define beliefs so they can be tested, choose the most important thing to learn, then design the experiment that delivers it.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STEVE PERKINS · THE DESIGN GYM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Four Principles for a Culture That Sustains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People over process</a:t>
            </a:r>
          </a:p>
          <a:p>
            <a:pPr algn="l">
              <a:spcAft>
                <a:spcPts val="300"/>
              </a:spcAft>
            </a:pPr>
            <a:r>
              <a:rPr sz="1200" b="0">
                <a:solidFill>
                  <a:srgbClr val="5B6372"/>
                </a:solidFill>
                <a:latin typeface="Arial"/>
              </a:rPr>
              <a:t>Assemble people around a shared mission rather than around a reporting structure.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Creativity and innovation</a:t>
            </a:r>
          </a:p>
          <a:p>
            <a:pPr algn="l">
              <a:spcAft>
                <a:spcPts val="300"/>
              </a:spcAft>
            </a:pPr>
            <a:r>
              <a:rPr sz="1200" b="0">
                <a:solidFill>
                  <a:srgbClr val="5B6372"/>
                </a:solidFill>
                <a:latin typeface="Arial"/>
              </a:rPr>
              <a:t>Build exploration time into the workflow and permit smart risk-taking.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Iteration and adaptation</a:t>
            </a:r>
          </a:p>
          <a:p>
            <a:pPr algn="l">
              <a:spcAft>
                <a:spcPts val="300"/>
              </a:spcAft>
            </a:pPr>
            <a:r>
              <a:rPr sz="1200" b="0">
                <a:solidFill>
                  <a:srgbClr val="5B6372"/>
                </a:solidFill>
                <a:latin typeface="Arial"/>
              </a:rPr>
              <a:t>Replace year-long plans with low-fidelity versions tested in real conditions.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Multi-disciplinary autonomous teams</a:t>
            </a:r>
          </a:p>
          <a:p>
            <a:pPr algn="l">
              <a:spcAft>
                <a:spcPts val="300"/>
              </a:spcAft>
            </a:pPr>
            <a:r>
              <a:rPr sz="1200" b="0">
                <a:solidFill>
                  <a:srgbClr val="5B6372"/>
                </a:solidFill>
                <a:latin typeface="Arial"/>
              </a:rPr>
              <a:t>Cross-functional teams with genuine local decision authority beat hierarchies.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BUY-IN FOR AI-DRIVEN INNOVATION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Engaging Stakeholders and Creating Buy-In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Start small and visible</a:t>
            </a:r>
          </a:p>
          <a:p>
            <a:pPr algn="l">
              <a:spcAft>
                <a:spcPts val="300"/>
              </a:spcAft>
            </a:pPr>
            <a:r>
              <a:rPr sz="1150" b="0">
                <a:solidFill>
                  <a:srgbClr val="5B6372"/>
                </a:solidFill>
                <a:latin typeface="Arial"/>
              </a:rPr>
              <a:t>Choose a low-risk, high-value opportunity; one credible win buys more permission than any deck.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Bring evidence, not opinion</a:t>
            </a:r>
          </a:p>
          <a:p>
            <a:pPr algn="l">
              <a:spcAft>
                <a:spcPts val="300"/>
              </a:spcAft>
            </a:pPr>
            <a:r>
              <a:rPr sz="1150" b="0">
                <a:solidFill>
                  <a:srgbClr val="5B6372"/>
                </a:solidFill>
                <a:latin typeface="Arial"/>
              </a:rPr>
              <a:t>Show the user quote, the test result and the assumption you falsified.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Name the metric in advance</a:t>
            </a:r>
          </a:p>
          <a:p>
            <a:pPr algn="l">
              <a:spcAft>
                <a:spcPts val="300"/>
              </a:spcAft>
            </a:pPr>
            <a:r>
              <a:rPr sz="1150" b="0">
                <a:solidFill>
                  <a:srgbClr val="5B6372"/>
                </a:solidFill>
                <a:latin typeface="Arial"/>
              </a:rPr>
              <a:t>Agree what would count as success before you run the pilot, not after.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Involve the sceptic early</a:t>
            </a:r>
          </a:p>
          <a:p>
            <a:pPr algn="l">
              <a:spcAft>
                <a:spcPts val="300"/>
              </a:spcAft>
            </a:pPr>
            <a:r>
              <a:rPr sz="1150" b="0">
                <a:solidFill>
                  <a:srgbClr val="5B6372"/>
                </a:solidFill>
                <a:latin typeface="Arial"/>
              </a:rPr>
              <a:t>The person most likely to block it is the most valuable participant in the discovery.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Leaders participate, not sponsor</a:t>
            </a:r>
          </a:p>
          <a:p>
            <a:pPr algn="l">
              <a:spcAft>
                <a:spcPts val="300"/>
              </a:spcAft>
            </a:pPr>
            <a:r>
              <a:rPr sz="1150" b="0">
                <a:solidFill>
                  <a:srgbClr val="5B6372"/>
                </a:solidFill>
                <a:latin typeface="Arial"/>
              </a:rPr>
              <a:t>A leader who sits in a user interview changes the organisation's behaviour more than a memo.</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Make the risk explicit</a:t>
            </a:r>
          </a:p>
          <a:p>
            <a:pPr algn="l">
              <a:spcAft>
                <a:spcPts val="300"/>
              </a:spcAft>
            </a:pPr>
            <a:r>
              <a:rPr sz="1150" b="0">
                <a:solidFill>
                  <a:srgbClr val="5B6372"/>
                </a:solidFill>
                <a:latin typeface="Arial"/>
              </a:rPr>
              <a:t>State what you will stop doing if the evidence goes against you — it earns credibility.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RESOURCES · GOVERNANCE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Resource Management in Innovation Projects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Fund learning, not plans</a:t>
            </a:r>
          </a:p>
          <a:p>
            <a:pPr algn="l">
              <a:spcAft>
                <a:spcPts val="300"/>
              </a:spcAft>
            </a:pPr>
            <a:r>
              <a:rPr sz="1150" b="0">
                <a:solidFill>
                  <a:srgbClr val="5B6372"/>
                </a:solidFill>
                <a:latin typeface="Arial"/>
              </a:rPr>
              <a:t>Release budget in stages tied to validated learning rather than in one annual block.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Protect discovery capacity</a:t>
            </a:r>
          </a:p>
          <a:p>
            <a:pPr algn="l">
              <a:spcAft>
                <a:spcPts val="300"/>
              </a:spcAft>
            </a:pPr>
            <a:r>
              <a:rPr sz="1150" b="0">
                <a:solidFill>
                  <a:srgbClr val="5B6372"/>
                </a:solidFill>
                <a:latin typeface="Arial"/>
              </a:rPr>
              <a:t>If discovery is unstaffed, delivery will build whatever is loudest.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Use AI to free expert time</a:t>
            </a:r>
          </a:p>
          <a:p>
            <a:pPr algn="l">
              <a:spcAft>
                <a:spcPts val="300"/>
              </a:spcAft>
            </a:pPr>
            <a:r>
              <a:rPr sz="1150" b="0">
                <a:solidFill>
                  <a:srgbClr val="5B6372"/>
                </a:solidFill>
                <a:latin typeface="Arial"/>
              </a:rPr>
              <a:t>Automate synthesis and drafting so scarce expertise goes to judgement work.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Track the cost of being wrong</a:t>
            </a:r>
          </a:p>
          <a:p>
            <a:pPr algn="l">
              <a:spcAft>
                <a:spcPts val="300"/>
              </a:spcAft>
            </a:pPr>
            <a:r>
              <a:rPr sz="1150" b="0">
                <a:solidFill>
                  <a:srgbClr val="5B6372"/>
                </a:solidFill>
                <a:latin typeface="Arial"/>
              </a:rPr>
              <a:t>The relevant number is not what a test costs, but what building the wrong thing costs.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Govern AI use</a:t>
            </a:r>
          </a:p>
          <a:p>
            <a:pPr algn="l">
              <a:spcAft>
                <a:spcPts val="300"/>
              </a:spcAft>
            </a:pPr>
            <a:r>
              <a:rPr sz="1150" b="0">
                <a:solidFill>
                  <a:srgbClr val="5B6372"/>
                </a:solidFill>
                <a:latin typeface="Arial"/>
              </a:rPr>
              <a:t>Record provenance, check for bias, and keep an audit trail for AI-assisted decisions.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Kill work deliberately</a:t>
            </a:r>
          </a:p>
          <a:p>
            <a:pPr algn="l">
              <a:spcAft>
                <a:spcPts val="300"/>
              </a:spcAft>
            </a:pPr>
            <a:r>
              <a:rPr sz="1150" b="0">
                <a:solidFill>
                  <a:srgbClr val="5B6372"/>
                </a:solidFill>
                <a:latin typeface="Arial"/>
              </a:rPr>
              <a:t>Stopping a weak initiative releases the scarcest resource you have — your best people.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SENSEMAKING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Sensemaking — Turning Ambiguity into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Signals arrive incomplete</a:t>
            </a:r>
          </a:p>
          <a:p>
            <a:pPr algn="l">
              <a:spcAft>
                <a:spcPts val="300"/>
              </a:spcAft>
            </a:pPr>
            <a:r>
              <a:rPr sz="1150" b="0">
                <a:solidFill>
                  <a:srgbClr val="5B6372"/>
                </a:solidFill>
                <a:latin typeface="Arial"/>
              </a:rPr>
              <a:t>Real innovation decisions are made on conflicting, partial and contested evidence.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Build a shared narrative</a:t>
            </a:r>
          </a:p>
          <a:p>
            <a:pPr algn="l">
              <a:spcAft>
                <a:spcPts val="300"/>
              </a:spcAft>
            </a:pPr>
            <a:r>
              <a:rPr sz="1150" b="0">
                <a:solidFill>
                  <a:srgbClr val="5B6372"/>
                </a:solidFill>
                <a:latin typeface="Arial"/>
              </a:rPr>
              <a:t>Sensemaking produces a story the organisation can act on together, not a data dump.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Name the disconfirming signal</a:t>
            </a:r>
          </a:p>
          <a:p>
            <a:pPr algn="l">
              <a:spcAft>
                <a:spcPts val="300"/>
              </a:spcAft>
            </a:pPr>
            <a:r>
              <a:rPr sz="1150" b="0">
                <a:solidFill>
                  <a:srgbClr val="5B6372"/>
                </a:solidFill>
                <a:latin typeface="Arial"/>
              </a:rPr>
              <a:t>The evidence that contradicts your narrative is the most valuable input in the room.</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AI helps, then misleads</a:t>
            </a:r>
          </a:p>
          <a:p>
            <a:pPr algn="l">
              <a:spcAft>
                <a:spcPts val="300"/>
              </a:spcAft>
            </a:pPr>
            <a:r>
              <a:rPr sz="1150" b="0">
                <a:solidFill>
                  <a:srgbClr val="5B6372"/>
                </a:solidFill>
                <a:latin typeface="Arial"/>
              </a:rPr>
              <a:t>GenAI clusters signals well and manufactures a confident narrative even when the evidence is thin.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SYSTEMS THINKING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Feedback Loops — Reinforcing and Balancing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eedback-loops.png"/>
          <p:cNvPicPr>
            <a:picLocks noChangeAspect="1"/>
          </p:cNvPicPr>
          <p:nvPr/>
        </p:nvPicPr>
        <p:blipFill>
          <a:blip r:embed="rId2"/>
          <a:stretch>
            <a:fillRect/>
          </a:stretch>
        </p:blipFill>
        <p:spPr>
          <a:xfrm>
            <a:off x="1488437" y="1783080"/>
            <a:ext cx="9212078" cy="3977639"/>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70448"/>
            <a:ext cx="82296"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943600"/>
            <a:ext cx="10222992" cy="329184"/>
          </a:xfrm>
          <a:prstGeom prst="rect">
            <a:avLst/>
          </a:prstGeom>
          <a:noFill/>
        </p:spPr>
        <p:txBody>
          <a:bodyPr wrap="square" anchor="t">
            <a:spAutoFit/>
          </a:bodyPr>
          <a:lstStyle/>
          <a:p>
            <a:pPr algn="l">
              <a:spcAft>
                <a:spcPts val="400"/>
              </a:spcAft>
            </a:pPr>
            <a:r>
              <a:rPr sz="1250" b="0">
                <a:solidFill>
                  <a:srgbClr val="161B26"/>
                </a:solidFill>
                <a:latin typeface="Arial"/>
              </a:rPr>
              <a:t>Systemic failure is a reinforcing loop with no effective balancing counterpart — no individual decision has to be irrational.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SEEING THE WHOLE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Five Ideas of Systems Thinking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Interconnectedness</a:t>
            </a:r>
          </a:p>
          <a:p>
            <a:pPr algn="l">
              <a:spcAft>
                <a:spcPts val="300"/>
              </a:spcAft>
            </a:pPr>
            <a:r>
              <a:rPr sz="1150" b="0">
                <a:solidFill>
                  <a:srgbClr val="5B6372"/>
                </a:solidFill>
                <a:latin typeface="Arial"/>
              </a:rPr>
              <a:t>Shift from linear cause-and-effect to circular thinking — everything is part of a wider system.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Synthesis</a:t>
            </a:r>
          </a:p>
          <a:p>
            <a:pPr algn="l">
              <a:spcAft>
                <a:spcPts val="300"/>
              </a:spcAft>
            </a:pPr>
            <a:r>
              <a:rPr sz="1150" b="0">
                <a:solidFill>
                  <a:srgbClr val="5B6372"/>
                </a:solidFill>
                <a:latin typeface="Arial"/>
              </a:rPr>
              <a:t>Combine elements to see the whole; analysis alone dissects and loses the behaviour.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Emergence</a:t>
            </a:r>
          </a:p>
          <a:p>
            <a:pPr algn="l">
              <a:spcAft>
                <a:spcPts val="300"/>
              </a:spcAft>
            </a:pPr>
            <a:r>
              <a:rPr sz="1150" b="0">
                <a:solidFill>
                  <a:srgbClr val="5B6372"/>
                </a:solidFill>
                <a:latin typeface="Arial"/>
              </a:rPr>
              <a:t>System behaviour arises from interaction and cannot be predicted from the parts alone.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Feedback loops</a:t>
            </a:r>
          </a:p>
          <a:p>
            <a:pPr algn="l">
              <a:spcAft>
                <a:spcPts val="300"/>
              </a:spcAft>
            </a:pPr>
            <a:r>
              <a:rPr sz="1150" b="0">
                <a:solidFill>
                  <a:srgbClr val="5B6372"/>
                </a:solidFill>
                <a:latin typeface="Arial"/>
              </a:rPr>
              <a:t>Reinforcing loops amplify; balancing loops stabilise. Find which one you are standing in.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Causality</a:t>
            </a:r>
          </a:p>
          <a:p>
            <a:pPr algn="l">
              <a:spcAft>
                <a:spcPts val="300"/>
              </a:spcAft>
            </a:pPr>
            <a:r>
              <a:rPr sz="1150" b="0">
                <a:solidFill>
                  <a:srgbClr val="5B6372"/>
                </a:solidFill>
                <a:latin typeface="Arial"/>
              </a:rPr>
              <a:t>Understand how a change in one variable actually propagates to an outcome.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Systems mapping</a:t>
            </a:r>
          </a:p>
          <a:p>
            <a:pPr algn="l">
              <a:spcAft>
                <a:spcPts val="300"/>
              </a:spcAft>
            </a:pPr>
            <a:r>
              <a:rPr sz="1150" b="0">
                <a:solidFill>
                  <a:srgbClr val="5B6372"/>
                </a:solidFill>
                <a:latin typeface="Arial"/>
              </a:rPr>
              <a:t>Draw elements and their interconnections to find the leverage point worth intervening at.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LENSES, ONE PROBLEM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Systems Thinking vs Design Thinking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Design Thinking</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Systems Thinking</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Starting point</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human need</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pattern of behaviour over time</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Unit of attention</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user and their experience</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structure that produces the outcome</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Asks</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What does this person need?</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Why does this system keep producing this result?</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Typical output</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validated solution concept</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leverage point and an intervention</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Blind spot</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Can optimise one user while harming the system</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Can map elegantly and never ship anything</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Used together</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Design the intervention with empathy</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Place it where the system will actually respond</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Use systems thinking to choose where to intervene; use design thinking to design the intervention itself.</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METRICS AND KPIs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Innovation Metric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etrics-quadrant.png"/>
          <p:cNvPicPr>
            <a:picLocks noChangeAspect="1"/>
          </p:cNvPicPr>
          <p:nvPr/>
        </p:nvPicPr>
        <p:blipFill>
          <a:blip r:embed="rId2"/>
          <a:stretch>
            <a:fillRect/>
          </a:stretch>
        </p:blipFill>
        <p:spPr>
          <a:xfrm>
            <a:off x="2313954" y="1783080"/>
            <a:ext cx="7561044" cy="3977639"/>
          </a:xfrm>
          <a:prstGeom prst="rect">
            <a:avLst/>
          </a:prstGeom>
        </p:spPr>
      </p:pic>
      <p:sp>
        <p:nvSpPr>
          <p:cNvPr id="8" name="Rectangle 7"/>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70448"/>
            <a:ext cx="82296"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943600"/>
            <a:ext cx="10222992" cy="329184"/>
          </a:xfrm>
          <a:prstGeom prst="rect">
            <a:avLst/>
          </a:prstGeom>
          <a:noFill/>
        </p:spPr>
        <p:txBody>
          <a:bodyPr wrap="square" anchor="t">
            <a:spAutoFit/>
          </a:bodyPr>
          <a:lstStyle/>
          <a:p>
            <a:pPr algn="l">
              <a:spcAft>
                <a:spcPts val="400"/>
              </a:spcAft>
            </a:pPr>
            <a:r>
              <a:rPr sz="1250" b="0">
                <a:solidFill>
                  <a:srgbClr val="161B26"/>
                </a:solidFill>
                <a:latin typeface="Arial"/>
              </a:rPr>
              <a:t>If a movement in the number would change no decision, the number is decoration — and it will not survive a budget review.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 NOT CONFLATE THESE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Three Validations, Three Different Tests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hree-validations.png"/>
          <p:cNvPicPr>
            <a:picLocks noChangeAspect="1"/>
          </p:cNvPicPr>
          <p:nvPr/>
        </p:nvPicPr>
        <p:blipFill>
          <a:blip r:embed="rId2"/>
          <a:stretch>
            <a:fillRect/>
          </a:stretch>
        </p:blipFill>
        <p:spPr>
          <a:xfrm>
            <a:off x="777240" y="2472052"/>
            <a:ext cx="6720840" cy="2782576"/>
          </a:xfrm>
          <a:prstGeom prst="rect">
            <a:avLst/>
          </a:prstGeom>
        </p:spPr>
      </p:pic>
      <p:sp>
        <p:nvSpPr>
          <p:cNvPr id="8" name="Rectangle 7"/>
          <p:cNvSpPr/>
          <p:nvPr/>
        </p:nvSpPr>
        <p:spPr>
          <a:xfrm>
            <a:off x="7726679" y="1783080"/>
            <a:ext cx="3703320"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26679" y="1783080"/>
            <a:ext cx="370332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59" y="1920240"/>
            <a:ext cx="3337560" cy="347472"/>
          </a:xfrm>
          <a:prstGeom prst="rect">
            <a:avLst/>
          </a:prstGeom>
          <a:noFill/>
        </p:spPr>
        <p:txBody>
          <a:bodyPr wrap="square" anchor="t">
            <a:spAutoFit/>
          </a:bodyPr>
          <a:lstStyle/>
          <a:p>
            <a:pPr algn="l">
              <a:spcAft>
                <a:spcPts val="400"/>
              </a:spcAft>
            </a:pPr>
            <a:r>
              <a:rPr sz="1350" b="1">
                <a:solidFill>
                  <a:srgbClr val="1F6FEB"/>
                </a:solidFill>
                <a:latin typeface="Arial"/>
              </a:rPr>
              <a:t>Problem validation</a:t>
            </a:r>
          </a:p>
        </p:txBody>
      </p:sp>
      <p:sp>
        <p:nvSpPr>
          <p:cNvPr id="11" name="TextBox 10"/>
          <p:cNvSpPr txBox="1"/>
          <p:nvPr/>
        </p:nvSpPr>
        <p:spPr>
          <a:xfrm>
            <a:off x="7909559" y="2286000"/>
            <a:ext cx="3337560" cy="365760"/>
          </a:xfrm>
          <a:prstGeom prst="rect">
            <a:avLst/>
          </a:prstGeom>
          <a:noFill/>
        </p:spPr>
        <p:txBody>
          <a:bodyPr wrap="square" anchor="t">
            <a:spAutoFit/>
          </a:bodyPr>
          <a:lstStyle/>
          <a:p>
            <a:pPr algn="l">
              <a:spcAft>
                <a:spcPts val="200"/>
              </a:spcAft>
            </a:pPr>
            <a:r>
              <a:rPr sz="1200" b="0">
                <a:solidFill>
                  <a:srgbClr val="161B26"/>
                </a:solidFill>
                <a:latin typeface="Arial"/>
              </a:rPr>
              <a:t>Evidence the problem exists and matters to enough people.</a:t>
            </a:r>
          </a:p>
        </p:txBody>
      </p:sp>
      <p:sp>
        <p:nvSpPr>
          <p:cNvPr id="12" name="Rectangle 11"/>
          <p:cNvSpPr/>
          <p:nvPr/>
        </p:nvSpPr>
        <p:spPr>
          <a:xfrm>
            <a:off x="7726679" y="2898648"/>
            <a:ext cx="3703320"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26679" y="2898648"/>
            <a:ext cx="370332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59" y="3035808"/>
            <a:ext cx="3337560" cy="347472"/>
          </a:xfrm>
          <a:prstGeom prst="rect">
            <a:avLst/>
          </a:prstGeom>
          <a:noFill/>
        </p:spPr>
        <p:txBody>
          <a:bodyPr wrap="square" anchor="t">
            <a:spAutoFit/>
          </a:bodyPr>
          <a:lstStyle/>
          <a:p>
            <a:pPr algn="l">
              <a:spcAft>
                <a:spcPts val="400"/>
              </a:spcAft>
            </a:pPr>
            <a:r>
              <a:rPr sz="1350" b="1">
                <a:solidFill>
                  <a:srgbClr val="10B981"/>
                </a:solidFill>
                <a:latin typeface="Arial"/>
              </a:rPr>
              <a:t>Solution validation</a:t>
            </a:r>
          </a:p>
        </p:txBody>
      </p:sp>
      <p:sp>
        <p:nvSpPr>
          <p:cNvPr id="15" name="TextBox 14"/>
          <p:cNvSpPr txBox="1"/>
          <p:nvPr/>
        </p:nvSpPr>
        <p:spPr>
          <a:xfrm>
            <a:off x="7909559" y="3401568"/>
            <a:ext cx="3337560" cy="365760"/>
          </a:xfrm>
          <a:prstGeom prst="rect">
            <a:avLst/>
          </a:prstGeom>
          <a:noFill/>
        </p:spPr>
        <p:txBody>
          <a:bodyPr wrap="square" anchor="t">
            <a:spAutoFit/>
          </a:bodyPr>
          <a:lstStyle/>
          <a:p>
            <a:pPr algn="l">
              <a:spcAft>
                <a:spcPts val="200"/>
              </a:spcAft>
            </a:pPr>
            <a:r>
              <a:rPr sz="1200" b="0">
                <a:solidFill>
                  <a:srgbClr val="161B26"/>
                </a:solidFill>
                <a:latin typeface="Arial"/>
              </a:rPr>
              <a:t>Evidence your solution actually solves it for them.</a:t>
            </a:r>
          </a:p>
        </p:txBody>
      </p:sp>
      <p:sp>
        <p:nvSpPr>
          <p:cNvPr id="16" name="Rectangle 15"/>
          <p:cNvSpPr/>
          <p:nvPr/>
        </p:nvSpPr>
        <p:spPr>
          <a:xfrm>
            <a:off x="7726679" y="4014216"/>
            <a:ext cx="3703320"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26679" y="4014216"/>
            <a:ext cx="370332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59" y="4151376"/>
            <a:ext cx="3337560" cy="347472"/>
          </a:xfrm>
          <a:prstGeom prst="rect">
            <a:avLst/>
          </a:prstGeom>
          <a:noFill/>
        </p:spPr>
        <p:txBody>
          <a:bodyPr wrap="square" anchor="t">
            <a:spAutoFit/>
          </a:bodyPr>
          <a:lstStyle/>
          <a:p>
            <a:pPr algn="l">
              <a:spcAft>
                <a:spcPts val="400"/>
              </a:spcAft>
            </a:pPr>
            <a:r>
              <a:rPr sz="1350" b="1">
                <a:solidFill>
                  <a:srgbClr val="7C3AED"/>
                </a:solidFill>
                <a:latin typeface="Arial"/>
              </a:rPr>
              <a:t>Demand validation</a:t>
            </a:r>
          </a:p>
        </p:txBody>
      </p:sp>
      <p:sp>
        <p:nvSpPr>
          <p:cNvPr id="19" name="TextBox 18"/>
          <p:cNvSpPr txBox="1"/>
          <p:nvPr/>
        </p:nvSpPr>
        <p:spPr>
          <a:xfrm>
            <a:off x="7909559" y="4517136"/>
            <a:ext cx="3337560" cy="365760"/>
          </a:xfrm>
          <a:prstGeom prst="rect">
            <a:avLst/>
          </a:prstGeom>
          <a:noFill/>
        </p:spPr>
        <p:txBody>
          <a:bodyPr wrap="square" anchor="t">
            <a:spAutoFit/>
          </a:bodyPr>
          <a:lstStyle/>
          <a:p>
            <a:pPr algn="l">
              <a:spcAft>
                <a:spcPts val="200"/>
              </a:spcAft>
            </a:pPr>
            <a:r>
              <a:rPr sz="1200" b="0">
                <a:solidFill>
                  <a:srgbClr val="161B26"/>
                </a:solidFill>
                <a:latin typeface="Arial"/>
              </a:rPr>
              <a:t>Evidence they will adopt, switch to, or pay for it.</a:t>
            </a:r>
          </a:p>
        </p:txBody>
      </p:sp>
      <p:sp>
        <p:nvSpPr>
          <p:cNvPr id="20" name="Rectangle 19"/>
          <p:cNvSpPr/>
          <p:nvPr/>
        </p:nvSpPr>
        <p:spPr>
          <a:xfrm>
            <a:off x="7726679" y="5129784"/>
            <a:ext cx="3703320"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26679" y="5129784"/>
            <a:ext cx="370332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59" y="5266944"/>
            <a:ext cx="3337560" cy="347472"/>
          </a:xfrm>
          <a:prstGeom prst="rect">
            <a:avLst/>
          </a:prstGeom>
          <a:noFill/>
        </p:spPr>
        <p:txBody>
          <a:bodyPr wrap="square" anchor="t">
            <a:spAutoFit/>
          </a:bodyPr>
          <a:lstStyle/>
          <a:p>
            <a:pPr algn="l">
              <a:spcAft>
                <a:spcPts val="400"/>
              </a:spcAft>
            </a:pPr>
            <a:r>
              <a:rPr sz="1350" b="1">
                <a:solidFill>
                  <a:srgbClr val="F59E0B"/>
                </a:solidFill>
                <a:latin typeface="Arial"/>
              </a:rPr>
              <a:t>The common error</a:t>
            </a:r>
          </a:p>
        </p:txBody>
      </p:sp>
      <p:sp>
        <p:nvSpPr>
          <p:cNvPr id="23" name="TextBox 22"/>
          <p:cNvSpPr txBox="1"/>
          <p:nvPr/>
        </p:nvSpPr>
        <p:spPr>
          <a:xfrm>
            <a:off x="7909559" y="5632704"/>
            <a:ext cx="3337560" cy="365760"/>
          </a:xfrm>
          <a:prstGeom prst="rect">
            <a:avLst/>
          </a:prstGeom>
          <a:noFill/>
        </p:spPr>
        <p:txBody>
          <a:bodyPr wrap="square" anchor="t">
            <a:spAutoFit/>
          </a:bodyPr>
          <a:lstStyle/>
          <a:p>
            <a:pPr algn="l">
              <a:spcAft>
                <a:spcPts val="200"/>
              </a:spcAft>
            </a:pPr>
            <a:r>
              <a:rPr sz="1200" b="0">
                <a:solidFill>
                  <a:srgbClr val="161B26"/>
                </a:solidFill>
                <a:latin typeface="Arial"/>
              </a:rPr>
              <a:t>Presenting solution evidence as if it proved demand — how products launch to silence.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TO PUT ON THE BOARD SLIDE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Balanced Innovation Scorecard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Customer value</a:t>
            </a:r>
          </a:p>
          <a:p>
            <a:pPr algn="l">
              <a:spcAft>
                <a:spcPts val="300"/>
              </a:spcAft>
            </a:pPr>
            <a:r>
              <a:rPr sz="1150" b="0">
                <a:solidFill>
                  <a:srgbClr val="5B6372"/>
                </a:solidFill>
                <a:latin typeface="Arial"/>
              </a:rPr>
              <a:t>Time saved, effort removed, task success rate, or a genuine satisfaction signal.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Business value</a:t>
            </a:r>
          </a:p>
          <a:p>
            <a:pPr algn="l">
              <a:spcAft>
                <a:spcPts val="300"/>
              </a:spcAft>
            </a:pPr>
            <a:r>
              <a:rPr sz="1150" b="0">
                <a:solidFill>
                  <a:srgbClr val="5B6372"/>
                </a:solidFill>
                <a:latin typeface="Arial"/>
              </a:rPr>
              <a:t>Revenue, cost avoided, retention, or cycle time — expressed in money where honest.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Societal value</a:t>
            </a:r>
          </a:p>
          <a:p>
            <a:pPr algn="l">
              <a:spcAft>
                <a:spcPts val="300"/>
              </a:spcAft>
            </a:pPr>
            <a:r>
              <a:rPr sz="1150" b="0">
                <a:solidFill>
                  <a:srgbClr val="5B6372"/>
                </a:solidFill>
                <a:latin typeface="Arial"/>
              </a:rPr>
              <a:t>Access, inclusion, safety or environmental effect — the value not captured in the price.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A leading indicator</a:t>
            </a:r>
          </a:p>
          <a:p>
            <a:pPr algn="l">
              <a:spcAft>
                <a:spcPts val="300"/>
              </a:spcAft>
            </a:pPr>
            <a:r>
              <a:rPr sz="1150" b="0">
                <a:solidFill>
                  <a:srgbClr val="5B6372"/>
                </a:solidFill>
                <a:latin typeface="Arial"/>
              </a:rPr>
              <a:t>Something that moves early enough to still change a decision this quarter.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The decision test</a:t>
            </a:r>
          </a:p>
          <a:p>
            <a:pPr algn="l">
              <a:spcAft>
                <a:spcPts val="300"/>
              </a:spcAft>
            </a:pPr>
            <a:r>
              <a:rPr sz="1150" b="0">
                <a:solidFill>
                  <a:srgbClr val="5B6372"/>
                </a:solidFill>
                <a:latin typeface="Arial"/>
              </a:rPr>
              <a:t>For every metric, write the decision that would change if it moved. No decision, no metric.</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Beware vanity metrics</a:t>
            </a:r>
          </a:p>
          <a:p>
            <a:pPr algn="l">
              <a:spcAft>
                <a:spcPts val="300"/>
              </a:spcAft>
            </a:pPr>
            <a:r>
              <a:rPr sz="1150" b="0">
                <a:solidFill>
                  <a:srgbClr val="5B6372"/>
                </a:solidFill>
                <a:latin typeface="Arial"/>
              </a:rPr>
              <a:t>Ideas submitted, workshops run and people trained always rise and prove nothing.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REAL-WORLD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DBS Bank — Scaling Innovation Across 25,000 People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19656"/>
            <a:ext cx="10241280" cy="310896"/>
          </a:xfrm>
          <a:prstGeom prst="rect">
            <a:avLst/>
          </a:prstGeom>
          <a:noFill/>
        </p:spPr>
        <p:txBody>
          <a:bodyPr wrap="square" anchor="t">
            <a:spAutoFit/>
          </a:bodyPr>
          <a:lstStyle/>
          <a:p>
            <a:pPr algn="l">
              <a:spcAft>
                <a:spcPts val="400"/>
              </a:spcAft>
            </a:pPr>
            <a:r>
              <a:rPr sz="1250" b="1">
                <a:solidFill>
                  <a:srgbClr val="FFFFFF"/>
                </a:solidFill>
                <a:latin typeface="Arial"/>
              </a:rPr>
              <a:t>ACTIVITY 10  ·  50 MIN</a:t>
            </a:r>
          </a:p>
        </p:txBody>
      </p:sp>
      <p:sp>
        <p:nvSpPr>
          <p:cNvPr id="9" name="Rectangle 8"/>
          <p:cNvSpPr/>
          <p:nvPr/>
        </p:nvSpPr>
        <p:spPr>
          <a:xfrm>
            <a:off x="777240" y="2240280"/>
            <a:ext cx="653796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395728"/>
            <a:ext cx="6126480" cy="310896"/>
          </a:xfrm>
          <a:prstGeom prst="rect">
            <a:avLst/>
          </a:prstGeom>
          <a:noFill/>
        </p:spPr>
        <p:txBody>
          <a:bodyPr wrap="square" anchor="t">
            <a:spAutoFit/>
          </a:bodyPr>
          <a:lstStyle/>
          <a:p>
            <a:pPr algn="l">
              <a:spcAft>
                <a:spcPts val="400"/>
              </a:spcAft>
            </a:pPr>
            <a:r>
              <a:rPr sz="1200" b="1">
                <a:solidFill>
                  <a:srgbClr val="1F6FEB"/>
                </a:solidFill>
                <a:latin typeface="Arial"/>
              </a:rPr>
              <a:t>THE REAL CASE</a:t>
            </a:r>
          </a:p>
        </p:txBody>
      </p:sp>
      <p:sp>
        <p:nvSpPr>
          <p:cNvPr id="11" name="TextBox 10"/>
          <p:cNvSpPr txBox="1"/>
          <p:nvPr/>
        </p:nvSpPr>
        <p:spPr>
          <a:xfrm>
            <a:off x="987552" y="2743200"/>
            <a:ext cx="6144768" cy="2468880"/>
          </a:xfrm>
          <a:prstGeom prst="rect">
            <a:avLst/>
          </a:prstGeom>
          <a:noFill/>
        </p:spPr>
        <p:txBody>
          <a:bodyPr wrap="square" anchor="t">
            <a:spAutoFit/>
          </a:bodyPr>
          <a:lstStyle/>
          <a:p>
            <a:pPr algn="l">
              <a:spcAft>
                <a:spcPts val="400"/>
              </a:spcAft>
            </a:pPr>
            <a:r>
              <a:rPr sz="1150" b="0">
                <a:solidFill>
                  <a:srgbClr val="161B26"/>
                </a:solidFill>
                <a:latin typeface="Arial"/>
              </a:rPr>
              <a:t>Around 2014 DBS Bank set out to 'Make Banking Joyful' and to become a technology company delivering banking. Rather than launching an innovation lab and hoping it spread, DBS changed the operating system: it ran large-scale hackathons pairing bankers with start-ups, trained thousands of staff in customer journey thinking, moved the majority of its technology in-house from outsourced vendors, and adopted the discipline of measuring customer time saved — reporting tens of millions of customer hours eliminated from waiting and rework. Senior leaders were required to participate, not merely sponsor. DBS was subsequently named the world's best bank by multiple international publications. The instructive part is not the awards but the mechanism: DBS changed what got measured, who had authority, and what leaders personally did — and let the culture follow.</a:t>
            </a:r>
          </a:p>
        </p:txBody>
      </p:sp>
      <p:sp>
        <p:nvSpPr>
          <p:cNvPr id="12" name="Rectangle 11"/>
          <p:cNvSpPr/>
          <p:nvPr/>
        </p:nvSpPr>
        <p:spPr>
          <a:xfrm>
            <a:off x="7635240" y="2240280"/>
            <a:ext cx="3776472" cy="306324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35240" y="2240280"/>
            <a:ext cx="377647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45552" y="2432304"/>
            <a:ext cx="3383280" cy="310896"/>
          </a:xfrm>
          <a:prstGeom prst="rect">
            <a:avLst/>
          </a:prstGeom>
          <a:noFill/>
        </p:spPr>
        <p:txBody>
          <a:bodyPr wrap="square" anchor="t">
            <a:spAutoFit/>
          </a:bodyPr>
          <a:lstStyle/>
          <a:p>
            <a:pPr algn="l">
              <a:spcAft>
                <a:spcPts val="400"/>
              </a:spcAft>
            </a:pPr>
            <a:r>
              <a:rPr sz="1200" b="1">
                <a:solidFill>
                  <a:srgbClr val="10B981"/>
                </a:solidFill>
                <a:latin typeface="Arial"/>
              </a:rPr>
              <a:t>YOUR SCENARIO</a:t>
            </a:r>
          </a:p>
        </p:txBody>
      </p:sp>
      <p:sp>
        <p:nvSpPr>
          <p:cNvPr id="15" name="TextBox 14"/>
          <p:cNvSpPr txBox="1"/>
          <p:nvPr/>
        </p:nvSpPr>
        <p:spPr>
          <a:xfrm>
            <a:off x="7845552" y="2779776"/>
            <a:ext cx="3401568" cy="2377440"/>
          </a:xfrm>
          <a:prstGeom prst="rect">
            <a:avLst/>
          </a:prstGeom>
          <a:noFill/>
        </p:spPr>
        <p:txBody>
          <a:bodyPr wrap="square" anchor="t">
            <a:spAutoFit/>
          </a:bodyPr>
          <a:lstStyle/>
          <a:p>
            <a:pPr algn="l">
              <a:spcAft>
                <a:spcPts val="400"/>
              </a:spcAft>
            </a:pPr>
            <a:r>
              <a:rPr sz="1150" b="0">
                <a:solidFill>
                  <a:srgbClr val="161B26"/>
                </a:solidFill>
                <a:latin typeface="Arial"/>
              </a:rPr>
              <a:t>You have run one successful design thinking pilot in your department. Your director is impressed and asks you to 'roll it out to the whole division' — 400 people — with no additional budget and no change to existing KPIs.</a:t>
            </a:r>
          </a:p>
        </p:txBody>
      </p:sp>
      <p:sp>
        <p:nvSpPr>
          <p:cNvPr id="16" name="Rectangle 15"/>
          <p:cNvSpPr/>
          <p:nvPr/>
        </p:nvSpPr>
        <p:spPr>
          <a:xfrm>
            <a:off x="777240" y="5440680"/>
            <a:ext cx="10634472"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440680"/>
            <a:ext cx="8229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541264"/>
            <a:ext cx="10241280" cy="420624"/>
          </a:xfrm>
          <a:prstGeom prst="rect">
            <a:avLst/>
          </a:prstGeom>
          <a:noFill/>
        </p:spPr>
        <p:txBody>
          <a:bodyPr wrap="square" anchor="t">
            <a:spAutoFit/>
          </a:bodyPr>
          <a:lstStyle/>
          <a:p>
            <a:pPr algn="l">
              <a:spcAft>
                <a:spcPts val="400"/>
              </a:spcAft>
            </a:pPr>
            <a:r>
              <a:rPr sz="1150" b="0">
                <a:solidFill>
                  <a:srgbClr val="5B6372"/>
                </a:solidFill>
                <a:latin typeface="Arial"/>
              </a:rPr>
              <a:t>Full case, discussion questions and debrief: see the Learner Guide and the printed activity brief.</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10 · WORK IN GROUPS OF 3–5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10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509760" y="566928"/>
            <a:ext cx="1901952"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0" y="621792"/>
            <a:ext cx="1901952" cy="310896"/>
          </a:xfrm>
          <a:prstGeom prst="rect">
            <a:avLst/>
          </a:prstGeom>
          <a:noFill/>
        </p:spPr>
        <p:txBody>
          <a:bodyPr wrap="square" anchor="t">
            <a:spAutoFit/>
          </a:bodyPr>
          <a:lstStyle/>
          <a:p>
            <a:pPr algn="ctr">
              <a:spcAft>
                <a:spcPts val="400"/>
              </a:spcAft>
            </a:pPr>
            <a:r>
              <a:rPr sz="1200" b="1">
                <a:solidFill>
                  <a:srgbClr val="FFFFFF"/>
                </a:solidFill>
                <a:latin typeface="Arial"/>
              </a:rPr>
              <a:t>50 MIN</a:t>
            </a:r>
          </a:p>
        </p:txBody>
      </p:sp>
      <p:sp>
        <p:nvSpPr>
          <p:cNvPr id="9" name="Rectangle 8"/>
          <p:cNvSpPr/>
          <p:nvPr/>
        </p:nvSpPr>
        <p:spPr>
          <a:xfrm>
            <a:off x="777240" y="1783080"/>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4128" y="1922983"/>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298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3" name="TextBox 12"/>
          <p:cNvSpPr txBox="1"/>
          <p:nvPr/>
        </p:nvSpPr>
        <p:spPr>
          <a:xfrm>
            <a:off x="1691640" y="1856232"/>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DBS measured 'customer hours saved'. Why is that a more powerful scaling lever than counting how many staff attended training?</a:t>
            </a:r>
          </a:p>
        </p:txBody>
      </p:sp>
      <p:sp>
        <p:nvSpPr>
          <p:cNvPr id="14" name="Rectangle 13"/>
          <p:cNvSpPr/>
          <p:nvPr/>
        </p:nvSpPr>
        <p:spPr>
          <a:xfrm>
            <a:off x="777240" y="2684678"/>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84678"/>
            <a:ext cx="82296" cy="7370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4128" y="282458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282458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757830"/>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Your director offers no budget and no KPI change. What is the honest risk to the rollout, and how do you surface it professionally?</a:t>
            </a:r>
          </a:p>
        </p:txBody>
      </p:sp>
      <p:sp>
        <p:nvSpPr>
          <p:cNvPr id="19" name="Rectangle 18"/>
          <p:cNvSpPr/>
          <p:nvPr/>
        </p:nvSpPr>
        <p:spPr>
          <a:xfrm>
            <a:off x="777240" y="3586276"/>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24128" y="3726179"/>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372617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3659428"/>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DBS required leaders to participate rather than sponsor. What is the practical difference, and which does your organisation do?</a:t>
            </a:r>
          </a:p>
        </p:txBody>
      </p:sp>
      <p:sp>
        <p:nvSpPr>
          <p:cNvPr id="24" name="Rectangle 23"/>
          <p:cNvSpPr/>
          <p:nvPr/>
        </p:nvSpPr>
        <p:spPr>
          <a:xfrm>
            <a:off x="777240" y="4487874"/>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487874"/>
            <a:ext cx="82296" cy="7370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24128" y="4627777"/>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 y="462777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1691640" y="4561026"/>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Which is harder to scale — the method, the mindset, or the authority to act on what you learn? Defend your ranking.</a:t>
            </a:r>
          </a:p>
        </p:txBody>
      </p:sp>
      <p:sp>
        <p:nvSpPr>
          <p:cNvPr id="29" name="Rectangle 28"/>
          <p:cNvSpPr/>
          <p:nvPr/>
        </p:nvSpPr>
        <p:spPr>
          <a:xfrm>
            <a:off x="777240" y="5389472"/>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4128" y="5529375"/>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4128" y="5529375"/>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3" name="TextBox 32"/>
          <p:cNvSpPr txBox="1"/>
          <p:nvPr/>
        </p:nvSpPr>
        <p:spPr>
          <a:xfrm>
            <a:off x="1691640" y="5462624"/>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Where would GenAI genuinely accelerate a 400-person rollout, and where would it create the illusion of progress?</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10 — What You Produce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Your task</a:t>
            </a:r>
          </a:p>
          <a:p>
            <a:pPr algn="l">
              <a:spcAft>
                <a:spcPts val="300"/>
              </a:spcAft>
            </a:pPr>
            <a:r>
              <a:rPr sz="1150" b="0">
                <a:solidFill>
                  <a:srgbClr val="5B6372"/>
                </a:solidFill>
                <a:latin typeface="Arial"/>
              </a:rPr>
              <a:t>Learners analyse how a large regulated organisation actually scaled human-centred innovation, and build a realistic scaling plan that changes measurement, authority and leadership behaviour rather than merely running more training.</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 will produce</a:t>
            </a:r>
          </a:p>
          <a:p>
            <a:pPr algn="l">
              <a:spcAft>
                <a:spcPts val="300"/>
              </a:spcAft>
            </a:pPr>
            <a:r>
              <a:rPr sz="1150" b="0">
                <a:solidFill>
                  <a:srgbClr val="5B6372"/>
                </a:solidFill>
                <a:latin typeface="Arial"/>
              </a:rPr>
              <a:t>A one-page scaling plan for the learner's own organisation covering the first 90 days, the metric that would change, and the leadership behaviour required.</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Tools</a:t>
            </a:r>
          </a:p>
          <a:p>
            <a:pPr algn="l">
              <a:spcAft>
                <a:spcPts val="300"/>
              </a:spcAft>
            </a:pPr>
            <a:r>
              <a:rPr sz="1150" b="0">
                <a:solidFill>
                  <a:srgbClr val="5B6372"/>
                </a:solidFill>
                <a:latin typeface="Arial"/>
              </a:rPr>
              <a:t>Padlet Classroom Board, ChatGPT or Microsoft Copilot</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Done when</a:t>
            </a:r>
          </a:p>
          <a:p>
            <a:pPr algn="l">
              <a:spcAft>
                <a:spcPts val="300"/>
              </a:spcAft>
            </a:pPr>
            <a:r>
              <a:rPr sz="1150" b="0">
                <a:solidFill>
                  <a:srgbClr val="5B6372"/>
                </a:solidFill>
                <a:latin typeface="Arial"/>
              </a:rPr>
              <a:t>Your plan changes at least one measurement and one authority, not just the training calendar, and its scope is small enough to be real.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TRAINER DEBRIEF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10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011680"/>
            <a:ext cx="10058400" cy="365760"/>
          </a:xfrm>
          <a:prstGeom prst="rect">
            <a:avLst/>
          </a:prstGeom>
          <a:noFill/>
        </p:spPr>
        <p:txBody>
          <a:bodyPr wrap="square" anchor="t">
            <a:spAutoFit/>
          </a:bodyPr>
          <a:lstStyle/>
          <a:p>
            <a:pPr algn="l">
              <a:spcAft>
                <a:spcPts val="400"/>
              </a:spcAft>
            </a:pPr>
            <a:r>
              <a:rPr sz="1250" b="1">
                <a:solidFill>
                  <a:srgbClr val="10B981"/>
                </a:solidFill>
                <a:latin typeface="Arial"/>
              </a:rPr>
              <a:t>WHAT THE ROOM SHOULD CONCLUDE</a:t>
            </a:r>
          </a:p>
        </p:txBody>
      </p:sp>
      <p:sp>
        <p:nvSpPr>
          <p:cNvPr id="10" name="TextBox 9"/>
          <p:cNvSpPr txBox="1"/>
          <p:nvPr/>
        </p:nvSpPr>
        <p:spPr>
          <a:xfrm>
            <a:off x="1143000" y="2468880"/>
            <a:ext cx="10076688" cy="3429000"/>
          </a:xfrm>
          <a:prstGeom prst="rect">
            <a:avLst/>
          </a:prstGeom>
          <a:noFill/>
        </p:spPr>
        <p:txBody>
          <a:bodyPr wrap="square" anchor="t">
            <a:spAutoFit/>
          </a:bodyPr>
          <a:lstStyle/>
          <a:p>
            <a:pPr algn="l">
              <a:spcAft>
                <a:spcPts val="400"/>
              </a:spcAft>
            </a:pPr>
            <a:r>
              <a:rPr sz="1300" b="0">
                <a:solidFill>
                  <a:srgbClr val="161B26"/>
                </a:solidFill>
                <a:latin typeface="Arial"/>
              </a:rPr>
              <a:t>Training 400 people produces 400 people who know the vocabulary and cannot use it, unless three other things change: what gets measured, who is allowed to decide, and what senior leaders visibly do. DBS's customer-hours-saved metric is instructive because it is a customer-value measure that the whole organisation could act on, unlike a training-completion count, which measures activity and changes nothing. The honest answer to the no-budget no-KPI-change instruction is that the rollout will produce awareness without behaviour — and the professional way to say so is to propose a smaller scope with a real metric attached rather than to accept an unachievable one. GenAI can genuinely help with scale here: producing training material, synthesising feedback from 400 people, spotting where teams are stuck. It cannot manufacture the authority that makes the method usable.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04 · REAL-WORLD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Boeing 737 MAX — Systems Thinking and the Cost of Local Optimisation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3840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19656"/>
            <a:ext cx="10241280" cy="310896"/>
          </a:xfrm>
          <a:prstGeom prst="rect">
            <a:avLst/>
          </a:prstGeom>
          <a:noFill/>
        </p:spPr>
        <p:txBody>
          <a:bodyPr wrap="square" anchor="t">
            <a:spAutoFit/>
          </a:bodyPr>
          <a:lstStyle/>
          <a:p>
            <a:pPr algn="l">
              <a:spcAft>
                <a:spcPts val="400"/>
              </a:spcAft>
            </a:pPr>
            <a:r>
              <a:rPr sz="1250" b="1">
                <a:solidFill>
                  <a:srgbClr val="FFFFFF"/>
                </a:solidFill>
                <a:latin typeface="Arial"/>
              </a:rPr>
              <a:t>ACTIVITY 11  ·  50 MIN</a:t>
            </a:r>
          </a:p>
        </p:txBody>
      </p:sp>
      <p:sp>
        <p:nvSpPr>
          <p:cNvPr id="9" name="Rectangle 8"/>
          <p:cNvSpPr/>
          <p:nvPr/>
        </p:nvSpPr>
        <p:spPr>
          <a:xfrm>
            <a:off x="777240" y="2240280"/>
            <a:ext cx="653796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395728"/>
            <a:ext cx="6126480" cy="310896"/>
          </a:xfrm>
          <a:prstGeom prst="rect">
            <a:avLst/>
          </a:prstGeom>
          <a:noFill/>
        </p:spPr>
        <p:txBody>
          <a:bodyPr wrap="square" anchor="t">
            <a:spAutoFit/>
          </a:bodyPr>
          <a:lstStyle/>
          <a:p>
            <a:pPr algn="l">
              <a:spcAft>
                <a:spcPts val="400"/>
              </a:spcAft>
            </a:pPr>
            <a:r>
              <a:rPr sz="1200" b="1">
                <a:solidFill>
                  <a:srgbClr val="F59E0B"/>
                </a:solidFill>
                <a:latin typeface="Arial"/>
              </a:rPr>
              <a:t>THE REAL CASE</a:t>
            </a:r>
          </a:p>
        </p:txBody>
      </p:sp>
      <p:sp>
        <p:nvSpPr>
          <p:cNvPr id="11" name="TextBox 10"/>
          <p:cNvSpPr txBox="1"/>
          <p:nvPr/>
        </p:nvSpPr>
        <p:spPr>
          <a:xfrm>
            <a:off x="987552" y="2743200"/>
            <a:ext cx="6144768" cy="2468880"/>
          </a:xfrm>
          <a:prstGeom prst="rect">
            <a:avLst/>
          </a:prstGeom>
          <a:noFill/>
        </p:spPr>
        <p:txBody>
          <a:bodyPr wrap="square" anchor="t">
            <a:spAutoFit/>
          </a:bodyPr>
          <a:lstStyle/>
          <a:p>
            <a:pPr algn="l">
              <a:spcAft>
                <a:spcPts val="400"/>
              </a:spcAft>
            </a:pPr>
            <a:r>
              <a:rPr sz="1150" b="0">
                <a:solidFill>
                  <a:srgbClr val="161B26"/>
                </a:solidFill>
                <a:latin typeface="Arial"/>
              </a:rPr>
              <a:t>Boeing needed a fast, cheap answer to the Airbus A320neo. Fitting larger engines to the existing 737 airframe changed the aircraft's pitch behaviour, so Boeing added MCAS, software that automatically pushed the nose down. Each decision was locally rational: reuse the airframe to save cost and time; solve the aerodynamic consequence in software; keep the aircraft under the same type rating so airlines would not need expensive pilot simulator training; therefore minimise what pilots were told about MCAS. Two crashes killed 346 people and the fleet was grounded worldwide for around 20 months. No single decision was insane in isolation. The system of decisions — commercial pressure, a reused airframe, a software patch, and a training omission driven by the commercial goal — was lethal. This is what a reinforcing feedback loop with no effective balancing loop looks like in practice.</a:t>
            </a:r>
          </a:p>
        </p:txBody>
      </p:sp>
      <p:sp>
        <p:nvSpPr>
          <p:cNvPr id="12" name="Rectangle 11"/>
          <p:cNvSpPr/>
          <p:nvPr/>
        </p:nvSpPr>
        <p:spPr>
          <a:xfrm>
            <a:off x="7635240" y="2240280"/>
            <a:ext cx="3776472" cy="306324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35240" y="2240280"/>
            <a:ext cx="377647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45552" y="2432304"/>
            <a:ext cx="3383280" cy="310896"/>
          </a:xfrm>
          <a:prstGeom prst="rect">
            <a:avLst/>
          </a:prstGeom>
          <a:noFill/>
        </p:spPr>
        <p:txBody>
          <a:bodyPr wrap="square" anchor="t">
            <a:spAutoFit/>
          </a:bodyPr>
          <a:lstStyle/>
          <a:p>
            <a:pPr algn="l">
              <a:spcAft>
                <a:spcPts val="400"/>
              </a:spcAft>
            </a:pPr>
            <a:r>
              <a:rPr sz="1200" b="1">
                <a:solidFill>
                  <a:srgbClr val="10B981"/>
                </a:solidFill>
                <a:latin typeface="Arial"/>
              </a:rPr>
              <a:t>YOUR SCENARIO</a:t>
            </a:r>
          </a:p>
        </p:txBody>
      </p:sp>
      <p:sp>
        <p:nvSpPr>
          <p:cNvPr id="15" name="TextBox 14"/>
          <p:cNvSpPr txBox="1"/>
          <p:nvPr/>
        </p:nvSpPr>
        <p:spPr>
          <a:xfrm>
            <a:off x="7845552" y="2779776"/>
            <a:ext cx="3401568" cy="2377440"/>
          </a:xfrm>
          <a:prstGeom prst="rect">
            <a:avLst/>
          </a:prstGeom>
          <a:noFill/>
        </p:spPr>
        <p:txBody>
          <a:bodyPr wrap="square" anchor="t">
            <a:spAutoFit/>
          </a:bodyPr>
          <a:lstStyle/>
          <a:p>
            <a:pPr algn="l">
              <a:spcAft>
                <a:spcPts val="400"/>
              </a:spcAft>
            </a:pPr>
            <a:r>
              <a:rPr sz="1150" b="0">
                <a:solidFill>
                  <a:srgbClr val="161B26"/>
                </a:solidFill>
                <a:latin typeface="Arial"/>
              </a:rPr>
              <a:t>Your organisation is under pressure to ship an AI-assisted feature before a competitor. Each team is optimising its own deliverable. You have been asked to review the programme for systemic risk.</a:t>
            </a:r>
          </a:p>
        </p:txBody>
      </p:sp>
      <p:sp>
        <p:nvSpPr>
          <p:cNvPr id="16" name="Rectangle 15"/>
          <p:cNvSpPr/>
          <p:nvPr/>
        </p:nvSpPr>
        <p:spPr>
          <a:xfrm>
            <a:off x="777240" y="5440680"/>
            <a:ext cx="10634472"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440680"/>
            <a:ext cx="8229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541264"/>
            <a:ext cx="10241280" cy="420624"/>
          </a:xfrm>
          <a:prstGeom prst="rect">
            <a:avLst/>
          </a:prstGeom>
          <a:noFill/>
        </p:spPr>
        <p:txBody>
          <a:bodyPr wrap="square" anchor="t">
            <a:spAutoFit/>
          </a:bodyPr>
          <a:lstStyle/>
          <a:p>
            <a:pPr algn="l">
              <a:spcAft>
                <a:spcPts val="400"/>
              </a:spcAft>
            </a:pPr>
            <a:r>
              <a:rPr sz="1150" b="0">
                <a:solidFill>
                  <a:srgbClr val="5B6372"/>
                </a:solidFill>
                <a:latin typeface="Arial"/>
              </a:rPr>
              <a:t>Full case, discussion questions and debrief: see the Learner Guide and the printed activity brief.</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11 · WORK IN GROUPS OF 3–5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11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509760" y="566928"/>
            <a:ext cx="1901952"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0" y="621792"/>
            <a:ext cx="1901952" cy="310896"/>
          </a:xfrm>
          <a:prstGeom prst="rect">
            <a:avLst/>
          </a:prstGeom>
          <a:noFill/>
        </p:spPr>
        <p:txBody>
          <a:bodyPr wrap="square" anchor="t">
            <a:spAutoFit/>
          </a:bodyPr>
          <a:lstStyle/>
          <a:p>
            <a:pPr algn="ctr">
              <a:spcAft>
                <a:spcPts val="400"/>
              </a:spcAft>
            </a:pPr>
            <a:r>
              <a:rPr sz="1200" b="1">
                <a:solidFill>
                  <a:srgbClr val="FFFFFF"/>
                </a:solidFill>
                <a:latin typeface="Arial"/>
              </a:rPr>
              <a:t>50 MIN</a:t>
            </a:r>
          </a:p>
        </p:txBody>
      </p:sp>
      <p:sp>
        <p:nvSpPr>
          <p:cNvPr id="9" name="Rectangle 8"/>
          <p:cNvSpPr/>
          <p:nvPr/>
        </p:nvSpPr>
        <p:spPr>
          <a:xfrm>
            <a:off x="777240" y="1783080"/>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4128" y="1922983"/>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298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3" name="TextBox 12"/>
          <p:cNvSpPr txBox="1"/>
          <p:nvPr/>
        </p:nvSpPr>
        <p:spPr>
          <a:xfrm>
            <a:off x="1691640" y="1856232"/>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Trace the chain: which decision made the next one seem necessary? Where could one balancing loop have broken it?</a:t>
            </a:r>
          </a:p>
        </p:txBody>
      </p:sp>
      <p:sp>
        <p:nvSpPr>
          <p:cNvPr id="14" name="Rectangle 13"/>
          <p:cNvSpPr/>
          <p:nvPr/>
        </p:nvSpPr>
        <p:spPr>
          <a:xfrm>
            <a:off x="777240" y="2684678"/>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84678"/>
            <a:ext cx="82296" cy="7370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4128" y="282458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282458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757830"/>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Every decision was locally rational. What does that tell you about relying on individual good judgement as a safety mechanism?</a:t>
            </a:r>
          </a:p>
        </p:txBody>
      </p:sp>
      <p:sp>
        <p:nvSpPr>
          <p:cNvPr id="19" name="Rectangle 18"/>
          <p:cNvSpPr/>
          <p:nvPr/>
        </p:nvSpPr>
        <p:spPr>
          <a:xfrm>
            <a:off x="777240" y="3586276"/>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24128" y="3726179"/>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372617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3659428"/>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Who in the system had the information to see the whole picture, and what stopped that information from changing the outcome?</a:t>
            </a:r>
          </a:p>
        </p:txBody>
      </p:sp>
      <p:sp>
        <p:nvSpPr>
          <p:cNvPr id="24" name="Rectangle 23"/>
          <p:cNvSpPr/>
          <p:nvPr/>
        </p:nvSpPr>
        <p:spPr>
          <a:xfrm>
            <a:off x="777240" y="4487874"/>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487874"/>
            <a:ext cx="82296" cy="7370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24128" y="4627777"/>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 y="462777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1691640" y="4561026"/>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Apply the same analysis to an AI-driven innovation programme. Where does speed pressure create a comparable blind spot?</a:t>
            </a:r>
          </a:p>
        </p:txBody>
      </p:sp>
      <p:sp>
        <p:nvSpPr>
          <p:cNvPr id="29" name="Rectangle 28"/>
          <p:cNvSpPr/>
          <p:nvPr/>
        </p:nvSpPr>
        <p:spPr>
          <a:xfrm>
            <a:off x="777240" y="5389472"/>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4128" y="5529375"/>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4128" y="5529375"/>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3" name="TextBox 32"/>
          <p:cNvSpPr txBox="1"/>
          <p:nvPr/>
        </p:nvSpPr>
        <p:spPr>
          <a:xfrm>
            <a:off x="1691640" y="5462624"/>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What is the systems-thinking equivalent of 'the scanner is too loud' — the local fix that hides the real problem?</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11 — What You Produce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Your task</a:t>
            </a:r>
          </a:p>
          <a:p>
            <a:pPr algn="l">
              <a:spcAft>
                <a:spcPts val="300"/>
              </a:spcAft>
            </a:pPr>
            <a:r>
              <a:rPr sz="1150" b="0">
                <a:solidFill>
                  <a:srgbClr val="5B6372"/>
                </a:solidFill>
                <a:latin typeface="Arial"/>
              </a:rPr>
              <a:t>Learners map a real systemic failure using interconnectedness, feedback loops and causality, then apply the same mapping to an AI-driven innovation programme to identify where local optimisation is producing global risk.</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 will produce</a:t>
            </a:r>
          </a:p>
          <a:p>
            <a:pPr algn="l">
              <a:spcAft>
                <a:spcPts val="300"/>
              </a:spcAft>
            </a:pPr>
            <a:r>
              <a:rPr sz="1150" b="0">
                <a:solidFill>
                  <a:srgbClr val="5B6372"/>
                </a:solidFill>
                <a:latin typeface="Arial"/>
              </a:rPr>
              <a:t>A causal loop map of the 737 MAX decision chain, and a systemic risk register for the learner's own AI-assisted programme.</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Tools</a:t>
            </a:r>
          </a:p>
          <a:p>
            <a:pPr algn="l">
              <a:spcAft>
                <a:spcPts val="300"/>
              </a:spcAft>
            </a:pPr>
            <a:r>
              <a:rPr sz="1150" b="0">
                <a:solidFill>
                  <a:srgbClr val="5B6372"/>
                </a:solidFill>
                <a:latin typeface="Arial"/>
              </a:rPr>
              <a:t>Design Thinking Studio, Padlet Classroom Board, ChatGPT or Microsoft Copilot</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Done when</a:t>
            </a:r>
          </a:p>
          <a:p>
            <a:pPr algn="l">
              <a:spcAft>
                <a:spcPts val="300"/>
              </a:spcAft>
            </a:pPr>
            <a:r>
              <a:rPr sz="1150" b="0">
                <a:solidFill>
                  <a:srgbClr val="5B6372"/>
                </a:solidFill>
                <a:latin typeface="Arial"/>
              </a:rPr>
              <a:t>Your loop map shows causality rather than a timeline, and your risk register names a mechanism with a named owner who has authority to stop work.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TRAINER DEBRIEF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11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011680"/>
            <a:ext cx="10058400" cy="365760"/>
          </a:xfrm>
          <a:prstGeom prst="rect">
            <a:avLst/>
          </a:prstGeom>
          <a:noFill/>
        </p:spPr>
        <p:txBody>
          <a:bodyPr wrap="square" anchor="t">
            <a:spAutoFit/>
          </a:bodyPr>
          <a:lstStyle/>
          <a:p>
            <a:pPr algn="l">
              <a:spcAft>
                <a:spcPts val="400"/>
              </a:spcAft>
            </a:pPr>
            <a:r>
              <a:rPr sz="1250" b="1">
                <a:solidFill>
                  <a:srgbClr val="10B981"/>
                </a:solidFill>
                <a:latin typeface="Arial"/>
              </a:rPr>
              <a:t>WHAT THE ROOM SHOULD CONCLUDE</a:t>
            </a:r>
          </a:p>
        </p:txBody>
      </p:sp>
      <p:sp>
        <p:nvSpPr>
          <p:cNvPr id="10" name="TextBox 9"/>
          <p:cNvSpPr txBox="1"/>
          <p:nvPr/>
        </p:nvSpPr>
        <p:spPr>
          <a:xfrm>
            <a:off x="1143000" y="2468880"/>
            <a:ext cx="10076688" cy="3429000"/>
          </a:xfrm>
          <a:prstGeom prst="rect">
            <a:avLst/>
          </a:prstGeom>
          <a:noFill/>
        </p:spPr>
        <p:txBody>
          <a:bodyPr wrap="square" anchor="t">
            <a:spAutoFit/>
          </a:bodyPr>
          <a:lstStyle/>
          <a:p>
            <a:pPr algn="l">
              <a:spcAft>
                <a:spcPts val="400"/>
              </a:spcAft>
            </a:pPr>
            <a:r>
              <a:rPr sz="1300" b="0">
                <a:solidFill>
                  <a:srgbClr val="161B26"/>
                </a:solidFill>
                <a:latin typeface="Arial"/>
              </a:rPr>
              <a:t>Systems thinking is not an abstract philosophy; it is the discipline that catches failures no individual decision-maker can see. The 737 MAX chain is a textbook reinforcing loop: commercial urgency drove airframe reuse, which drove the software fix, which drove the training omission, each step justified by the previous one, with no balancing loop strong enough to interrupt it. Note who could have interrupted it — regulators, test pilots, engineers — and what neutralised them: delegated certification, schedule pressure, and a framing in which raising the concern meant arguing against the commercial case. For AI programmes the parallel is direct. Speed pressure produces a model shipped without evaluation, then a guardrail bolted on, then a monitoring gap because monitoring would slow the launch. The countermeasure is structural, not attitudinal: a named balancing mechanism with the authority to stop the line.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REAL-WORLD CASE STUDY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Innovation Metrics — Designing KPIs That Change a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19656"/>
            <a:ext cx="10241280" cy="310896"/>
          </a:xfrm>
          <a:prstGeom prst="rect">
            <a:avLst/>
          </a:prstGeom>
          <a:noFill/>
        </p:spPr>
        <p:txBody>
          <a:bodyPr wrap="square" anchor="t">
            <a:spAutoFit/>
          </a:bodyPr>
          <a:lstStyle/>
          <a:p>
            <a:pPr algn="l">
              <a:spcAft>
                <a:spcPts val="400"/>
              </a:spcAft>
            </a:pPr>
            <a:r>
              <a:rPr sz="1250" b="1">
                <a:solidFill>
                  <a:srgbClr val="FFFFFF"/>
                </a:solidFill>
                <a:latin typeface="Arial"/>
              </a:rPr>
              <a:t>ACTIVITY 12  ·  45 MIN</a:t>
            </a:r>
          </a:p>
        </p:txBody>
      </p:sp>
      <p:sp>
        <p:nvSpPr>
          <p:cNvPr id="9" name="Rectangle 8"/>
          <p:cNvSpPr/>
          <p:nvPr/>
        </p:nvSpPr>
        <p:spPr>
          <a:xfrm>
            <a:off x="777240" y="2240280"/>
            <a:ext cx="653796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395728"/>
            <a:ext cx="6126480" cy="310896"/>
          </a:xfrm>
          <a:prstGeom prst="rect">
            <a:avLst/>
          </a:prstGeom>
          <a:noFill/>
        </p:spPr>
        <p:txBody>
          <a:bodyPr wrap="square" anchor="t">
            <a:spAutoFit/>
          </a:bodyPr>
          <a:lstStyle/>
          <a:p>
            <a:pPr algn="l">
              <a:spcAft>
                <a:spcPts val="400"/>
              </a:spcAft>
            </a:pPr>
            <a:r>
              <a:rPr sz="1200" b="1">
                <a:solidFill>
                  <a:srgbClr val="7C3AED"/>
                </a:solidFill>
                <a:latin typeface="Arial"/>
              </a:rPr>
              <a:t>THE REAL CASE</a:t>
            </a:r>
          </a:p>
        </p:txBody>
      </p:sp>
      <p:sp>
        <p:nvSpPr>
          <p:cNvPr id="11" name="TextBox 10"/>
          <p:cNvSpPr txBox="1"/>
          <p:nvPr/>
        </p:nvSpPr>
        <p:spPr>
          <a:xfrm>
            <a:off x="987552" y="2743200"/>
            <a:ext cx="6144768" cy="2468880"/>
          </a:xfrm>
          <a:prstGeom prst="rect">
            <a:avLst/>
          </a:prstGeom>
          <a:noFill/>
        </p:spPr>
        <p:txBody>
          <a:bodyPr wrap="square" anchor="t">
            <a:spAutoFit/>
          </a:bodyPr>
          <a:lstStyle/>
          <a:p>
            <a:pPr algn="l">
              <a:spcAft>
                <a:spcPts val="400"/>
              </a:spcAft>
            </a:pPr>
            <a:r>
              <a:rPr sz="1150" b="0">
                <a:solidFill>
                  <a:srgbClr val="161B26"/>
                </a:solidFill>
                <a:latin typeface="Arial"/>
              </a:rPr>
              <a:t>Two innovation programmes reported to the same board. Programme A reported ideas submitted, workshops run, staff trained and prototypes built — all rising quarter on quarter. Programme B reported one number: the change in the time it took a customer to complete an application, and the resulting drop in abandoned applications. When budgets tightened, Programme A could not answer the question 'what decision would we make differently if this number moved?' and was cut. Its metrics measured activity, not consequence. Douglas Hubbard's test is the sharpest available: 'If a measurement matters at all, it is because it must have some conceivable effect on decisions and behaviour.' Thoughtworks adds the distinction most teams miss — validating that a problem is real, that a solution works, and that there is demand for it are three separate concerns needing three different tests.</a:t>
            </a:r>
          </a:p>
        </p:txBody>
      </p:sp>
      <p:sp>
        <p:nvSpPr>
          <p:cNvPr id="12" name="Rectangle 11"/>
          <p:cNvSpPr/>
          <p:nvPr/>
        </p:nvSpPr>
        <p:spPr>
          <a:xfrm>
            <a:off x="7635240" y="2240280"/>
            <a:ext cx="3776472" cy="306324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35240" y="2240280"/>
            <a:ext cx="377647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45552" y="2432304"/>
            <a:ext cx="3383280" cy="310896"/>
          </a:xfrm>
          <a:prstGeom prst="rect">
            <a:avLst/>
          </a:prstGeom>
          <a:noFill/>
        </p:spPr>
        <p:txBody>
          <a:bodyPr wrap="square" anchor="t">
            <a:spAutoFit/>
          </a:bodyPr>
          <a:lstStyle/>
          <a:p>
            <a:pPr algn="l">
              <a:spcAft>
                <a:spcPts val="400"/>
              </a:spcAft>
            </a:pPr>
            <a:r>
              <a:rPr sz="1200" b="1">
                <a:solidFill>
                  <a:srgbClr val="10B981"/>
                </a:solidFill>
                <a:latin typeface="Arial"/>
              </a:rPr>
              <a:t>YOUR SCENARIO</a:t>
            </a:r>
          </a:p>
        </p:txBody>
      </p:sp>
      <p:sp>
        <p:nvSpPr>
          <p:cNvPr id="15" name="TextBox 14"/>
          <p:cNvSpPr txBox="1"/>
          <p:nvPr/>
        </p:nvSpPr>
        <p:spPr>
          <a:xfrm>
            <a:off x="7845552" y="2779776"/>
            <a:ext cx="3401568" cy="2377440"/>
          </a:xfrm>
          <a:prstGeom prst="rect">
            <a:avLst/>
          </a:prstGeom>
          <a:noFill/>
        </p:spPr>
        <p:txBody>
          <a:bodyPr wrap="square" anchor="t">
            <a:spAutoFit/>
          </a:bodyPr>
          <a:lstStyle/>
          <a:p>
            <a:pPr algn="l">
              <a:spcAft>
                <a:spcPts val="400"/>
              </a:spcAft>
            </a:pPr>
            <a:r>
              <a:rPr sz="1150" b="0">
                <a:solidFill>
                  <a:srgbClr val="161B26"/>
                </a:solidFill>
                <a:latin typeface="Arial"/>
              </a:rPr>
              <a:t>You must present your innovation programme to a board that is deciding next year's budget. You have one slide and four numbers.</a:t>
            </a:r>
          </a:p>
        </p:txBody>
      </p:sp>
      <p:sp>
        <p:nvSpPr>
          <p:cNvPr id="16" name="Rectangle 15"/>
          <p:cNvSpPr/>
          <p:nvPr/>
        </p:nvSpPr>
        <p:spPr>
          <a:xfrm>
            <a:off x="777240" y="5440680"/>
            <a:ext cx="10634472"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440680"/>
            <a:ext cx="8229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541264"/>
            <a:ext cx="10241280" cy="420624"/>
          </a:xfrm>
          <a:prstGeom prst="rect">
            <a:avLst/>
          </a:prstGeom>
          <a:noFill/>
        </p:spPr>
        <p:txBody>
          <a:bodyPr wrap="square" anchor="t">
            <a:spAutoFit/>
          </a:bodyPr>
          <a:lstStyle/>
          <a:p>
            <a:pPr algn="l">
              <a:spcAft>
                <a:spcPts val="400"/>
              </a:spcAft>
            </a:pPr>
            <a:r>
              <a:rPr sz="1150" b="0">
                <a:solidFill>
                  <a:srgbClr val="5B6372"/>
                </a:solidFill>
                <a:latin typeface="Arial"/>
              </a:rPr>
              <a:t>Full case, discussion questions and debrief: see the Learner Guide and the printed activity brief.</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ACTIVITY 12 · WORK IN GROUPS OF 3–5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12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509760" y="566928"/>
            <a:ext cx="1901952" cy="4023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0" y="621792"/>
            <a:ext cx="1901952" cy="310896"/>
          </a:xfrm>
          <a:prstGeom prst="rect">
            <a:avLst/>
          </a:prstGeom>
          <a:noFill/>
        </p:spPr>
        <p:txBody>
          <a:bodyPr wrap="square" anchor="t">
            <a:spAutoFit/>
          </a:bodyPr>
          <a:lstStyle/>
          <a:p>
            <a:pPr algn="ctr">
              <a:spcAft>
                <a:spcPts val="400"/>
              </a:spcAft>
            </a:pPr>
            <a:r>
              <a:rPr sz="1200" b="1">
                <a:solidFill>
                  <a:srgbClr val="FFFFFF"/>
                </a:solidFill>
                <a:latin typeface="Arial"/>
              </a:rPr>
              <a:t>45 MIN</a:t>
            </a:r>
          </a:p>
        </p:txBody>
      </p:sp>
      <p:sp>
        <p:nvSpPr>
          <p:cNvPr id="9" name="Rectangle 8"/>
          <p:cNvSpPr/>
          <p:nvPr/>
        </p:nvSpPr>
        <p:spPr>
          <a:xfrm>
            <a:off x="777240" y="1783080"/>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4128" y="1922983"/>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92298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3" name="TextBox 12"/>
          <p:cNvSpPr txBox="1"/>
          <p:nvPr/>
        </p:nvSpPr>
        <p:spPr>
          <a:xfrm>
            <a:off x="1691640" y="1856232"/>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Apply Hubbard's test to 'number of ideas submitted'. What decision would change if it doubled? If none, why is it still so popular?</a:t>
            </a:r>
          </a:p>
        </p:txBody>
      </p:sp>
      <p:sp>
        <p:nvSpPr>
          <p:cNvPr id="14" name="Rectangle 13"/>
          <p:cNvSpPr/>
          <p:nvPr/>
        </p:nvSpPr>
        <p:spPr>
          <a:xfrm>
            <a:off x="777240" y="2684678"/>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684678"/>
            <a:ext cx="82296" cy="7370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4128" y="282458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282458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8" name="TextBox 17"/>
          <p:cNvSpPr txBox="1"/>
          <p:nvPr/>
        </p:nvSpPr>
        <p:spPr>
          <a:xfrm>
            <a:off x="1691640" y="2757830"/>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Separate problem validation, solution validation and demand validation. Give one test for each for your own concept.</a:t>
            </a:r>
          </a:p>
        </p:txBody>
      </p:sp>
      <p:sp>
        <p:nvSpPr>
          <p:cNvPr id="19" name="Rectangle 18"/>
          <p:cNvSpPr/>
          <p:nvPr/>
        </p:nvSpPr>
        <p:spPr>
          <a:xfrm>
            <a:off x="777240" y="3586276"/>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24128" y="3726179"/>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372617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91640" y="3659428"/>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Which is harder to measure — customer value, business value or societal value — and what happens when you only measure the easy one?</a:t>
            </a:r>
          </a:p>
        </p:txBody>
      </p:sp>
      <p:sp>
        <p:nvSpPr>
          <p:cNvPr id="24" name="Rectangle 23"/>
          <p:cNvSpPr/>
          <p:nvPr/>
        </p:nvSpPr>
        <p:spPr>
          <a:xfrm>
            <a:off x="777240" y="4487874"/>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487874"/>
            <a:ext cx="82296" cy="7370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24128" y="4627777"/>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 y="462777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1691640" y="4561026"/>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Your board wants a single number. What do you lose by giving them one, and how do you manage that?</a:t>
            </a:r>
          </a:p>
        </p:txBody>
      </p:sp>
      <p:sp>
        <p:nvSpPr>
          <p:cNvPr id="29" name="Rectangle 28"/>
          <p:cNvSpPr/>
          <p:nvPr/>
        </p:nvSpPr>
        <p:spPr>
          <a:xfrm>
            <a:off x="777240" y="5389472"/>
            <a:ext cx="106344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4128" y="5529375"/>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4128" y="5529375"/>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3" name="TextBox 32"/>
          <p:cNvSpPr txBox="1"/>
          <p:nvPr/>
        </p:nvSpPr>
        <p:spPr>
          <a:xfrm>
            <a:off x="1691640" y="5462624"/>
            <a:ext cx="9509760" cy="590702"/>
          </a:xfrm>
          <a:prstGeom prst="rect">
            <a:avLst/>
          </a:prstGeom>
          <a:noFill/>
        </p:spPr>
        <p:txBody>
          <a:bodyPr wrap="square" anchor="ctr">
            <a:spAutoFit/>
          </a:bodyPr>
          <a:lstStyle/>
          <a:p>
            <a:pPr algn="l">
              <a:spcAft>
                <a:spcPts val="400"/>
              </a:spcAft>
            </a:pPr>
            <a:r>
              <a:rPr sz="1300" b="0">
                <a:solidFill>
                  <a:srgbClr val="161B26"/>
                </a:solidFill>
                <a:latin typeface="Arial"/>
              </a:rPr>
              <a:t>How could GenAI help build this scorecard, and how could it help you fool yourself with it?</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12 — What You Produce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Your task</a:t>
            </a:r>
          </a:p>
          <a:p>
            <a:pPr algn="l">
              <a:spcAft>
                <a:spcPts val="300"/>
              </a:spcAft>
            </a:pPr>
            <a:r>
              <a:rPr sz="1150" b="0">
                <a:solidFill>
                  <a:srgbClr val="5B6372"/>
                </a:solidFill>
                <a:latin typeface="Arial"/>
              </a:rPr>
              <a:t>Learners audit vanity metrics against Hubbard's decision test, build a balanced measurement set spanning customer, business and societal value, and separate problem, solution and demand validation.</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You will produce</a:t>
            </a:r>
          </a:p>
          <a:p>
            <a:pPr algn="l">
              <a:spcAft>
                <a:spcPts val="300"/>
              </a:spcAft>
            </a:pPr>
            <a:r>
              <a:rPr sz="1150" b="0">
                <a:solidFill>
                  <a:srgbClr val="5B6372"/>
                </a:solidFill>
                <a:latin typeface="Arial"/>
              </a:rPr>
              <a:t>A four-metric innovation scorecard where every metric passes the decision test, plus a stated validation plan distinguishing problem, solution and demand.</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Tools</a:t>
            </a:r>
          </a:p>
          <a:p>
            <a:pPr algn="l">
              <a:spcAft>
                <a:spcPts val="300"/>
              </a:spcAft>
            </a:pPr>
            <a:r>
              <a:rPr sz="1150" b="0">
                <a:solidFill>
                  <a:srgbClr val="5B6372"/>
                </a:solidFill>
                <a:latin typeface="Arial"/>
              </a:rPr>
              <a:t>Padlet Classroom Board, ChatGPT or Microsoft Copilot</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50" b="1">
                <a:solidFill>
                  <a:srgbClr val="161B26"/>
                </a:solidFill>
                <a:latin typeface="Arial"/>
              </a:rPr>
              <a:t>Done when</a:t>
            </a:r>
          </a:p>
          <a:p>
            <a:pPr algn="l">
              <a:spcAft>
                <a:spcPts val="300"/>
              </a:spcAft>
            </a:pPr>
            <a:r>
              <a:rPr sz="1150" b="0">
                <a:solidFill>
                  <a:srgbClr val="5B6372"/>
                </a:solidFill>
                <a:latin typeface="Arial"/>
              </a:rPr>
              <a:t>Every metric on your scorecard has a stated decision attached to it, and your three validation tests are genuinely different tests rather than three versions of the same one.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TRAINER DEBRIEF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Activity 12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011680"/>
            <a:ext cx="10058400" cy="365760"/>
          </a:xfrm>
          <a:prstGeom prst="rect">
            <a:avLst/>
          </a:prstGeom>
          <a:noFill/>
        </p:spPr>
        <p:txBody>
          <a:bodyPr wrap="square" anchor="t">
            <a:spAutoFit/>
          </a:bodyPr>
          <a:lstStyle/>
          <a:p>
            <a:pPr algn="l">
              <a:spcAft>
                <a:spcPts val="400"/>
              </a:spcAft>
            </a:pPr>
            <a:r>
              <a:rPr sz="1250" b="1">
                <a:solidFill>
                  <a:srgbClr val="10B981"/>
                </a:solidFill>
                <a:latin typeface="Arial"/>
              </a:rPr>
              <a:t>WHAT THE ROOM SHOULD CONCLUDE</a:t>
            </a:r>
          </a:p>
        </p:txBody>
      </p:sp>
      <p:sp>
        <p:nvSpPr>
          <p:cNvPr id="10" name="TextBox 9"/>
          <p:cNvSpPr txBox="1"/>
          <p:nvPr/>
        </p:nvSpPr>
        <p:spPr>
          <a:xfrm>
            <a:off x="1143000" y="2468880"/>
            <a:ext cx="10076688" cy="3429000"/>
          </a:xfrm>
          <a:prstGeom prst="rect">
            <a:avLst/>
          </a:prstGeom>
          <a:noFill/>
        </p:spPr>
        <p:txBody>
          <a:bodyPr wrap="square" anchor="t">
            <a:spAutoFit/>
          </a:bodyPr>
          <a:lstStyle/>
          <a:p>
            <a:pPr algn="l">
              <a:spcAft>
                <a:spcPts val="400"/>
              </a:spcAft>
            </a:pPr>
            <a:r>
              <a:rPr sz="1300" b="0">
                <a:solidFill>
                  <a:srgbClr val="161B26"/>
                </a:solidFill>
                <a:latin typeface="Arial"/>
              </a:rPr>
              <a:t>Almost every group's first draft contains at least one activity metric — ideas submitted, workshops run, people trained — because they are easy to collect and always go up. Hubbard's test kills them on contact: if no plausible movement in the number would change any decision, the number is decoration and it will not survive a budget review. The three-validation split is the other common gap: a successful prototype test proves the solution works for people who already have the problem, and says nothing about how many people have it or whether they will pay. Teams routinely present solution-validation evidence as if it were demand evidence, which is how confidently-built products launch to silence. On GenAI: it will happily generate a plausible, well-formatted scorecard in seconds, and that fluency is precisely the risk — a metric set that looks professional and measures nothing consequential is harder to challenge than an obviously bad 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Topic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Scaling changes the operating system: what is measured, who decides, and what leaders actually do.</a:t>
            </a:r>
          </a:p>
          <a:p>
            <a:pPr>
              <a:spcAft>
                <a:spcPts val="1000"/>
              </a:spcAft>
            </a:pPr>
            <a:r>
              <a:rPr sz="1600" b="0">
                <a:solidFill>
                  <a:srgbClr val="161B26"/>
                </a:solidFill>
                <a:latin typeface="Arial"/>
              </a:rPr>
              <a:t>•  Buy-in is earned with a small visible win and evidence, not with a persuasive deck.</a:t>
            </a:r>
          </a:p>
          <a:p>
            <a:pPr>
              <a:spcAft>
                <a:spcPts val="1000"/>
              </a:spcAft>
            </a:pPr>
            <a:r>
              <a:rPr sz="1600" b="0">
                <a:solidFill>
                  <a:srgbClr val="161B26"/>
                </a:solidFill>
                <a:latin typeface="Arial"/>
              </a:rPr>
              <a:t>•  Sensemaking builds a shared narrative from conflicting signals — and AI can manufacture false confidence.</a:t>
            </a:r>
          </a:p>
          <a:p>
            <a:pPr>
              <a:spcAft>
                <a:spcPts val="1000"/>
              </a:spcAft>
            </a:pPr>
            <a:r>
              <a:rPr sz="1600" b="0">
                <a:solidFill>
                  <a:srgbClr val="161B26"/>
                </a:solidFill>
                <a:latin typeface="Arial"/>
              </a:rPr>
              <a:t>•  Systems thinking finds the leverage point; design thinking designs the intervention that goes there.</a:t>
            </a:r>
          </a:p>
          <a:p>
            <a:pPr>
              <a:spcAft>
                <a:spcPts val="1000"/>
              </a:spcAft>
            </a:pPr>
            <a:r>
              <a:rPr sz="1600" b="0">
                <a:solidFill>
                  <a:srgbClr val="161B26"/>
                </a:solidFill>
                <a:latin typeface="Arial"/>
              </a:rPr>
              <a:t>•  Every metric must have a decision attached to it, or it is decoration.</a:t>
            </a:r>
          </a:p>
          <a:p>
            <a:pPr>
              <a:spcAft>
                <a:spcPts val="1000"/>
              </a:spcAft>
            </a:pPr>
            <a:r>
              <a:rPr sz="1600" b="0">
                <a:solidFill>
                  <a:srgbClr val="161B26"/>
                </a:solidFill>
                <a:latin typeface="Arial"/>
              </a:rPr>
              <a:t>•  Problem, solution and demand validation are three separate tests — never present one as another.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med" advClick="1">
    <p:push dir="l"/>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LO1 · Integrated DT, Agile and GenAI</a:t>
            </a:r>
          </a:p>
          <a:p>
            <a:pPr algn="l">
              <a:spcAft>
                <a:spcPts val="300"/>
              </a:spcAft>
            </a:pPr>
            <a:r>
              <a:rPr sz="1150" b="0">
                <a:solidFill>
                  <a:srgbClr val="5B6372"/>
                </a:solidFill>
                <a:latin typeface="Arial"/>
              </a:rPr>
              <a:t>You positioned design thinking, lean and agile against each other and placed GenAI correctly inside the loop.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LO2 · Synthesised stakeholder inputs</a:t>
            </a:r>
          </a:p>
          <a:p>
            <a:pPr algn="l">
              <a:spcAft>
                <a:spcPts val="300"/>
              </a:spcAft>
            </a:pPr>
            <a:r>
              <a:rPr sz="1150" b="0">
                <a:solidFill>
                  <a:srgbClr val="5B6372"/>
                </a:solidFill>
                <a:latin typeface="Arial"/>
              </a:rPr>
              <a:t>You built empathy maps, POV statements and How Might We questions from real case evidence.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LO3 · Led design thinking projects</a:t>
            </a:r>
          </a:p>
          <a:p>
            <a:pPr algn="l">
              <a:spcAft>
                <a:spcPts val="300"/>
              </a:spcAft>
            </a:pPr>
            <a:r>
              <a:rPr sz="1150" b="0">
                <a:solidFill>
                  <a:srgbClr val="5B6372"/>
                </a:solidFill>
                <a:latin typeface="Arial"/>
              </a:rPr>
              <a:t>You ran dual-track discovery, converted Hills into a sized backlog and managed a sprint disruption.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LO4 · Developed agile DT strategies</a:t>
            </a:r>
          </a:p>
          <a:p>
            <a:pPr algn="l">
              <a:spcAft>
                <a:spcPts val="300"/>
              </a:spcAft>
            </a:pPr>
            <a:r>
              <a:rPr sz="1150" b="0">
                <a:solidFill>
                  <a:srgbClr val="5B6372"/>
                </a:solidFill>
                <a:latin typeface="Arial"/>
              </a:rPr>
              <a:t>You built a scaling plan, mapped systemic risk and designed a metric set that changes decisions.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Take This Back to Work on Monday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Reframe one brief</a:t>
            </a:r>
          </a:p>
          <a:p>
            <a:pPr algn="l">
              <a:spcAft>
                <a:spcPts val="300"/>
              </a:spcAft>
            </a:pPr>
            <a:r>
              <a:rPr sz="1150" b="0">
                <a:solidFill>
                  <a:srgbClr val="5B6372"/>
                </a:solidFill>
                <a:latin typeface="Arial"/>
              </a:rPr>
              <a:t>Take one current requirement and rewrite it as a POV and a How Might We question.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Run one cheap test</a:t>
            </a:r>
          </a:p>
          <a:p>
            <a:pPr algn="l">
              <a:spcAft>
                <a:spcPts val="300"/>
              </a:spcAft>
            </a:pPr>
            <a:r>
              <a:rPr sz="1150" b="0">
                <a:solidFill>
                  <a:srgbClr val="5B6372"/>
                </a:solidFill>
                <a:latin typeface="Arial"/>
              </a:rPr>
              <a:t>Pick your riskiest assumption and design the cheapest test that could disprove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Audit one metric</a:t>
            </a:r>
          </a:p>
          <a:p>
            <a:pPr algn="l">
              <a:spcAft>
                <a:spcPts val="300"/>
              </a:spcAft>
            </a:pPr>
            <a:r>
              <a:rPr sz="1150" b="0">
                <a:solidFill>
                  <a:srgbClr val="5B6372"/>
                </a:solidFill>
                <a:latin typeface="Arial"/>
              </a:rPr>
              <a:t>Apply the decision test to your team's favourite number. Be honest about the result.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Start one discovery track</a:t>
            </a:r>
          </a:p>
          <a:p>
            <a:pPr algn="l">
              <a:spcAft>
                <a:spcPts val="300"/>
              </a:spcAft>
            </a:pPr>
            <a:r>
              <a:rPr sz="1150" b="0">
                <a:solidFill>
                  <a:srgbClr val="5B6372"/>
                </a:solidFill>
                <a:latin typeface="Arial"/>
              </a:rPr>
              <a:t>Give one team two hours a week of protected discovery time and see what changes.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Label your AI output</a:t>
            </a:r>
          </a:p>
          <a:p>
            <a:pPr algn="l">
              <a:spcAft>
                <a:spcPts val="300"/>
              </a:spcAft>
            </a:pPr>
            <a:r>
              <a:rPr sz="1150" b="0">
                <a:solidFill>
                  <a:srgbClr val="5B6372"/>
                </a:solidFill>
                <a:latin typeface="Arial"/>
              </a:rPr>
              <a:t>Mark every AI-generated persona or insight as unvalidated until evidence confirms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Find one balancing loop</a:t>
            </a:r>
          </a:p>
          <a:p>
            <a:pPr algn="l">
              <a:spcAft>
                <a:spcPts val="300"/>
              </a:spcAft>
            </a:pPr>
            <a:r>
              <a:rPr sz="1150" b="0">
                <a:solidFill>
                  <a:srgbClr val="5B6372"/>
                </a:solidFill>
                <a:latin typeface="Arial"/>
              </a:rPr>
              <a:t>Identify a reinforcing loop in your organisation that has no counterweight — and propose one.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GO DEEPER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Continue Your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Design Thinking Studio</a:t>
            </a:r>
          </a:p>
          <a:p>
            <a:pPr algn="l">
              <a:spcAft>
                <a:spcPts val="300"/>
              </a:spcAft>
            </a:pPr>
            <a:r>
              <a:rPr sz="1150" b="0">
                <a:solidFill>
                  <a:srgbClr val="5B6372"/>
                </a:solidFill>
                <a:latin typeface="Arial"/>
              </a:rPr>
              <a:t>https://alfredang.github.io/designthinking/ — keep using the workspace with your own team.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Padlet Classroom Board</a:t>
            </a:r>
          </a:p>
          <a:p>
            <a:pPr algn="l">
              <a:spcAft>
                <a:spcPts val="300"/>
              </a:spcAft>
            </a:pPr>
            <a:r>
              <a:rPr sz="1150" b="0">
                <a:solidFill>
                  <a:srgbClr val="5B6372"/>
                </a:solidFill>
                <a:latin typeface="Arial"/>
              </a:rPr>
              <a:t>https://alfredang.github.io/padlet/ — run your own retrospectives and idea boards.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Thoughtworks on DT, Lean and Agile</a:t>
            </a:r>
          </a:p>
          <a:p>
            <a:pPr algn="l">
              <a:spcAft>
                <a:spcPts val="300"/>
              </a:spcAft>
            </a:pPr>
            <a:r>
              <a:rPr sz="1150" b="0">
                <a:solidFill>
                  <a:srgbClr val="5B6372"/>
                </a:solidFill>
                <a:latin typeface="Arial"/>
              </a:rPr>
              <a:t>Jonny Schneider on how the three mindsets work together.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Marty Cagan &amp; Jeff Patton</a:t>
            </a:r>
          </a:p>
          <a:p>
            <a:pPr algn="l">
              <a:spcAft>
                <a:spcPts val="300"/>
              </a:spcAft>
            </a:pPr>
            <a:r>
              <a:rPr sz="1150" b="0">
                <a:solidFill>
                  <a:srgbClr val="5B6372"/>
                </a:solidFill>
                <a:latin typeface="Arial"/>
              </a:rPr>
              <a:t>Dual-track agile, continuous discovery and the product trio.</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Rittel &amp; Webber (1973)</a:t>
            </a:r>
          </a:p>
          <a:p>
            <a:pPr algn="l">
              <a:spcAft>
                <a:spcPts val="300"/>
              </a:spcAft>
            </a:pPr>
            <a:r>
              <a:rPr sz="1150" b="0">
                <a:solidFill>
                  <a:srgbClr val="5B6372"/>
                </a:solidFill>
                <a:latin typeface="Arial"/>
              </a:rPr>
              <a:t>The original paper on wicked problems and why framing precedes solving.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50" b="1">
                <a:solidFill>
                  <a:srgbClr val="161B26"/>
                </a:solidFill>
                <a:latin typeface="Arial"/>
              </a:rPr>
              <a:t>Tertiary Infotech course catalogue</a:t>
            </a:r>
          </a:p>
          <a:p>
            <a:pPr algn="l">
              <a:spcAft>
                <a:spcPts val="300"/>
              </a:spcAft>
            </a:pPr>
            <a:r>
              <a:rPr sz="1150" b="0">
                <a:solidFill>
                  <a:srgbClr val="5B6372"/>
                </a:solidFill>
                <a:latin typeface="Arial"/>
              </a:rPr>
              <a:t>www.tertiarycourses.com.sg — further WSQ courses in AI and innovation.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If you have any enquiries during or after the class, you can contact us below.</a:t>
            </a:r>
          </a:p>
          <a:p>
            <a:pPr>
              <a:spcAft>
                <a:spcPts val="1000"/>
              </a:spcAft>
            </a:pPr>
            <a:r>
              <a:rPr sz="2000" b="0">
                <a:solidFill>
                  <a:srgbClr val="161B26"/>
                </a:solidFill>
                <a:latin typeface="Arial"/>
              </a:rPr>
              <a:t>•  Email: enquiry@tertiaryinfotech.com</a:t>
            </a:r>
          </a:p>
          <a:p>
            <a:pPr>
              <a:spcAft>
                <a:spcPts val="1000"/>
              </a:spcAft>
            </a:pPr>
            <a:r>
              <a:rPr sz="2000" b="0">
                <a:solidFill>
                  <a:srgbClr val="161B26"/>
                </a:solidFill>
                <a:latin typeface="Arial"/>
              </a:rPr>
              <a:t>•  Tel: +65 6100 0613</a:t>
            </a:r>
          </a:p>
          <a:p>
            <a:pPr>
              <a:spcAft>
                <a:spcPts val="1000"/>
              </a:spcAft>
            </a:pPr>
            <a:r>
              <a:rPr sz="2000" b="0">
                <a:solidFill>
                  <a:srgbClr val="161B26"/>
                </a:solidFill>
                <a:latin typeface="Arial"/>
              </a:rPr>
              <a:t>•  Website: www.tertiarycourses.com.sg</a:t>
            </a:r>
          </a:p>
          <a:p>
            <a:pPr>
              <a:spcAft>
                <a:spcPts val="1000"/>
              </a:spcAft>
            </a:pPr>
            <a:r>
              <a:rPr sz="2000" b="0">
                <a:solidFill>
                  <a:srgbClr val="161B26"/>
                </a:solidFill>
                <a:latin typeface="Arial"/>
              </a:rPr>
              <a:t>•  LMS / TMS: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Written Assessment (SAQ)</a:t>
            </a:r>
          </a:p>
          <a:p>
            <a:pPr algn="l">
              <a:spcAft>
                <a:spcPts val="300"/>
              </a:spcAft>
            </a:pPr>
            <a:r>
              <a:rPr sz="1300" b="0">
                <a:solidFill>
                  <a:srgbClr val="5B6372"/>
                </a:solidFill>
                <a:latin typeface="Arial"/>
              </a:rPr>
              <a:t>0.5 hour · open book · short-answer questions on the underpinning knowledge.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Case Study (CS)</a:t>
            </a:r>
          </a:p>
          <a:p>
            <a:pPr algn="l">
              <a:spcAft>
                <a:spcPts val="300"/>
              </a:spcAft>
            </a:pPr>
            <a:r>
              <a:rPr sz="1300" b="0">
                <a:solidFill>
                  <a:srgbClr val="5B6372"/>
                </a:solidFill>
                <a:latin typeface="Arial"/>
              </a:rPr>
              <a:t>1 hour · open book · a scenario-based innovation case across all four topics.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Remember to take the Assessment digital attendance (TRAQOM) before you start.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Submit on the LMS</a:t>
            </a:r>
          </a:p>
          <a:p>
            <a:pPr algn="l">
              <a:spcAft>
                <a:spcPts val="300"/>
              </a:spcAft>
            </a:pPr>
            <a:r>
              <a:rPr sz="1300" b="0">
                <a:solidFill>
                  <a:srgbClr val="5B6372"/>
                </a:solidFill>
                <a:latin typeface="Arial"/>
              </a:rPr>
              <a:t>Upload your completed answers at 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med" advClick="1">
    <p:push dir="l"/>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50392" y="3566160"/>
            <a:ext cx="1673352" cy="658368"/>
          </a:xfrm>
          <a:prstGeom prst="rect">
            <a:avLst/>
          </a:prstGeom>
          <a:noFill/>
        </p:spPr>
        <p:txBody>
          <a:bodyPr wrap="square" anchor="ctr">
            <a:spAutoFit/>
          </a:bodyPr>
          <a:lstStyle/>
          <a:p>
            <a:pPr algn="ctr">
              <a:spcAft>
                <a:spcPts val="0"/>
              </a:spcAft>
            </a:pPr>
            <a:r>
              <a:rPr sz="900" b="0">
                <a:solidFill>
                  <a:srgbClr val="5B6372"/>
                </a:solidFill>
                <a:latin typeface="Arial"/>
              </a:rPr>
              <a:t>Scan the QR code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54096" y="3566160"/>
            <a:ext cx="1673352" cy="658368"/>
          </a:xfrm>
          <a:prstGeom prst="rect">
            <a:avLst/>
          </a:prstGeom>
          <a:noFill/>
        </p:spPr>
        <p:txBody>
          <a:bodyPr wrap="square" anchor="ctr">
            <a:spAutoFit/>
          </a:bodyPr>
          <a:lstStyle/>
          <a:p>
            <a:pPr algn="ctr">
              <a:spcAft>
                <a:spcPts val="0"/>
              </a:spcAft>
            </a:pPr>
            <a:r>
              <a:rPr sz="900" b="0">
                <a:solidFill>
                  <a:srgbClr val="5B6372"/>
                </a:solidFill>
                <a:latin typeface="Arial"/>
              </a:rPr>
              <a:t>Scan the SSG 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Sit WA then CS</a:t>
            </a:r>
          </a:p>
        </p:txBody>
      </p:sp>
      <p:sp>
        <p:nvSpPr>
          <p:cNvPr id="26" name="TextBox 25"/>
          <p:cNvSpPr txBox="1"/>
          <p:nvPr/>
        </p:nvSpPr>
        <p:spPr>
          <a:xfrm>
            <a:off x="5257800" y="3566160"/>
            <a:ext cx="1673352" cy="658368"/>
          </a:xfrm>
          <a:prstGeom prst="rect">
            <a:avLst/>
          </a:prstGeom>
          <a:noFill/>
        </p:spPr>
        <p:txBody>
          <a:bodyPr wrap="square" anchor="ctr">
            <a:spAutoFit/>
          </a:bodyPr>
          <a:lstStyle/>
          <a:p>
            <a:pPr algn="ctr">
              <a:spcAft>
                <a:spcPts val="0"/>
              </a:spcAft>
            </a:pPr>
            <a:r>
              <a:rPr sz="850" b="0">
                <a:solidFill>
                  <a:srgbClr val="5B6372"/>
                </a:solidFill>
                <a:latin typeface="Arial"/>
              </a:rPr>
              <a:t>WA 0.5 h then CS 1 h · open book</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61504" y="3566160"/>
            <a:ext cx="1673352" cy="658368"/>
          </a:xfrm>
          <a:prstGeom prst="rect">
            <a:avLst/>
          </a:prstGeom>
          <a:noFill/>
        </p:spPr>
        <p:txBody>
          <a:bodyPr wrap="square" anchor="ctr">
            <a:spAutoFit/>
          </a:bodyPr>
          <a:lstStyle/>
          <a:p>
            <a:pPr algn="ctr">
              <a:spcAft>
                <a:spcPts val="0"/>
              </a:spcAft>
            </a:pPr>
            <a:r>
              <a:rPr sz="900" b="0">
                <a:solidFill>
                  <a:srgbClr val="5B6372"/>
                </a:solidFill>
                <a:latin typeface="Arial"/>
              </a:rPr>
              <a:t>Upload your completed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65208" y="3566160"/>
            <a:ext cx="1673352" cy="658368"/>
          </a:xfrm>
          <a:prstGeom prst="rect">
            <a:avLst/>
          </a:prstGeom>
          <a:noFill/>
        </p:spPr>
        <p:txBody>
          <a:bodyPr wrap="square" anchor="ctr">
            <a:spAutoFit/>
          </a:bodyPr>
          <a:lstStyle/>
          <a:p>
            <a:pPr algn="ctr">
              <a:spcAft>
                <a:spcPts val="0"/>
              </a:spcAft>
            </a:pPr>
            <a:r>
              <a:rPr sz="850" b="0">
                <a:solidFill>
                  <a:srgbClr val="5B6372"/>
                </a:solidFill>
                <a:latin typeface="Arial"/>
              </a:rPr>
              <a:t>Sign the 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frame the right problem, validate it cheaply, deliver it with agile discipline, and scale it without losing the evidence.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Fast-Track Innovations with Agile Design Thinking and GenAI  ·  TGS-2024049781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med" advClick="1">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